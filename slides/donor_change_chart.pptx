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health aid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8FA8E0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8FA8E0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1C3073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1C3073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1C3073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1C3073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1C3073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1C3073"/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1F2937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spPr/>
              <c:txPr>
                <a:bodyPr/>
                <a:lstStyle/>
                <a:p>
                  <a:pPr>
                    <a:defRPr sz="1300" b="1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Gates Foundation</c:v>
                </c:pt>
                <c:pt idx="1">
                  <c:v>Canada</c:v>
                </c:pt>
                <c:pt idx="2">
                  <c:v>Japan</c:v>
                </c:pt>
                <c:pt idx="3">
                  <c:v>Netherlands</c:v>
                </c:pt>
                <c:pt idx="4">
                  <c:v>United Kingdom</c:v>
                </c:pt>
                <c:pt idx="5">
                  <c:v>France</c:v>
                </c:pt>
                <c:pt idx="6">
                  <c:v>Germany</c:v>
                </c:pt>
                <c:pt idx="7">
                  <c:v>United States</c:v>
                </c:pt>
              </c:strCache>
            </c:strRef>
          </c:cat>
          <c:val>
            <c:numRef>
              <c:f>Sheet1!$B$2:$B$9</c:f>
              <c:numCache>
                <c:formatCode>+0%;−0%;0%</c:formatCode>
                <c:ptCount val="8"/>
                <c:pt idx="0">
                  <c:v>0.22</c:v>
                </c:pt>
                <c:pt idx="1">
                  <c:v>0.02</c:v>
                </c:pt>
                <c:pt idx="2">
                  <c:v>-0.15</c:v>
                </c:pt>
                <c:pt idx="3">
                  <c:v>-0.32</c:v>
                </c:pt>
                <c:pt idx="4">
                  <c:v>-0.32</c:v>
                </c:pt>
                <c:pt idx="5">
                  <c:v>-0.34</c:v>
                </c:pt>
                <c:pt idx="6">
                  <c:v>-0.41</c:v>
                </c:pt>
                <c:pt idx="7">
                  <c:v>-0.66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 w="19050">
            <a:solidFill>
              <a:srgbClr val="1F2937"/>
            </a:solidFill>
          </a:ln>
        </c:spPr>
        <c:txPr>
          <a:bodyPr/>
          <a:lstStyle/>
          <a:p>
            <a:pPr>
              <a:defRPr sz="1400">
                <a:solidFill>
                  <a:srgbClr val="1F2937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"/>
          <c:min val="-0.8"/>
        </c:scaling>
        <c:delete val="0"/>
        <c:axPos val="b"/>
        <c:majorGridlines>
          <c:spPr>
            <a:ln w="9525">
              <a:solidFill>
                <a:srgbClr val="D5DC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95959"/>
                    </a:solidFill>
                    <a:latin typeface="Arial"/>
                  </a:rPr>
                  <a:t>Change in health aid, 2023 to 2030</a:t>
                </a:r>
              </a:p>
            </c:rich>
          </c:tx>
          <c:layout/>
          <c:overlay val="0"/>
        </c:title>
        <c:numFmt formatCode="+0%;−0%;0%" sourceLinked="0"/>
        <c:majorTickMark val="none"/>
        <c:minorTickMark val="none"/>
        <c:tickLblPos val="nextTo"/>
        <c:spPr>
          <a:ln>
            <a:solidFill>
              <a:srgbClr val="D5DCEA"/>
            </a:solidFill>
          </a:ln>
        </c:spPr>
        <c:txPr>
          <a:bodyPr/>
          <a:lstStyle/>
          <a:p>
            <a:pPr>
              <a:defRPr sz="1000">
                <a:solidFill>
                  <a:srgbClr val="595959"/>
                </a:solidFill>
                <a:latin typeface="Arial"/>
              </a:defRPr>
            </a:pPr>
          </a:p>
        </c:tx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2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355080" y="1828800"/>
          <a:ext cx="56692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