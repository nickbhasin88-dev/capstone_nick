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32CE1A-8192-6CCD-372F-F3977CFE8D9F}" name="Guest User" initials="GU" userId="S::urn:spo:tenantanon#bb23c62a-3879-438a-9af6-e0a615144cb1::" providerId="AD"/>
  <p188:author id="{51E35836-FC1C-2F35-9C7F-91149BD1D16A}" name="Key, Ting" initials="KT" userId="S::ting.key@yale.edu::0d0a0d55-ba7c-41e8-aae8-5fad554abe41" providerId="AD"/>
  <p188:author id="{FC121674-63FC-2252-4652-144B9521E271}" name="Khan, Ishnan" initials="KI" userId="S::ishnan.khan@yale.edu::e77345ac-040c-4d54-ae20-494105c8db15" providerId="AD"/>
  <p188:author id="{1E6A2694-C2C7-764A-3AB8-678BDE135EE6}" name="Alexandre-Burke, Kaley" initials="AK" userId="S::kaley.alexandre-burke@yale.edu::b862c00d-9ef3-4272-aefb-9ef3b0c56097" providerId="AD"/>
  <p188:author id="{BF114D99-D057-92B0-FB47-0ABBCAC06BAF}" name="Soe-Lin, Shan" initials="SS" userId="S::shan.soe-lin@yale.edu::97ef95a6-5890-469b-b8a4-7e4c71a364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F73"/>
    <a:srgbClr val="244B91"/>
    <a:srgbClr val="2F52A4"/>
    <a:srgbClr val="2F52A6"/>
    <a:srgbClr val="4A83FF"/>
    <a:srgbClr val="1D3073"/>
    <a:srgbClr val="E5EDFA"/>
    <a:srgbClr val="DEE8F8"/>
    <a:srgbClr val="DDE7F8"/>
    <a:srgbClr val="9CB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19BD-9C7F-AF7F-24C9-2E3E9A6C656C}" v="2" dt="2026-10-19T01:43:07.295"/>
    <p1510:client id="{401BB271-3B6A-A276-33BF-98854A0E7F6A}" v="525" dt="2026-10-18T20:35:01.840"/>
    <p1510:client id="{41DA8606-C435-8F25-04CF-0707428A71E6}" v="239" dt="2026-10-19T20:43:26.458"/>
    <p1510:client id="{5AF2BED7-5C24-83A7-173A-B49D5C6F85FF}" v="19" dt="2026-10-19T21:52:18.925"/>
    <p1510:client id="{5F79C29F-C3F1-CF13-371E-ED3302F1D152}" v="34" dt="2026-10-19T19:56:13.078"/>
    <p1510:client id="{76FC189C-1A76-16B9-5B9C-25E8C3BC9060}" v="50" dt="2026-10-19T16:18:45.260"/>
    <p1510:client id="{81D52FA3-3E4D-84C0-2C5B-03FABE1E7F9C}" v="507" dt="2026-10-19T18:30:06.044"/>
    <p1510:client id="{82DC5BA5-7F05-D7BB-E915-69419C127304}" v="127" dt="2026-10-19T20:16:53.234"/>
    <p1510:client id="{C2E73322-11F1-49E4-8276-10BC1836A38E}" v="4" dt="2026-10-19T22:18:43.184"/>
    <p1510:client id="{D19D52E9-41F5-9FF1-F002-38597F71D974}" v="407" dt="2026-10-19T18:36:27.539"/>
    <p1510:client id="{D46C4316-4FE5-EF67-5B4F-BCE62032A18C}" v="37" dt="2026-10-18T04:38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5/10/relationships/revisionInfo" Target="revisionInfo.xml"/><Relationship Id="rId5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47CC7-B60F-E24D-887B-F1BF04B0011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3D6D-BE97-6B47-B4F2-F19FC31E4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three kinds of data the dashboard joins for 70 countries. Right: the model in three steps; the government's fiscal space is netted off the lost aid before coverage loss is 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00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72444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kern="1200" smtClean="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 kern="1200">
              <a:solidFill>
                <a:schemeClr val="tx1">
                  <a:tint val="82000"/>
                </a:schemeClr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aleway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The dashboard links aid, budgets and health data to show coverage at risk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1110000"/>
            <a:ext cx="2878528" cy="56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3400" b="0">
                <a:solidFill>
                  <a:srgbClr val="3D63B0"/>
                </a:solidFill>
                <a:latin typeface="Franklin Gothic Medium"/>
              </a:rPr>
              <a:t>26 </a:t>
            </a:r>
            <a:r>
              <a:rPr sz="1800" b="0">
                <a:solidFill>
                  <a:srgbClr val="21306F"/>
                </a:solidFill>
                <a:latin typeface="Arial"/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7472" y="1110000"/>
            <a:ext cx="2878528" cy="56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3400" b="0">
                <a:solidFill>
                  <a:srgbClr val="3D63B0"/>
                </a:solidFill>
                <a:latin typeface="Franklin Gothic Medium"/>
              </a:rPr>
              <a:t>16 </a:t>
            </a:r>
            <a:r>
              <a:rPr sz="1800" b="0">
                <a:solidFill>
                  <a:srgbClr val="21306F"/>
                </a:solidFill>
                <a:latin typeface="Arial"/>
              </a:rPr>
              <a:t>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110000"/>
            <a:ext cx="2878528" cy="56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3400" b="0">
                <a:solidFill>
                  <a:srgbClr val="3D63B0"/>
                </a:solidFill>
                <a:latin typeface="Franklin Gothic Medium"/>
              </a:rPr>
              <a:t>32 </a:t>
            </a:r>
            <a:r>
              <a:rPr sz="1800" b="0">
                <a:solidFill>
                  <a:srgbClr val="21306F"/>
                </a:solidFill>
                <a:latin typeface="Arial"/>
              </a:rPr>
              <a:t>published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4528" y="1110000"/>
            <a:ext cx="2878528" cy="56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3400" b="0">
                <a:solidFill>
                  <a:srgbClr val="3D63B0"/>
                </a:solidFill>
                <a:latin typeface="Franklin Gothic Medium"/>
              </a:rPr>
              <a:t>70 </a:t>
            </a:r>
            <a:r>
              <a:rPr sz="1800" b="0">
                <a:solidFill>
                  <a:srgbClr val="21306F"/>
                </a:solidFill>
                <a:latin typeface="Arial"/>
              </a:rPr>
              <a:t>countries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181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010000"/>
            <a:ext cx="5749594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1306F"/>
                </a:solidFill>
                <a:latin typeface="Franklin Gothic Medium"/>
              </a:rPr>
              <a:t>The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944" y="2470000"/>
            <a:ext cx="0" cy="974550"/>
          </a:xfrm>
          <a:prstGeom prst="line">
            <a:avLst/>
          </a:prstGeom>
          <a:ln w="38100">
            <a:solidFill>
              <a:srgbClr val="3D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8944" y="2470000"/>
            <a:ext cx="5609594" cy="97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306F"/>
                </a:solidFill>
                <a:latin typeface="Arial"/>
              </a:rPr>
              <a:t>Money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Aid by donor and channel; government budgets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Arial"/>
              </a:rPr>
              <a:t>IHME DAH and Health Spending, IMF WEO, World Bank, KFF MOUs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3564550"/>
            <a:ext cx="0" cy="974550"/>
          </a:xfrm>
          <a:prstGeom prst="line">
            <a:avLst/>
          </a:prstGeom>
          <a:ln w="38100">
            <a:solidFill>
              <a:srgbClr val="3D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8944" y="3564550"/>
            <a:ext cx="5609594" cy="97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306F"/>
                </a:solidFill>
                <a:latin typeface="Arial"/>
              </a:rPr>
              <a:t>Need and coverage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People who need each service, and who gets 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Arial"/>
              </a:rPr>
              <a:t>UNAIDS, WHO, Malaria Atlas Project, WUENIC, UN population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944" y="4659100"/>
            <a:ext cx="0" cy="974550"/>
          </a:xfrm>
          <a:prstGeom prst="line">
            <a:avLst/>
          </a:prstGeom>
          <a:ln w="38100">
            <a:solidFill>
              <a:srgbClr val="3D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8944" y="4659100"/>
            <a:ext cx="5609594" cy="97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306F"/>
                </a:solidFill>
                <a:latin typeface="Arial"/>
              </a:rPr>
              <a:t>Costs and effects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Cost per person served; what losing care does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Arial"/>
              </a:rPr>
              <a:t>GHCC unit costs, Global Fund budgets, Optima HIV, LiST, VIMC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5738" y="2010000"/>
            <a:ext cx="5307318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1306F"/>
                </a:solidFill>
                <a:latin typeface="Franklin Gothic Medium"/>
              </a:rPr>
              <a:t>The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5738" y="2470000"/>
            <a:ext cx="3290537" cy="560000"/>
          </a:xfrm>
          <a:prstGeom prst="rect">
            <a:avLst/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Expected aid retreat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91006" y="3030000"/>
            <a:ext cx="0" cy="801825"/>
          </a:xfrm>
          <a:prstGeom prst="line">
            <a:avLst/>
          </a:prstGeom>
          <a:ln w="19050">
            <a:solidFill>
              <a:srgbClr val="1C30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545738" y="3831825"/>
            <a:ext cx="3290537" cy="560000"/>
          </a:xfrm>
          <a:prstGeom prst="rect">
            <a:avLst/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Coverage lost by service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1006" y="4391825"/>
            <a:ext cx="0" cy="801825"/>
          </a:xfrm>
          <a:prstGeom prst="line">
            <a:avLst/>
          </a:prstGeom>
          <a:ln w="19050">
            <a:solidFill>
              <a:srgbClr val="1C30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45738" y="5193650"/>
            <a:ext cx="3290537" cy="560000"/>
          </a:xfrm>
          <a:prstGeom prst="rect">
            <a:avLst/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Coverage gap that remains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9155" y="3661825"/>
            <a:ext cx="1833901" cy="900000"/>
          </a:xfrm>
          <a:prstGeom prst="rect">
            <a:avLst/>
          </a:prstGeom>
          <a:solidFill>
            <a:srgbClr val="DD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500" b="1">
                <a:solidFill>
                  <a:srgbClr val="21306F"/>
                </a:solidFill>
                <a:latin typeface="Arial"/>
              </a:rPr>
              <a:t>Can fiscal space fill the gap?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836275" y="4111825"/>
            <a:ext cx="182880" cy="0"/>
          </a:xfrm>
          <a:prstGeom prst="line">
            <a:avLst/>
          </a:prstGeom>
          <a:ln w="19050">
            <a:solidFill>
              <a:srgbClr val="A85A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31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Adapting to Withdrawal from Development Assistance  for Global Health </vt:lpstr>
      <vt:lpstr>PowerPoint Presentation</vt:lpstr>
      <vt:lpstr>PowerPoint Presentation</vt:lpstr>
      <vt:lpstr> Recap</vt:lpstr>
      <vt:lpstr>PowerPoint Presentation</vt:lpstr>
      <vt:lpstr>OECD Aid Cut Projections </vt:lpstr>
      <vt:lpstr>PowerPoint Presentation</vt:lpstr>
      <vt:lpstr>How we built the projections</vt:lpstr>
      <vt:lpstr>Main findings: health aid falls about 25% by 2030</vt:lpstr>
      <vt:lpstr>Assumptions and caveats</vt:lpstr>
      <vt:lpstr>Dashboard</vt:lpstr>
      <vt:lpstr> The Dashboard Links Aid, Budgets And Health Data To Show Coverage At Risk From Aid Cuts</vt:lpstr>
      <vt:lpstr>Dashboard – Domestic government and international aid contribute to health spending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Demo: Choosing A Country And Scenario Reveals Which Services An Aid Cut Puts At Risk</vt:lpstr>
      <vt:lpstr>Historical patterns show that when the US decreases aid, countries decreased domestic government health expenditure by 19 cents</vt:lpstr>
      <vt:lpstr>Findings</vt:lpstr>
      <vt:lpstr>Domestic resource mobilization capacity – can countries grow their way out of the problem?</vt:lpstr>
      <vt:lpstr>Typical OECD cut averages were similar across income groups </vt:lpstr>
      <vt:lpstr>PowerPoint Presentation</vt:lpstr>
      <vt:lpstr>PowerPoint Presentation</vt:lpstr>
      <vt:lpstr>Most countries need only a modest shift in budget priority, but a few would need to at least double their health share</vt:lpstr>
      <vt:lpstr>Loans tied to health priorities can incentivize new funds to be invested into health</vt:lpstr>
      <vt:lpstr>DAH prioritization – where should donors be targeting remaining funds?</vt:lpstr>
      <vt:lpstr>Recall: Funding cuts show no consistent relationship with health need, leaving high risk countries vulnerable </vt:lpstr>
      <vt:lpstr>HIV Financing Transition: Country Risk-Tier Analysis</vt:lpstr>
      <vt:lpstr>Country risk map</vt:lpstr>
      <vt:lpstr>PowerPoint Presentation</vt:lpstr>
      <vt:lpstr>Priority tiers and intervention emphasis</vt:lpstr>
      <vt:lpstr>High-dependency programs are where remaining donor funds matter most</vt:lpstr>
      <vt:lpstr>Looking Ahead</vt:lpstr>
      <vt:lpstr>Calendar</vt:lpstr>
      <vt:lpstr>Discussion</vt:lpstr>
      <vt:lpstr>PowerPoint Presentation</vt:lpstr>
      <vt:lpstr> Dashboard-nModeling the cuts</vt:lpstr>
      <vt:lpstr> Dashboard – Modeling the aid retreat</vt:lpstr>
      <vt:lpstr>Malaria, TB and vaccines, by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2026-10-08T19:08:02Z</dcterms:created>
  <dcterms:modified xsi:type="dcterms:W3CDTF">2026-10-19T22:24:53Z</dcterms:modified>
</cp:coreProperties>
</file>