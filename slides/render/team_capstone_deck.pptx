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2A_2B443F02.xml" ContentType="application/vnd.ms-powerpoint.comments+xml"/>
  <Override PartName="/ppt/comments/modernComment_144_24F431D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2B_BB3486CD.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33_F225B5AE.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37_F92B0BAF.xml" ContentType="application/vnd.ms-powerpoint.comments+xml"/>
  <Override PartName="/ppt/notesSlides/notesSlide18.xml" ContentType="application/vnd.openxmlformats-officedocument.presentationml.notesSlide+xml"/>
  <Override PartName="/ppt/comments/modernComment_13E_D0C2DEF6.xml" ContentType="application/vnd.ms-powerpoint.comments+xml"/>
  <Override PartName="/ppt/notesSlides/notesSlide19.xml" ContentType="application/vnd.openxmlformats-officedocument.presentationml.notesSlide+xml"/>
  <Override PartName="/ppt/comments/modernComment_10B_39629053.xml" ContentType="application/vnd.ms-powerpoint.comments+xml"/>
  <Override PartName="/ppt/notesSlides/notesSlide20.xml" ContentType="application/vnd.openxmlformats-officedocument.presentationml.notesSlide+xml"/>
  <Override PartName="/ppt/comments/modernComment_139_F5C8B197.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13_7D1A2AEB.xml" ContentType="application/vnd.ms-powerpoint.comments+xml"/>
  <Override PartName="/ppt/notesSlides/notesSlide23.xml" ContentType="application/vnd.openxmlformats-officedocument.presentationml.notesSlide+xml"/>
  <Override PartName="/ppt/comments/modernComment_10D_4FABBFBB.xml" ContentType="application/vnd.ms-powerpoint.comments+xml"/>
  <Override PartName="/ppt/notesSlides/notesSlide24.xml" ContentType="application/vnd.openxmlformats-officedocument.presentationml.notesSlide+xml"/>
  <Override PartName="/ppt/comments/modernComment_11D_A3552C67.xml" ContentType="application/vnd.ms-powerpoint.comments+xml"/>
  <Override PartName="/ppt/notesSlides/notesSlide25.xml" ContentType="application/vnd.openxmlformats-officedocument.presentationml.notesSlide+xml"/>
  <Override PartName="/ppt/comments/modernComment_11B_3C426000.xml" ContentType="application/vnd.ms-powerpoint.comments+xml"/>
  <Override PartName="/ppt/notesSlides/notesSlide26.xml" ContentType="application/vnd.openxmlformats-officedocument.presentationml.notesSlide+xml"/>
  <Override PartName="/ppt/comments/modernComment_11C_3A89FE66.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04_4F0A6502.xml" ContentType="application/vnd.ms-powerpoint.comments+xml"/>
  <Override PartName="/ppt/notesSlides/notesSlide29.xml" ContentType="application/vnd.openxmlformats-officedocument.presentationml.notesSlide+xml"/>
  <Override PartName="/ppt/comments/modernComment_107_CFF08269.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93" r:id="rId3"/>
    <p:sldId id="297" r:id="rId4"/>
    <p:sldId id="261" r:id="rId5"/>
    <p:sldId id="298" r:id="rId6"/>
    <p:sldId id="316" r:id="rId7"/>
    <p:sldId id="324" r:id="rId8"/>
    <p:sldId id="321" r:id="rId9"/>
    <p:sldId id="322" r:id="rId10"/>
    <p:sldId id="323" r:id="rId11"/>
    <p:sldId id="294" r:id="rId12"/>
    <p:sldId id="299" r:id="rId13"/>
    <p:sldId id="300" r:id="rId14"/>
    <p:sldId id="301" r:id="rId15"/>
    <p:sldId id="302" r:id="rId16"/>
    <p:sldId id="304" r:id="rId17"/>
    <p:sldId id="305" r:id="rId18"/>
    <p:sldId id="306" r:id="rId19"/>
    <p:sldId id="307" r:id="rId20"/>
    <p:sldId id="290" r:id="rId21"/>
    <p:sldId id="311" r:id="rId22"/>
    <p:sldId id="295" r:id="rId23"/>
    <p:sldId id="314" r:id="rId24"/>
    <p:sldId id="318" r:id="rId25"/>
    <p:sldId id="267" r:id="rId26"/>
    <p:sldId id="313" r:id="rId27"/>
    <p:sldId id="268" r:id="rId28"/>
    <p:sldId id="275" r:id="rId29"/>
    <p:sldId id="315" r:id="rId30"/>
    <p:sldId id="289" r:id="rId31"/>
    <p:sldId id="269" r:id="rId32"/>
    <p:sldId id="285" r:id="rId33"/>
    <p:sldId id="283" r:id="rId34"/>
    <p:sldId id="284" r:id="rId35"/>
    <p:sldId id="258" r:id="rId36"/>
    <p:sldId id="296" r:id="rId37"/>
    <p:sldId id="266" r:id="rId38"/>
    <p:sldId id="291" r:id="rId39"/>
    <p:sldId id="260" r:id="rId40"/>
    <p:sldId id="263" r:id="rId41"/>
    <p:sldId id="274" r:id="rId42"/>
    <p:sldId id="30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BA32CE1A-8192-6CCD-372F-F3977CFE8D9F}" name="Guest User" initials="GU" userId="S::urn:spo:tenantanon#bb23c62a-3879-438a-9af6-e0a615144cb1::" providerId="AD"/>
  <p188:author id="{51E35836-FC1C-2F35-9C7F-91149BD1D16A}" name="Key, Ting" initials="KT" userId="S::ting.key@yale.edu::0d0a0d55-ba7c-41e8-aae8-5fad554abe41" providerId="AD"/>
  <p188:author id="{FC121674-63FC-2252-4652-144B9521E271}" name="Khan, Ishnan" initials="KI" userId="S::ishnan.khan@yale.edu::e77345ac-040c-4d54-ae20-494105c8db15" providerId="AD"/>
  <p188:author id="{1E6A2694-C2C7-764A-3AB8-678BDE135EE6}" name="Alexandre-Burke, Kaley" initials="AK" userId="S::kaley.alexandre-burke@yale.edu::b862c00d-9ef3-4272-aefb-9ef3b0c56097" providerId="AD"/>
  <p188:author id="{BF114D99-D057-92B0-FB47-0ABBCAC06BAF}" name="Soe-Lin, Shan" initials="SS" userId="S::shan.soe-lin@yale.edu::97ef95a6-5890-469b-b8a4-7e4c71a364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2F73"/>
    <a:srgbClr val="244B91"/>
    <a:srgbClr val="2F52A4"/>
    <a:srgbClr val="2F52A6"/>
    <a:srgbClr val="4A83FF"/>
    <a:srgbClr val="1D3073"/>
    <a:srgbClr val="E5EDFA"/>
    <a:srgbClr val="DEE8F8"/>
    <a:srgbClr val="DDE7F8"/>
    <a:srgbClr val="9CB3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CE19BD-9C7F-AF7F-24C9-2E3E9A6C656C}" v="2" dt="2026-10-19T01:43:07.295"/>
    <p1510:client id="{401BB271-3B6A-A276-33BF-98854A0E7F6A}" v="525" dt="2026-10-18T20:35:01.840"/>
    <p1510:client id="{41DA8606-C435-8F25-04CF-0707428A71E6}" v="239" dt="2026-10-19T20:43:26.458"/>
    <p1510:client id="{5AF2BED7-5C24-83A7-173A-B49D5C6F85FF}" v="19" dt="2026-10-19T21:52:18.925"/>
    <p1510:client id="{5F79C29F-C3F1-CF13-371E-ED3302F1D152}" v="34" dt="2026-10-19T19:56:13.078"/>
    <p1510:client id="{76FC189C-1A76-16B9-5B9C-25E8C3BC9060}" v="50" dt="2026-10-19T16:18:45.260"/>
    <p1510:client id="{81D52FA3-3E4D-84C0-2C5B-03FABE1E7F9C}" v="507" dt="2026-10-19T18:30:06.044"/>
    <p1510:client id="{82DC5BA5-7F05-D7BB-E915-69419C127304}" v="127" dt="2026-10-19T20:16:53.234"/>
    <p1510:client id="{C2E73322-11F1-49E4-8276-10BC1836A38E}" v="4" dt="2026-10-19T22:18:43.184"/>
    <p1510:client id="{D19D52E9-41F5-9FF1-F002-38597F71D974}" v="407" dt="2026-10-19T18:36:27.539"/>
    <p1510:client id="{D46C4316-4FE5-EF67-5B4F-BCE62032A18C}" v="37" dt="2026-10-18T04:38:59.5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0B_39629053.xml><?xml version="1.0" encoding="utf-8"?>
<p188:cmLst xmlns:a="http://schemas.openxmlformats.org/drawingml/2006/main" xmlns:r="http://schemas.openxmlformats.org/officeDocument/2006/relationships" xmlns:p188="http://schemas.microsoft.com/office/powerpoint/2018/8/main">
  <p188:cm id="{722460A7-AA94-49EA-9F2D-8BC9C7CFB9B9}" authorId="{BA32CE1A-8192-6CCD-372F-F3977CFE8D9F}" created="2026-10-19T20:05:12.099">
    <pc:sldMkLst xmlns:pc="http://schemas.microsoft.com/office/powerpoint/2013/main/command">
      <pc:docMk/>
      <pc:sldMk cId="962760787" sldId="267"/>
    </pc:sldMkLst>
    <p188:replyLst>
      <p188:reply id="{84DDA334-C9FB-465B-8D4A-BB7D8B47DA2B}" authorId="{BA32CE1A-8192-6CCD-372F-F3977CFE8D9F}" created="2026-10-19T20:15:32.559">
        <p188:txBody>
          <a:bodyPr/>
          <a:lstStyle/>
          <a:p>
            <a:r>
              <a:rPr lang="en-US"/>
              <a:t>Also need to explain tax potential</a:t>
            </a:r>
          </a:p>
        </p188:txBody>
      </p188:reply>
    </p188:replyLst>
    <p188:txBody>
      <a:bodyPr/>
      <a:lstStyle/>
      <a:p>
        <a:r>
          <a:rPr lang="en-US"/>
          <a:t>Make it explicit in the title that this is assuming all new tax revenue goes to health</a:t>
        </a:r>
      </a:p>
    </p188:txBody>
  </p188:cm>
</p188:cmLst>
</file>

<file path=ppt/comments/modernComment_10D_4FABBFBB.xml><?xml version="1.0" encoding="utf-8"?>
<p188:cmLst xmlns:a="http://schemas.openxmlformats.org/drawingml/2006/main" xmlns:r="http://schemas.openxmlformats.org/officeDocument/2006/relationships" xmlns:p188="http://schemas.microsoft.com/office/powerpoint/2018/8/main">
  <p188:cm id="{BE947674-CACF-41D3-9855-4B744265B728}" authorId="{BF114D99-D057-92B0-FB47-0ABBCAC06BAF}" created="2026-10-15T12:13:52.799">
    <pc:sldMkLst xmlns:pc="http://schemas.microsoft.com/office/powerpoint/2013/main/command">
      <pc:docMk/>
      <pc:sldMk cId="1336655803" sldId="269"/>
    </pc:sldMkLst>
    <p188:txBody>
      <a:bodyPr/>
      <a:lstStyle/>
      <a:p>
        <a:r>
          <a:rPr lang="en-US"/>
          <a:t>We should discuss if there's a better way to show this, also including the number of people at risk instead of just the number of countries</a:t>
        </a:r>
      </a:p>
    </p188:txBody>
  </p188:cm>
  <p188:cm id="{5C798402-C614-42FD-9102-7391177CE8DD}" authorId="{BA32CE1A-8192-6CCD-372F-F3977CFE8D9F}" created="2026-10-19T20:06:35.290">
    <pc:sldMkLst xmlns:pc="http://schemas.microsoft.com/office/powerpoint/2013/main/command">
      <pc:docMk/>
      <pc:sldMk cId="1336655803" sldId="269"/>
    </pc:sldMkLst>
    <p188:txBody>
      <a:bodyPr/>
      <a:lstStyle/>
      <a:p>
        <a:r>
          <a:rPr lang="en-US"/>
          <a:t>Needs an action title</a:t>
        </a:r>
      </a:p>
    </p188:txBody>
  </p188:cm>
</p188:cmLst>
</file>

<file path=ppt/comments/modernComment_11B_3C426000.xml><?xml version="1.0" encoding="utf-8"?>
<p188:cmLst xmlns:a="http://schemas.openxmlformats.org/drawingml/2006/main" xmlns:r="http://schemas.openxmlformats.org/officeDocument/2006/relationships" xmlns:p188="http://schemas.microsoft.com/office/powerpoint/2018/8/main">
  <p188:cm id="{43B10471-50D3-4930-9CDF-1A6A70DD61E2}" authorId="{BA32CE1A-8192-6CCD-372F-F3977CFE8D9F}" created="2026-10-19T20:06:50.884">
    <pc:sldMkLst xmlns:pc="http://schemas.microsoft.com/office/powerpoint/2013/main/command">
      <pc:docMk/>
      <pc:sldMk cId="1010982912" sldId="283"/>
    </pc:sldMkLst>
    <p188:txBody>
      <a:bodyPr/>
      <a:lstStyle/>
      <a:p>
        <a:r>
          <a:rPr lang="en-US"/>
          <a:t>Needs an action title</a:t>
        </a:r>
      </a:p>
    </p188:txBody>
  </p188:cm>
</p188:cmLst>
</file>

<file path=ppt/comments/modernComment_11C_3A89FE66.xml><?xml version="1.0" encoding="utf-8"?>
<p188:cmLst xmlns:a="http://schemas.openxmlformats.org/drawingml/2006/main" xmlns:r="http://schemas.openxmlformats.org/officeDocument/2006/relationships" xmlns:p188="http://schemas.microsoft.com/office/powerpoint/2018/8/main">
  <p188:cm id="{D586E0ED-6DDD-4557-921F-AA932CDEB163}" authorId="{1E6A2694-C2C7-764A-3AB8-678BDE135EE6}" created="2026-10-14T20:20:39.639">
    <pc:sldMkLst xmlns:pc="http://schemas.microsoft.com/office/powerpoint/2013/main/command">
      <pc:docMk/>
      <pc:sldMk cId="982122086" sldId="284"/>
    </pc:sldMkLst>
    <p188:replyLst>
      <p188:reply id="{CB784A9D-0728-4646-947A-324EB43271DE}" authorId="{BA32CE1A-8192-6CCD-372F-F3977CFE8D9F}" created="2026-10-19T20:07:19.541">
        <p188:txBody>
          <a:bodyPr/>
          <a:lstStyle/>
          <a:p>
            <a:r>
              <a:rPr lang="en-US"/>
              <a:t>This probably needs to be up at the beginning before you start to talk about tiers</a:t>
            </a:r>
          </a:p>
        </p188:txBody>
      </p188:reply>
    </p188:replyLst>
    <p188:txBody>
      <a:bodyPr/>
      <a:lstStyle/>
      <a:p>
        <a:r>
          <a:rPr lang="en-US"/>
          <a:t>[@Khan, Ishnan] [@Mutinda, Victor] can you clarify what fragile means in this context? How is it distinct from large HIV burden</a:t>
        </a:r>
      </a:p>
    </p188:txBody>
  </p188:cm>
</p188:cmLst>
</file>

<file path=ppt/comments/modernComment_11D_A3552C67.xml><?xml version="1.0" encoding="utf-8"?>
<p188:cmLst xmlns:a="http://schemas.openxmlformats.org/drawingml/2006/main" xmlns:r="http://schemas.openxmlformats.org/officeDocument/2006/relationships" xmlns:p188="http://schemas.microsoft.com/office/powerpoint/2018/8/main">
  <p188:cm id="{762BAAB5-A8E8-47CF-95E8-3CFAB51E2BD4}" authorId="{BF114D99-D057-92B0-FB47-0ABBCAC06BAF}" created="2026-10-15T12:14:28.692">
    <pc:sldMkLst xmlns:pc="http://schemas.microsoft.com/office/powerpoint/2013/main/command">
      <pc:docMk/>
      <pc:sldMk cId="2740268135" sldId="285"/>
    </pc:sldMkLst>
    <p188:txBody>
      <a:bodyPr/>
      <a:lstStyle/>
      <a:p>
        <a:r>
          <a:rPr lang="en-US"/>
          <a:t>How are we defining fiscal space</a:t>
        </a:r>
      </a:p>
    </p188:txBody>
  </p188:cm>
  <p188:cm id="{AF2E3BF9-5958-4E43-B282-FF964C5F0FC7}" authorId="{BA32CE1A-8192-6CCD-372F-F3977CFE8D9F}" created="2026-10-19T20:06:43.134">
    <pc:sldMkLst xmlns:pc="http://schemas.microsoft.com/office/powerpoint/2013/main/command">
      <pc:docMk/>
      <pc:sldMk cId="2740268135" sldId="285"/>
    </pc:sldMkLst>
    <p188:txBody>
      <a:bodyPr/>
      <a:lstStyle/>
      <a:p>
        <a:r>
          <a:rPr lang="en-US"/>
          <a:t>Needs an action title</a:t>
        </a:r>
      </a:p>
    </p188:txBody>
  </p188:cm>
</p188:cmLst>
</file>

<file path=ppt/comments/modernComment_12A_2B443F02.xml><?xml version="1.0" encoding="utf-8"?>
<p188:cmLst xmlns:a="http://schemas.openxmlformats.org/drawingml/2006/main" xmlns:r="http://schemas.openxmlformats.org/officeDocument/2006/relationships" xmlns:p188="http://schemas.microsoft.com/office/powerpoint/2018/8/main">
  <p188:cm id="{44B50CD7-C321-4AC4-A3C5-3717A6896254}" authorId="{BF114D99-D057-92B0-FB47-0ABBCAC06BAF}" status="resolved" created="2026-10-15T12:07:47.353" complete="100000">
    <pc:sldMkLst xmlns:pc="http://schemas.microsoft.com/office/powerpoint/2013/main/command">
      <pc:docMk/>
      <pc:sldMk cId="725892866" sldId="298"/>
    </pc:sldMkLst>
    <p188:txBody>
      <a:bodyPr/>
      <a:lstStyle/>
      <a:p>
        <a:r>
          <a:rPr lang="en-US"/>
          <a:t>On finding 2, shouldn't one of the recommendations be to increase tax efficiency?
Can we determine whether countries have reduced their health budgets for 2025?  This would be an important finding
What are development banks like the World Bank doing in response?  This seems knowable.
I would also soften all "recommendations" to "potential recommendations"
On finding 3 - this is the most interesting area where modeling could provide clues for where the most lifesaving allocation of money could be</a:t>
        </a:r>
      </a:p>
    </p188:txBody>
  </p188:cm>
</p188:cmLst>
</file>

<file path=ppt/comments/modernComment_12B_BB3486CD.xml><?xml version="1.0" encoding="utf-8"?>
<p188:cmLst xmlns:a="http://schemas.openxmlformats.org/drawingml/2006/main" xmlns:r="http://schemas.openxmlformats.org/officeDocument/2006/relationships" xmlns:p188="http://schemas.microsoft.com/office/powerpoint/2018/8/main">
  <p188:cm id="{76E5ED4E-7709-412B-8214-154D18114349}" authorId="{BF114D99-D057-92B0-FB47-0ABBCAC06BAF}" created="2026-10-15T12:10:04.362">
    <pc:sldMkLst xmlns:pc="http://schemas.microsoft.com/office/powerpoint/2013/main/command">
      <pc:docMk/>
      <pc:sldMk cId="3140781773" sldId="299"/>
    </pc:sldMkLst>
    <p188:txBody>
      <a:bodyPr/>
      <a:lstStyle/>
      <a:p>
        <a:r>
          <a:rPr lang="en-US"/>
          <a:t>Add screenshots?</a:t>
        </a:r>
      </a:p>
    </p188:txBody>
  </p188:cm>
</p188:cmLst>
</file>

<file path=ppt/comments/modernComment_13E_D0C2DEF6.xml><?xml version="1.0" encoding="utf-8"?>
<p188:cmLst xmlns:a="http://schemas.openxmlformats.org/drawingml/2006/main" xmlns:r="http://schemas.openxmlformats.org/officeDocument/2006/relationships" xmlns:p188="http://schemas.microsoft.com/office/powerpoint/2018/8/main">
  <p188:cm id="{893AA388-A2ED-409D-93AA-889C2656D49E}" authorId="{BA32CE1A-8192-6CCD-372F-F3977CFE8D9F}" created="2026-10-19T20:04:48.348">
    <pc:sldMkLst xmlns:pc="http://schemas.microsoft.com/office/powerpoint/2013/main/command">
      <pc:docMk/>
      <pc:sldMk cId="3502431990" sldId="318"/>
    </pc:sldMkLst>
    <p188:txBody>
      <a:bodyPr/>
      <a:lstStyle/>
      <a:p>
        <a:r>
          <a:rPr lang="en-US"/>
          <a:t>For the title - what is the "so what"?  Why is the uniformity important?</a:t>
        </a:r>
      </a:p>
    </p188:txBody>
  </p188:cm>
</p188:cmLst>
</file>

<file path=ppt/comments/modernComment_104_4F0A6502.xml><?xml version="1.0" encoding="utf-8"?>
<p188:cmLst xmlns:a="http://schemas.openxmlformats.org/drawingml/2006/main" xmlns:r="http://schemas.openxmlformats.org/officeDocument/2006/relationships" xmlns:p188="http://schemas.microsoft.com/office/powerpoint/2018/8/main">
  <p188:cm id="{B4EF566C-B333-3C4A-9729-44E97AED2EB1}" authorId="{51E35836-FC1C-2F35-9C7F-91149BD1D16A}" created="2026-10-15T00:18:04.555">
    <ac:txMkLst xmlns:ac="http://schemas.microsoft.com/office/drawing/2013/main/command">
      <pc:docMk xmlns:pc="http://schemas.microsoft.com/office/powerpoint/2013/main/command"/>
      <pc:sldMk xmlns:pc="http://schemas.microsoft.com/office/powerpoint/2013/main/command" cId="1326081282" sldId="260"/>
      <ac:spMk id="7" creationId="{26CDD554-26BC-806F-2282-B70D8654C775}"/>
      <ac:txMk cp="165" len="136">
        <ac:context len="987" hash="1500522488"/>
      </ac:txMk>
    </ac:txMkLst>
    <p188:pos x="9662160" y="1354819"/>
    <p188:txBody>
      <a:bodyPr/>
      <a:lstStyle/>
      <a:p>
        <a:r>
          <a:rPr lang="en-US"/>
          <a:t>this is the same as a recommendation made within a report that susan wrote in late 2025</a:t>
        </a:r>
      </a:p>
    </p188:txBody>
  </p188:cm>
  <p188:cm id="{A5B6ABAF-F99D-C045-AA15-5E313AC510B2}" authorId="{51E35836-FC1C-2F35-9C7F-91149BD1D16A}" created="2026-10-15T00:22:27.948">
    <ac:txMkLst xmlns:ac="http://schemas.microsoft.com/office/drawing/2013/main/command">
      <pc:docMk xmlns:pc="http://schemas.microsoft.com/office/powerpoint/2013/main/command"/>
      <pc:sldMk xmlns:pc="http://schemas.microsoft.com/office/powerpoint/2013/main/command" cId="1326081282" sldId="260"/>
      <ac:spMk id="7" creationId="{26CDD554-26BC-806F-2282-B70D8654C775}"/>
      <ac:txMk cp="558" len="76">
        <ac:context len="987" hash="1500522488"/>
      </ac:txMk>
    </ac:txMkLst>
    <p188:pos x="7367588" y="2961306"/>
    <p188:txBody>
      <a:bodyPr/>
      <a:lstStyle/>
      <a:p>
        <a:r>
          <a:rPr lang="en-US"/>
          <a:t>same comment as above, but the way we got to this conclusion is unique to existing analysis, which is great for us </a:t>
        </a:r>
      </a:p>
    </p188:txBody>
  </p188:cm>
  <p188:cm id="{A62E2A3E-2DA6-C948-ADF4-1DD6893CFA89}" authorId="{51E35836-FC1C-2F35-9C7F-91149BD1D16A}" created="2026-10-15T00:23:54.056">
    <ac:txMkLst xmlns:ac="http://schemas.microsoft.com/office/drawing/2013/main/command">
      <pc:docMk xmlns:pc="http://schemas.microsoft.com/office/powerpoint/2013/main/command"/>
      <pc:sldMk xmlns:pc="http://schemas.microsoft.com/office/powerpoint/2013/main/command" cId="1326081282" sldId="260"/>
      <ac:spMk id="7" creationId="{26CDD554-26BC-806F-2282-B70D8654C775}"/>
      <ac:txMk cp="873" len="113">
        <ac:context len="987" hash="1500522488"/>
      </ac:txMk>
    </ac:txMkLst>
    <p188:pos x="9382125" y="4404343"/>
    <p188:txBody>
      <a:bodyPr/>
      <a:lstStyle/>
      <a:p>
        <a:r>
          <a:rPr lang="en-US"/>
          <a:t>same comment as above, this is lowk a repeat of this report: https://www.who.int/publications/i/item/9789240117587</a:t>
        </a:r>
      </a:p>
    </p188:txBody>
  </p188:cm>
</p188:cmLst>
</file>

<file path=ppt/comments/modernComment_107_CFF08269.xml><?xml version="1.0" encoding="utf-8"?>
<p188:cmLst xmlns:a="http://schemas.openxmlformats.org/drawingml/2006/main" xmlns:r="http://schemas.openxmlformats.org/officeDocument/2006/relationships" xmlns:p188="http://schemas.microsoft.com/office/powerpoint/2018/8/main">
  <p188:cm id="{F3A22978-1AA4-4781-B873-9DD726500819}" authorId="{BF114D99-D057-92B0-FB47-0ABBCAC06BAF}" created="2026-10-15T12:10:36.505">
    <pc:sldMkLst xmlns:pc="http://schemas.microsoft.com/office/powerpoint/2013/main/command">
      <pc:docMk/>
      <pc:sldMk cId="3488645737" sldId="263"/>
    </pc:sldMkLst>
    <p188:txBody>
      <a:bodyPr/>
      <a:lstStyle/>
      <a:p>
        <a:r>
          <a:rPr lang="en-US"/>
          <a:t>Need action titles</a:t>
        </a:r>
      </a:p>
    </p188:txBody>
  </p188:cm>
</p188:cmLst>
</file>

<file path=ppt/comments/modernComment_113_7D1A2AEB.xml><?xml version="1.0" encoding="utf-8"?>
<p188:cmLst xmlns:a="http://schemas.openxmlformats.org/drawingml/2006/main" xmlns:r="http://schemas.openxmlformats.org/officeDocument/2006/relationships" xmlns:p188="http://schemas.microsoft.com/office/powerpoint/2018/8/main">
  <p188:cm id="{5358B562-70A0-4BBD-912C-0FC925037E11}" authorId="{1E6A2694-C2C7-764A-3AB8-678BDE135EE6}" created="2026-10-13T18:59:59.349">
    <pc:sldMkLst xmlns:pc="http://schemas.microsoft.com/office/powerpoint/2013/main/command">
      <pc:docMk/>
      <pc:sldMk cId="2098866923" sldId="275"/>
    </pc:sldMkLst>
    <p188:txBody>
      <a:bodyPr/>
      <a:lstStyle/>
      <a:p>
        <a:r>
          <a:rPr lang="en-US"/>
          <a:t>For this slide, i think the nitty gritty on debt is less helpful because i think the answer is heavily tied to how concessional the loans are. at some point if it woul be helpful i may try to further model this, but also (preliminarily) I think many of them could take on enough debt if the loans has favorable enough terms</a:t>
        </a:r>
      </a:p>
    </p188:txBody>
  </p188:cm>
  <p188:cm id="{50EA6A65-244B-5341-AD99-FCE504C1CD45}" authorId="{51E35836-FC1C-2F35-9C7F-91149BD1D16A}" created="2026-10-15T00:28:03.201">
    <pc:sldMkLst xmlns:pc="http://schemas.microsoft.com/office/powerpoint/2013/main/command">
      <pc:docMk/>
      <pc:sldMk cId="2098866923" sldId="275"/>
    </pc:sldMkLst>
    <p188:txBody>
      <a:bodyPr/>
      <a:lstStyle/>
      <a:p>
        <a:r>
          <a:rPr lang="en-US"/>
          <a:t>This is similar to the Pharos financing slides she sent us - I wonder how they moved forward once identifying loans as a potential solution</a:t>
        </a:r>
      </a:p>
    </p188:txBody>
  </p188:cm>
</p188:cmLst>
</file>

<file path=ppt/comments/modernComment_133_F225B5AE.xml><?xml version="1.0" encoding="utf-8"?>
<p188:cmLst xmlns:a="http://schemas.openxmlformats.org/drawingml/2006/main" xmlns:r="http://schemas.openxmlformats.org/officeDocument/2006/relationships" xmlns:p188="http://schemas.microsoft.com/office/powerpoint/2018/8/main">
  <p188:cm id="{0A66CE26-6A9B-460B-9A80-319837434746}" authorId="{BA32CE1A-8192-6CCD-372F-F3977CFE8D9F}" created="2026-10-19T20:03:17.220">
    <pc:sldMkLst xmlns:pc="http://schemas.microsoft.com/office/powerpoint/2013/main/command">
      <pc:docMk/>
      <pc:sldMk cId="4062557614" sldId="307"/>
    </pc:sldMkLst>
    <p188:txBody>
      <a:bodyPr/>
      <a:lstStyle/>
      <a:p>
        <a:r>
          <a:rPr lang="en-US"/>
          <a:t>Do we want to include this slide?</a:t>
        </a:r>
      </a:p>
    </p188:txBody>
  </p188:cm>
</p188:cmLst>
</file>

<file path=ppt/comments/modernComment_137_F92B0BAF.xml><?xml version="1.0" encoding="utf-8"?>
<p188:cmLst xmlns:a="http://schemas.openxmlformats.org/drawingml/2006/main" xmlns:r="http://schemas.openxmlformats.org/officeDocument/2006/relationships" xmlns:p188="http://schemas.microsoft.com/office/powerpoint/2018/8/main">
  <p188:cm id="{C563D006-3E8F-4323-9575-D5B2664EEDE0}" authorId="{BA32CE1A-8192-6CCD-372F-F3977CFE8D9F}" created="2026-10-19T20:03:58.221">
    <pc:sldMkLst xmlns:pc="http://schemas.microsoft.com/office/powerpoint/2013/main/command">
      <pc:docMk/>
      <pc:sldMk cId="4180347823" sldId="311"/>
    </pc:sldMkLst>
    <p188:txBody>
      <a:bodyPr/>
      <a:lstStyle/>
      <a:p>
        <a:r>
          <a:rPr lang="en-US"/>
          <a:t>What's the "so what" of this slide?  Why should we care what the historical trends have shown?</a:t>
        </a:r>
      </a:p>
    </p188:txBody>
  </p188:cm>
</p188:cmLst>
</file>

<file path=ppt/comments/modernComment_139_F5C8B197.xml><?xml version="1.0" encoding="utf-8"?>
<p188:cmLst xmlns:a="http://schemas.openxmlformats.org/drawingml/2006/main" xmlns:r="http://schemas.openxmlformats.org/officeDocument/2006/relationships" xmlns:p188="http://schemas.microsoft.com/office/powerpoint/2018/8/main">
  <p188:cm id="{4A834BE0-E1D4-45B2-9EFA-747AC2779169}" authorId="{BF114D99-D057-92B0-FB47-0ABBCAC06BAF}" created="2026-10-15T12:11:50.791">
    <pc:sldMkLst xmlns:pc="http://schemas.microsoft.com/office/powerpoint/2013/main/command">
      <pc:docMk/>
      <pc:sldMk cId="962760787" sldId="267"/>
    </pc:sldMkLst>
    <p188:replyLst>
      <p188:reply id="{264099B3-9A57-4FB6-B6B4-6EB262676C76}" authorId="{1E6A2694-C2C7-764A-3AB8-678BDE135EE6}" created="2026-10-19T01:43:07.295">
        <p188:txBody>
          <a:bodyPr/>
          <a:lstStyle/>
          <a:p>
            <a:r>
              <a:rPr lang="en-US"/>
              <a:t>It does not, this version uses the % of their current budget allocated to health!</a:t>
            </a:r>
          </a:p>
        </p188:txBody>
      </p188:reply>
      <p188:reply id="{653B44F9-E544-4B85-89D5-DF7D8035ED42}" authorId="{BA32CE1A-8192-6CCD-372F-F3977CFE8D9F}" created="2026-10-19T20:05:46.538">
        <p188:txBody>
          <a:bodyPr/>
          <a:lstStyle/>
          <a:p>
            <a:r>
              <a:rPr lang="en-US"/>
              <a:t>Make it clear that this is assuming that countries maintain their current health budget allocation on an expanded tax base</a:t>
            </a:r>
          </a:p>
        </p188:txBody>
      </p188:reply>
    </p188:replyLst>
    <p188:txBody>
      <a:bodyPr/>
      <a:lstStyle/>
      <a:p>
        <a:r>
          <a:rPr lang="en-US"/>
          <a:t>Does this assume that all additional tax revenue would be dedicated to health?</a:t>
        </a:r>
      </a:p>
    </p188:txBody>
  </p188:cm>
</p188:cmLst>
</file>

<file path=ppt/comments/modernComment_144_24F431D0.xml><?xml version="1.0" encoding="utf-8"?>
<p188:cmLst xmlns:a="http://schemas.openxmlformats.org/drawingml/2006/main" xmlns:r="http://schemas.openxmlformats.org/officeDocument/2006/relationships" xmlns:p188="http://schemas.microsoft.com/office/powerpoint/2018/8/main">
  <p188:cm id="{A41C0805-8EC1-4F4B-A7EA-F2F24B7E9DA6}" authorId="{BA32CE1A-8192-6CCD-372F-F3977CFE8D9F}" created="2026-10-19T20:01:41.935">
    <pc:sldMkLst xmlns:pc="http://schemas.microsoft.com/office/powerpoint/2013/main/command">
      <pc:docMk/>
      <pc:sldMk cId="619983312" sldId="324"/>
    </pc:sldMkLst>
    <p188:txBody>
      <a:bodyPr/>
      <a:lstStyle/>
      <a:p>
        <a:r>
          <a:rPr lang="en-US"/>
          <a:t>Need an explanatory slide here explaining what the research question was, and what the headline findings were.  it's jarring to jump right into methodology when it's not clear what you're trying to solve for.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47CC7-B60F-E24D-887B-F1BF04B00116}"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3D6D-BE97-6B47-B4F2-F19FC31E4AE0}" type="slidenum">
              <a:rPr lang="en-US" smtClean="0"/>
              <a:t>‹#›</a:t>
            </a:fld>
            <a:endParaRPr lang="en-US"/>
          </a:p>
        </p:txBody>
      </p:sp>
    </p:spTree>
    <p:extLst>
      <p:ext uri="{BB962C8B-B14F-4D97-AF65-F5344CB8AC3E}">
        <p14:creationId xmlns:p14="http://schemas.microsoft.com/office/powerpoint/2010/main" val="3022395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Alina/Vidhi</a:t>
            </a:r>
          </a:p>
        </p:txBody>
      </p:sp>
      <p:sp>
        <p:nvSpPr>
          <p:cNvPr id="4" name="Slide Number Placeholder 3"/>
          <p:cNvSpPr>
            <a:spLocks noGrp="1"/>
          </p:cNvSpPr>
          <p:nvPr>
            <p:ph type="sldNum" sz="quarter" idx="5"/>
          </p:nvPr>
        </p:nvSpPr>
        <p:spPr/>
        <p:txBody>
          <a:bodyPr/>
          <a:lstStyle/>
          <a:p>
            <a:fld id="{5B593D6D-BE97-6B47-B4F2-F19FC31E4AE0}" type="slidenum">
              <a:rPr lang="en-US" smtClean="0"/>
              <a:t>1</a:t>
            </a:fld>
            <a:endParaRPr lang="en-US"/>
          </a:p>
        </p:txBody>
      </p:sp>
    </p:spTree>
    <p:extLst>
      <p:ext uri="{BB962C8B-B14F-4D97-AF65-F5344CB8AC3E}">
        <p14:creationId xmlns:p14="http://schemas.microsoft.com/office/powerpoint/2010/main" val="82374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Alina/Vidhi</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FE47C-5ABC-D4B7-EE3A-5EF91CE71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3DD3E-FB79-1A49-BA00-1DD4054E7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EA76F-61EA-6359-3BDD-7035BC28FA30}"/>
              </a:ext>
            </a:extLst>
          </p:cNvPr>
          <p:cNvSpPr>
            <a:spLocks noGrp="1"/>
          </p:cNvSpPr>
          <p:nvPr>
            <p:ph type="body" idx="1"/>
          </p:nvPr>
        </p:nvSpPr>
        <p:spPr/>
        <p:txBody>
          <a:bodyPr/>
          <a:lstStyle/>
          <a:p>
            <a:r>
              <a:rPr lang="en-US"/>
              <a:t>Alina/Vidhi</a:t>
            </a:r>
          </a:p>
          <a:p>
            <a:endParaRPr lang="en-US"/>
          </a:p>
        </p:txBody>
      </p:sp>
      <p:sp>
        <p:nvSpPr>
          <p:cNvPr id="4" name="Slide Number Placeholder 3">
            <a:extLst>
              <a:ext uri="{FF2B5EF4-FFF2-40B4-BE49-F238E27FC236}">
                <a16:creationId xmlns:a16="http://schemas.microsoft.com/office/drawing/2014/main" id="{8C8DE60F-30FF-FB41-56BB-29E8FF59952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04785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Alina/Vidhi</a:t>
            </a:r>
          </a:p>
          <a:p>
            <a:endParaRPr lang="en-US"/>
          </a:p>
        </p:txBody>
      </p:sp>
      <p:sp>
        <p:nvSpPr>
          <p:cNvPr id="4" name="Slide Number Placeholder 3"/>
          <p:cNvSpPr>
            <a:spLocks noGrp="1"/>
          </p:cNvSpPr>
          <p:nvPr>
            <p:ph type="sldNum" sz="quarter" idx="5"/>
          </p:nvPr>
        </p:nvSpPr>
        <p:spPr/>
        <p:txBody>
          <a:bodyPr/>
          <a:lstStyle/>
          <a:p>
            <a:fld id="{5B593D6D-BE97-6B47-B4F2-F19FC31E4AE0}" type="slidenum">
              <a:rPr lang="en-US" smtClean="0"/>
              <a:t>4</a:t>
            </a:fld>
            <a:endParaRPr lang="en-US"/>
          </a:p>
        </p:txBody>
      </p:sp>
    </p:spTree>
    <p:extLst>
      <p:ext uri="{BB962C8B-B14F-4D97-AF65-F5344CB8AC3E}">
        <p14:creationId xmlns:p14="http://schemas.microsoft.com/office/powerpoint/2010/main" val="1999355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number comes from one formula: projected aid equals 2023 aid times a multiplier. A multiplier of 0.8 means 80% of the money is left. Step 1: IHME tracks who gave health aid to whom; 2023 was $27.6 billion, which we split into about 20,500 pieces, each with one donor, one receiving country and one route. Step 2: if someone has announced what happens to a piece of money, we use it: US country deals, Global Fund country allocations, Gavi pledges, UK and Australian country budgets, and exits by Sweden, Germany and the UK. Step 3: for everything else, the OECD forecast tells us each donor’s total aid budget; we subtract the announced pieces and share what’s left evenly. For Japan, the target is $1.11 billion, $0.30 billion is already announced, so its other pieces keep 88%. Gates grows 2.9% a year and private giving is held flat. Step 4: add everything up by country, donor, health area and year, in 2023 dollars. Step 5: rerun with gloomier and rosier budgets and simulate 2,000 ways donors could split their unannounced cuts, based on 61 past cut episodes. About 54% of the cut comes from step 2’s country-specific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Across 97 low- and middle-income countries, health aid falls about 25% in real terms by 2030: −17% in 2026, −22% in 2028, −25% in 2030, with a plausible range of −13% to −39%. The US accounts for most of it: its health aid falls about two-thirds, through the country deals, the end of Gavi and WHO funding, and cuts where there is no deal. Germany, France, the UK and the Netherlands cut by roughly a third, mostly through Global Fund and Gavi pledges and bilateral exits. HIV, malaria and TB lose most because US and Global Fund money is concentrated there. The biggest dollar losses are South Africa, Nigeria and Tanzania; the deepest percentage cuts are in US-reliant countries with no US deal. Non-US government donors alone fall 22% by 2030.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Assumptions are ranked by how much they could move the results. The biggest is that US deals are delivered as announced: they are non-binding, need appropriations, and let the US cut further if co-financing is missed; the delivery-rate lever (Settings B12) tests this. Philanthropy is a third of the baseline, so the Gates and private growth levers matter a lot for the non-US picture. For US aid to countries without a deal, such as Haiti, India and Namibia, we keep 25%, with no country-specific evidence. We assume health keeps its share of each donor’s budget; IHME’s 2025 estimate for the UK contradicts this, and the anchor switch shows the alternative. About a quarter of the cut is unannounced and spread evenly within each donor; history shows these can’t be predicted, so the ranges carry that uncertainty. On caveats: IHME’s preliminary 2025 numbers suggest cuts may already be deeper than our path; US maternal and child health cuts are likely understated; and 2029–2030 depend on inputs held flat after 2028.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07993-0D9E-7A1F-C379-99E92E859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EE998-AAFF-28E9-42CD-04AC6E40B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CB0BE-B110-4FFF-9459-9611410BC95C}"/>
              </a:ext>
            </a:extLst>
          </p:cNvPr>
          <p:cNvSpPr>
            <a:spLocks noGrp="1"/>
          </p:cNvSpPr>
          <p:nvPr>
            <p:ph type="body" idx="1"/>
          </p:nvPr>
        </p:nvSpPr>
        <p:spPr/>
        <p:txBody>
          <a:bodyPr/>
          <a:lstStyle/>
          <a:p>
            <a:r>
              <a:rPr lang="en-US">
                <a:latin typeface="Calibri"/>
                <a:ea typeface="Calibri"/>
                <a:cs typeface="Calibri"/>
              </a:rPr>
              <a:t>Nick/Jiya</a:t>
            </a:r>
          </a:p>
        </p:txBody>
      </p:sp>
      <p:sp>
        <p:nvSpPr>
          <p:cNvPr id="4" name="Slide Number Placeholder 3">
            <a:extLst>
              <a:ext uri="{FF2B5EF4-FFF2-40B4-BE49-F238E27FC236}">
                <a16:creationId xmlns:a16="http://schemas.microsoft.com/office/drawing/2014/main" id="{9AF84BF7-A12B-EF41-F804-9DA1CA5C1F7D}"/>
              </a:ext>
            </a:extLst>
          </p:cNvPr>
          <p:cNvSpPr>
            <a:spLocks noGrp="1"/>
          </p:cNvSpPr>
          <p:nvPr>
            <p:ph type="sldNum" sz="quarter" idx="5"/>
          </p:nvPr>
        </p:nvSpPr>
        <p:spPr/>
        <p:txBody>
          <a:bodyPr/>
          <a:lstStyle/>
          <a:p>
            <a:fld id="{5B593D6D-BE97-6B47-B4F2-F19FC31E4AE0}" type="slidenum">
              <a:rPr lang="en-US" smtClean="0"/>
              <a:t>12</a:t>
            </a:fld>
            <a:endParaRPr lang="en-US"/>
          </a:p>
        </p:txBody>
      </p:sp>
    </p:spTree>
    <p:extLst>
      <p:ext uri="{BB962C8B-B14F-4D97-AF65-F5344CB8AC3E}">
        <p14:creationId xmlns:p14="http://schemas.microsoft.com/office/powerpoint/2010/main" val="1282113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accounting identities. On the left, total health spending splits into government, aid, prepaid private and out-of-pocket money, so phi, the aid share, can be read straight off the chart: about 20 percent in Kenya in 2023. On the right, the government budget: spending equals revenue plus borrowing, and health’s share h is what the gradual budget increase option in step 3 raises toward the Abuja 15 percent target.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donor-by-channel grid the scenarios cut in step 1: every cell is one donor’s money through one channel. Filtering the Health Category to HIV shows why HIV dominates the model results: in Kenya the United States paid about three quarters of 2023 HIV aid, compared with about 40 percent of all health aid. The Program Area dropdown that appears next to it narrows this further, for example to HIV treatment only.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Break Down dropdown switches the chart from focus areas to the program areas inside one of them. For HIV, IHME reports treatment, prevention, care and support, counseling and testing, PMTCT, orphans and vulnerable children, health systems and other. These program areas are the raw material for the model’s service lines: treatment becomes ART, PMTCT stays PMTCT, prevention stays prevention, and testing and care are linked to 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1 in one line. Each cell of the aid baseline, a donor times a channel times a service line, gets a cut that combines the donor’s cut and the channel’s cut multiplicatively, so a donor that cuts 100 percent removes the cell regardless of channel. The funding path p sub t phases the cut in: 1 every year for a sudden cut, rising to 1 by 2030 for a phase-out. The left panel is the funding path the user can drag year by year; the right panels show the resulting aid at risk and where it falls, by disease and by donor and channel.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2 turns dollars into people. The first term in the minimum is the core conversion: net dollars lost divided by the full cost of serving one person for a year. The second term is the cap: you cannot lose more people than donors currently pay for, which is coverage times need times the donor share of that disease’s spending. A fixed 15 percent (range 0 to 30) keep care through another source. Dividing by the people in need gives the coverage drop shown in the bar chart. The form shown is simplified: in the code the cap scales the loss proportionally rather than taking a strict minimum; the Methods page has the full rule.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3 caps what the government can realistically replace. Fiscal space is grounded in the country’s own history: the gap between a strong year and a typical year of real growth in government health spending, applied to 2023 spending. Debt stress shrinks it once interest takes more than 10 percent of revenue, never below a quarter. Replacement is the lower of what the government chooses to replace and that capacity; what is left, N, is what step 2 converts into people. The gradual budget increase option replaces this rule with a set number of budget-share points per year, capped at the Abuja 15 percent target. In Kenya the gap is about 278 million dollars a year against roughly 21 million of fiscal space.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4 multiplies people losing each service by a service-specific death rate that depends on how long ago they lost it. For HIV treatment the excess death rate climbs from 1.3 percent in the first year to 6 percent in the fifth, from an Optima-calibrated CD4 cohort, times an uncertainty multiplier. For TB it is the gap in case fatality between untreated and treated patients, weighted by HIV status. Malaria uses the Lives Saved Tool form, where deaths scale with the loss in vector control and case management coverage. Vaccines, PMTCT and HIV transmission follow similar per-person rules, listed on the Methods page. Every parameter is drawn 400 times, which gives the ranges shown in the panels.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Nick/Jiya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B593D6D-BE97-6B47-B4F2-F19FC31E4AE0}" type="slidenum">
              <a:rPr lang="en-US" smtClean="0"/>
              <a:t>20</a:t>
            </a:fld>
            <a:endParaRPr lang="en-US"/>
          </a:p>
        </p:txBody>
      </p:sp>
    </p:spTree>
    <p:extLst>
      <p:ext uri="{BB962C8B-B14F-4D97-AF65-F5344CB8AC3E}">
        <p14:creationId xmlns:p14="http://schemas.microsoft.com/office/powerpoint/2010/main" val="1348512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2385F-8223-3A24-7B17-8260CAA71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604C6-2BEC-FBFA-E32A-2CBA140D2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44D640-4DB3-E19C-9BF7-D439EF328931}"/>
              </a:ext>
            </a:extLst>
          </p:cNvPr>
          <p:cNvSpPr>
            <a:spLocks noGrp="1"/>
          </p:cNvSpPr>
          <p:nvPr>
            <p:ph type="body" idx="1"/>
          </p:nvPr>
        </p:nvSpPr>
        <p:spPr/>
        <p:txBody>
          <a:bodyPr/>
          <a:lstStyle/>
          <a:p>
            <a:r>
              <a:rPr lang="en-US"/>
              <a:t>Nick/Jiya</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F4BEF636-319A-F288-B9D2-D70923336C2A}"/>
              </a:ext>
            </a:extLst>
          </p:cNvPr>
          <p:cNvSpPr>
            <a:spLocks noGrp="1"/>
          </p:cNvSpPr>
          <p:nvPr>
            <p:ph type="sldNum" sz="quarter" idx="5"/>
          </p:nvPr>
        </p:nvSpPr>
        <p:spPr/>
        <p:txBody>
          <a:bodyPr/>
          <a:lstStyle/>
          <a:p>
            <a:fld id="{5B593D6D-BE97-6B47-B4F2-F19FC31E4AE0}" type="slidenum">
              <a:rPr lang="en-US" smtClean="0"/>
              <a:t>21</a:t>
            </a:fld>
            <a:endParaRPr lang="en-US"/>
          </a:p>
        </p:txBody>
      </p:sp>
    </p:spTree>
    <p:extLst>
      <p:ext uri="{BB962C8B-B14F-4D97-AF65-F5344CB8AC3E}">
        <p14:creationId xmlns:p14="http://schemas.microsoft.com/office/powerpoint/2010/main" val="3235874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7EAF-1C0E-F764-9066-E6C23BB10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4C9D2-1AFC-BE93-C9DD-AE86EC9A6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19B16-6C5B-6E37-1608-93315B1C4CD4}"/>
              </a:ext>
            </a:extLst>
          </p:cNvPr>
          <p:cNvSpPr>
            <a:spLocks noGrp="1"/>
          </p:cNvSpPr>
          <p:nvPr>
            <p:ph type="body" idx="1"/>
          </p:nvPr>
        </p:nvSpPr>
        <p:spPr/>
        <p:txBody>
          <a:bodyPr/>
          <a:lstStyle/>
          <a:p>
            <a:r>
              <a:rPr lang="en-US"/>
              <a:t>Ting – External debt service doesn’t explain variance in cuts in any structural way, which shows us that cuts did not account for countries’ fiscal capacity at least on the debt side.</a:t>
            </a:r>
          </a:p>
        </p:txBody>
      </p:sp>
      <p:sp>
        <p:nvSpPr>
          <p:cNvPr id="4" name="Slide Number Placeholder 3">
            <a:extLst>
              <a:ext uri="{FF2B5EF4-FFF2-40B4-BE49-F238E27FC236}">
                <a16:creationId xmlns:a16="http://schemas.microsoft.com/office/drawing/2014/main" id="{BA98F17A-FB45-B0FA-CDB1-0737D765CF91}"/>
              </a:ext>
            </a:extLst>
          </p:cNvPr>
          <p:cNvSpPr>
            <a:spLocks noGrp="1"/>
          </p:cNvSpPr>
          <p:nvPr>
            <p:ph type="sldNum" sz="quarter" idx="5"/>
          </p:nvPr>
        </p:nvSpPr>
        <p:spPr/>
        <p:txBody>
          <a:bodyPr/>
          <a:lstStyle/>
          <a:p>
            <a:fld id="{5B593D6D-BE97-6B47-B4F2-F19FC31E4AE0}" type="slidenum">
              <a:rPr lang="en-US" smtClean="0"/>
              <a:t>24</a:t>
            </a:fld>
            <a:endParaRPr lang="en-US"/>
          </a:p>
        </p:txBody>
      </p:sp>
    </p:spTree>
    <p:extLst>
      <p:ext uri="{BB962C8B-B14F-4D97-AF65-F5344CB8AC3E}">
        <p14:creationId xmlns:p14="http://schemas.microsoft.com/office/powerpoint/2010/main" val="2621698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Kaley</a:t>
            </a:r>
          </a:p>
        </p:txBody>
      </p:sp>
      <p:sp>
        <p:nvSpPr>
          <p:cNvPr id="4" name="Slide Number Placeholder 3"/>
          <p:cNvSpPr>
            <a:spLocks noGrp="1"/>
          </p:cNvSpPr>
          <p:nvPr>
            <p:ph type="sldNum" sz="quarter" idx="5"/>
          </p:nvPr>
        </p:nvSpPr>
        <p:spPr/>
        <p:txBody>
          <a:bodyPr/>
          <a:lstStyle/>
          <a:p>
            <a:fld id="{5B593D6D-BE97-6B47-B4F2-F19FC31E4AE0}" type="slidenum">
              <a:rPr lang="en-US" smtClean="0"/>
              <a:t>25</a:t>
            </a:fld>
            <a:endParaRPr lang="en-US"/>
          </a:p>
        </p:txBody>
      </p:sp>
    </p:spTree>
    <p:extLst>
      <p:ext uri="{BB962C8B-B14F-4D97-AF65-F5344CB8AC3E}">
        <p14:creationId xmlns:p14="http://schemas.microsoft.com/office/powerpoint/2010/main" val="2570203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6D8AF-F3D3-DEA5-2D91-AED50BEE77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6BB33-6027-D3B3-D003-25E78833E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D68D1C-4A70-7891-F0FA-07CD501B3DFA}"/>
              </a:ext>
            </a:extLst>
          </p:cNvPr>
          <p:cNvSpPr>
            <a:spLocks noGrp="1"/>
          </p:cNvSpPr>
          <p:nvPr>
            <p:ph type="body" idx="1"/>
          </p:nvPr>
        </p:nvSpPr>
        <p:spPr/>
        <p:txBody>
          <a:bodyPr/>
          <a:lstStyle/>
          <a:p>
            <a:r>
              <a:rPr lang="en-US"/>
              <a:t>Kaley</a:t>
            </a:r>
          </a:p>
        </p:txBody>
      </p:sp>
      <p:sp>
        <p:nvSpPr>
          <p:cNvPr id="4" name="Slide Number Placeholder 3">
            <a:extLst>
              <a:ext uri="{FF2B5EF4-FFF2-40B4-BE49-F238E27FC236}">
                <a16:creationId xmlns:a16="http://schemas.microsoft.com/office/drawing/2014/main" id="{0BF4E24E-F6A5-A470-0673-43676DA0687C}"/>
              </a:ext>
            </a:extLst>
          </p:cNvPr>
          <p:cNvSpPr>
            <a:spLocks noGrp="1"/>
          </p:cNvSpPr>
          <p:nvPr>
            <p:ph type="sldNum" sz="quarter" idx="5"/>
          </p:nvPr>
        </p:nvSpPr>
        <p:spPr/>
        <p:txBody>
          <a:bodyPr/>
          <a:lstStyle/>
          <a:p>
            <a:fld id="{5B593D6D-BE97-6B47-B4F2-F19FC31E4AE0}" type="slidenum">
              <a:rPr lang="en-US" smtClean="0"/>
              <a:t>26</a:t>
            </a:fld>
            <a:endParaRPr lang="en-US"/>
          </a:p>
        </p:txBody>
      </p:sp>
    </p:spTree>
    <p:extLst>
      <p:ext uri="{BB962C8B-B14F-4D97-AF65-F5344CB8AC3E}">
        <p14:creationId xmlns:p14="http://schemas.microsoft.com/office/powerpoint/2010/main" val="22520645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Kaley</a:t>
            </a:r>
          </a:p>
        </p:txBody>
      </p:sp>
      <p:sp>
        <p:nvSpPr>
          <p:cNvPr id="4" name="Slide Number Placeholder 3"/>
          <p:cNvSpPr>
            <a:spLocks noGrp="1"/>
          </p:cNvSpPr>
          <p:nvPr>
            <p:ph type="sldNum" sz="quarter" idx="5"/>
          </p:nvPr>
        </p:nvSpPr>
        <p:spPr/>
        <p:txBody>
          <a:bodyPr/>
          <a:lstStyle/>
          <a:p>
            <a:fld id="{5B593D6D-BE97-6B47-B4F2-F19FC31E4AE0}" type="slidenum">
              <a:rPr lang="en-US" smtClean="0"/>
              <a:t>27</a:t>
            </a:fld>
            <a:endParaRPr lang="en-US"/>
          </a:p>
        </p:txBody>
      </p:sp>
    </p:spTree>
    <p:extLst>
      <p:ext uri="{BB962C8B-B14F-4D97-AF65-F5344CB8AC3E}">
        <p14:creationId xmlns:p14="http://schemas.microsoft.com/office/powerpoint/2010/main" val="253852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Ting</a:t>
            </a:r>
          </a:p>
          <a:p>
            <a:r>
              <a:rPr lang="en-US">
                <a:latin typeface="Calibri"/>
                <a:ea typeface="Calibri"/>
                <a:cs typeface="Calibri"/>
              </a:rPr>
              <a:t>There’s a double-sided sword where as the world bank has pointed out it’s tough to raise new tax revenue in a lot of these countries where the informal work sector is large and also a small percentage of spending is going to health, and also there are constraints on reallocation from certain expenditure budgets.</a:t>
            </a:r>
          </a:p>
        </p:txBody>
      </p:sp>
      <p:sp>
        <p:nvSpPr>
          <p:cNvPr id="4" name="Slide Number Placeholder 3"/>
          <p:cNvSpPr>
            <a:spLocks noGrp="1"/>
          </p:cNvSpPr>
          <p:nvPr>
            <p:ph type="sldNum" sz="quarter" idx="5"/>
          </p:nvPr>
        </p:nvSpPr>
        <p:spPr/>
        <p:txBody>
          <a:bodyPr/>
          <a:lstStyle/>
          <a:p>
            <a:fld id="{5B593D6D-BE97-6B47-B4F2-F19FC31E4AE0}" type="slidenum">
              <a:rPr lang="en-US" smtClean="0"/>
              <a:t>28</a:t>
            </a:fld>
            <a:endParaRPr lang="en-US"/>
          </a:p>
        </p:txBody>
      </p:sp>
    </p:spTree>
    <p:extLst>
      <p:ext uri="{BB962C8B-B14F-4D97-AF65-F5344CB8AC3E}">
        <p14:creationId xmlns:p14="http://schemas.microsoft.com/office/powerpoint/2010/main" val="407513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Ishnan</a:t>
            </a:r>
            <a:r>
              <a:rPr lang="en-US">
                <a:latin typeface="Calibri"/>
                <a:ea typeface="Calibri"/>
                <a:cs typeface="Calibri"/>
              </a:rPr>
              <a:t>/Victor</a:t>
            </a:r>
          </a:p>
        </p:txBody>
      </p:sp>
      <p:sp>
        <p:nvSpPr>
          <p:cNvPr id="4" name="Slide Number Placeholder 3"/>
          <p:cNvSpPr>
            <a:spLocks noGrp="1"/>
          </p:cNvSpPr>
          <p:nvPr>
            <p:ph type="sldNum" sz="quarter" idx="5"/>
          </p:nvPr>
        </p:nvSpPr>
        <p:spPr/>
        <p:txBody>
          <a:bodyPr/>
          <a:lstStyle/>
          <a:p>
            <a:fld id="{5B593D6D-BE97-6B47-B4F2-F19FC31E4AE0}" type="slidenum">
              <a:rPr lang="en-US" smtClean="0"/>
              <a:t>31</a:t>
            </a:fld>
            <a:endParaRPr lang="en-US"/>
          </a:p>
        </p:txBody>
      </p:sp>
    </p:spTree>
    <p:extLst>
      <p:ext uri="{BB962C8B-B14F-4D97-AF65-F5344CB8AC3E}">
        <p14:creationId xmlns:p14="http://schemas.microsoft.com/office/powerpoint/2010/main" val="530370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Ishnan/Victor</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B593D6D-BE97-6B47-B4F2-F19FC31E4AE0}" type="slidenum">
              <a:rPr lang="en-US" smtClean="0"/>
              <a:t>32</a:t>
            </a:fld>
            <a:endParaRPr lang="en-US"/>
          </a:p>
        </p:txBody>
      </p:sp>
    </p:spTree>
    <p:extLst>
      <p:ext uri="{BB962C8B-B14F-4D97-AF65-F5344CB8AC3E}">
        <p14:creationId xmlns:p14="http://schemas.microsoft.com/office/powerpoint/2010/main" val="2254595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Ishnan</a:t>
            </a:r>
            <a:r>
              <a:rPr lang="en-US"/>
              <a:t>/Victor</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B593D6D-BE97-6B47-B4F2-F19FC31E4AE0}" type="slidenum">
              <a:rPr lang="en-US" smtClean="0"/>
              <a:t>33</a:t>
            </a:fld>
            <a:endParaRPr lang="en-US"/>
          </a:p>
        </p:txBody>
      </p:sp>
    </p:spTree>
    <p:extLst>
      <p:ext uri="{BB962C8B-B14F-4D97-AF65-F5344CB8AC3E}">
        <p14:creationId xmlns:p14="http://schemas.microsoft.com/office/powerpoint/2010/main" val="11322998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Ishnan</a:t>
            </a:r>
            <a:r>
              <a:rPr lang="en-US"/>
              <a:t>/Victor</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B593D6D-BE97-6B47-B4F2-F19FC31E4AE0}" type="slidenum">
              <a:rPr lang="en-US" smtClean="0"/>
              <a:t>34</a:t>
            </a:fld>
            <a:endParaRPr lang="en-US"/>
          </a:p>
        </p:txBody>
      </p:sp>
    </p:spTree>
    <p:extLst>
      <p:ext uri="{BB962C8B-B14F-4D97-AF65-F5344CB8AC3E}">
        <p14:creationId xmlns:p14="http://schemas.microsoft.com/office/powerpoint/2010/main" val="4486157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Kaley</a:t>
            </a:r>
          </a:p>
        </p:txBody>
      </p:sp>
      <p:sp>
        <p:nvSpPr>
          <p:cNvPr id="4" name="Slide Number Placeholder 3"/>
          <p:cNvSpPr>
            <a:spLocks noGrp="1"/>
          </p:cNvSpPr>
          <p:nvPr>
            <p:ph type="sldNum" sz="quarter" idx="5"/>
          </p:nvPr>
        </p:nvSpPr>
        <p:spPr/>
        <p:txBody>
          <a:bodyPr/>
          <a:lstStyle/>
          <a:p>
            <a:fld id="{5B593D6D-BE97-6B47-B4F2-F19FC31E4AE0}" type="slidenum">
              <a:rPr lang="en-US" smtClean="0"/>
              <a:t>37</a:t>
            </a:fld>
            <a:endParaRPr lang="en-US"/>
          </a:p>
        </p:txBody>
      </p:sp>
    </p:spTree>
    <p:extLst>
      <p:ext uri="{BB962C8B-B14F-4D97-AF65-F5344CB8AC3E}">
        <p14:creationId xmlns:p14="http://schemas.microsoft.com/office/powerpoint/2010/main" val="932155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Kaley</a:t>
            </a:r>
          </a:p>
        </p:txBody>
      </p:sp>
      <p:sp>
        <p:nvSpPr>
          <p:cNvPr id="4" name="Slide Number Placeholder 3"/>
          <p:cNvSpPr>
            <a:spLocks noGrp="1"/>
          </p:cNvSpPr>
          <p:nvPr>
            <p:ph type="sldNum" sz="quarter" idx="5"/>
          </p:nvPr>
        </p:nvSpPr>
        <p:spPr/>
        <p:txBody>
          <a:bodyPr/>
          <a:lstStyle/>
          <a:p>
            <a:fld id="{5B593D6D-BE97-6B47-B4F2-F19FC31E4AE0}" type="slidenum">
              <a:rPr lang="en-US" smtClean="0"/>
              <a:t>38</a:t>
            </a:fld>
            <a:endParaRPr lang="en-US"/>
          </a:p>
        </p:txBody>
      </p:sp>
    </p:spTree>
    <p:extLst>
      <p:ext uri="{BB962C8B-B14F-4D97-AF65-F5344CB8AC3E}">
        <p14:creationId xmlns:p14="http://schemas.microsoft.com/office/powerpoint/2010/main" val="1041430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Nick/Jiya</a:t>
            </a:r>
          </a:p>
        </p:txBody>
      </p:sp>
      <p:sp>
        <p:nvSpPr>
          <p:cNvPr id="4" name="Slide Number Placeholder 3"/>
          <p:cNvSpPr>
            <a:spLocks noGrp="1"/>
          </p:cNvSpPr>
          <p:nvPr>
            <p:ph type="sldNum" sz="quarter" idx="5"/>
          </p:nvPr>
        </p:nvSpPr>
        <p:spPr/>
        <p:txBody>
          <a:bodyPr/>
          <a:lstStyle/>
          <a:p>
            <a:fld id="{5B593D6D-BE97-6B47-B4F2-F19FC31E4AE0}" type="slidenum">
              <a:rPr lang="en-US" smtClean="0"/>
              <a:t>40</a:t>
            </a:fld>
            <a:endParaRPr lang="en-US"/>
          </a:p>
        </p:txBody>
      </p:sp>
    </p:spTree>
    <p:extLst>
      <p:ext uri="{BB962C8B-B14F-4D97-AF65-F5344CB8AC3E}">
        <p14:creationId xmlns:p14="http://schemas.microsoft.com/office/powerpoint/2010/main" val="2736178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Nick/Jiya</a:t>
            </a:r>
          </a:p>
        </p:txBody>
      </p:sp>
      <p:sp>
        <p:nvSpPr>
          <p:cNvPr id="4" name="Slide Number Placeholder 3"/>
          <p:cNvSpPr>
            <a:spLocks noGrp="1"/>
          </p:cNvSpPr>
          <p:nvPr>
            <p:ph type="sldNum" sz="quarter" idx="5"/>
          </p:nvPr>
        </p:nvSpPr>
        <p:spPr/>
        <p:txBody>
          <a:bodyPr/>
          <a:lstStyle/>
          <a:p>
            <a:fld id="{5B593D6D-BE97-6B47-B4F2-F19FC31E4AE0}" type="slidenum">
              <a:rPr lang="en-US" smtClean="0"/>
              <a:t>41</a:t>
            </a:fld>
            <a:endParaRPr lang="en-US"/>
          </a:p>
        </p:txBody>
      </p:sp>
    </p:spTree>
    <p:extLst>
      <p:ext uri="{BB962C8B-B14F-4D97-AF65-F5344CB8AC3E}">
        <p14:creationId xmlns:p14="http://schemas.microsoft.com/office/powerpoint/2010/main" val="3164318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dropdown for the other three diseases the model covers. Malaria aid splits into bednets, indoor spraying, treatment and other; TB into treatment and drug resistance; newborn and child health includes vaccines, nutrition and health systems. A large share of aid in every disease is labeled other or health systems. The model does not drop it: it splits that unlabeled money across treatment, prevention, testing and systems using the shares in the Global Fund’s own grant budgets, so every service line carries its fair share of the loss.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400">
                <a:latin typeface="Georgia" panose="02040502050405020303" pitchFamily="18" charset="0"/>
              </a:defRPr>
            </a:lvl1pPr>
          </a:lstStyle>
          <a:p>
            <a:fld id="{330EA680-D336-4FF7-8B7A-9848BB0A1C32}" type="slidenum">
              <a:rPr lang="en-US" smtClean="0"/>
              <a:pPr/>
              <a:t>‹#›</a:t>
            </a:fld>
            <a:endParaRPr lang="en-US" sz="1400"/>
          </a:p>
        </p:txBody>
      </p:sp>
    </p:spTree>
    <p:extLst>
      <p:ext uri="{BB962C8B-B14F-4D97-AF65-F5344CB8AC3E}">
        <p14:creationId xmlns:p14="http://schemas.microsoft.com/office/powerpoint/2010/main" val="238538789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200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extLst>
      <p:ext uri="{BB962C8B-B14F-4D97-AF65-F5344CB8AC3E}">
        <p14:creationId xmlns:p14="http://schemas.microsoft.com/office/powerpoint/2010/main" val="3772444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n-US" sz="1400" kern="1200" smtClean="0">
                <a:solidFill>
                  <a:schemeClr val="tx1">
                    <a:tint val="82000"/>
                  </a:schemeClr>
                </a:solidFill>
                <a:latin typeface="Georgia" panose="02040502050405020303" pitchFamily="18" charset="0"/>
                <a:ea typeface="+mn-ea"/>
                <a:cs typeface="+mn-cs"/>
              </a:defRPr>
            </a:lvl1pPr>
          </a:lstStyle>
          <a:p>
            <a:fld id="{330EA680-D336-4FF7-8B7A-9848BB0A1C32}" type="slidenum">
              <a:rPr lang="en-US" smtClean="0"/>
              <a:pPr/>
              <a:t>‹#›</a:t>
            </a:fld>
            <a:endParaRPr lang="en-US" sz="1400" kern="1200">
              <a:solidFill>
                <a:schemeClr val="tx1">
                  <a:tint val="82000"/>
                </a:schemeClr>
              </a:solidFill>
              <a:latin typeface="Georgia" panose="02040502050405020303" pitchFamily="18" charset="0"/>
              <a:ea typeface="+mn-ea"/>
              <a:cs typeface="+mn-cs"/>
            </a:endParaRP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Raleway"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aleway"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aleway"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aleway"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microsoft.com/office/2018/10/relationships/comments" Target="../comments/modernComment_12A_2B443F0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44_24F431D0.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2B_BB3486CD.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0.png"/><Relationship Id="rId7"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4.png"/><Relationship Id="rId7"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4.png"/><Relationship Id="rId4" Type="http://schemas.openxmlformats.org/officeDocument/2006/relationships/image" Target="../media/image19.png"/><Relationship Id="rId9" Type="http://schemas.openxmlformats.org/officeDocument/2006/relationships/image" Target="../media/image3.jpeg"/></Relationships>
</file>

<file path=ppt/slides/_rels/slide1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4.png"/><Relationship Id="rId7"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8.png"/><Relationship Id="rId7"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3.jpeg"/><Relationship Id="rId3" Type="http://schemas.microsoft.com/office/2018/10/relationships/comments" Target="../comments/modernComment_133_F225B5AE.xml"/><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capstonenick-cqqwspxohi22ybxsn6ph6m.streamlit.app/" TargetMode="External"/><Relationship Id="rId5" Type="http://schemas.openxmlformats.org/officeDocument/2006/relationships/hyperlink" Target="https://YOUR-DASHBOARD-LINK" TargetMode="Externa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37_F92B0BAF.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pn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3E_D0C2DEF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4.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microsoft.com/office/2018/10/relationships/comments" Target="../comments/modernComment_10B_3962905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4.png"/><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microsoft.com/office/2018/10/relationships/comments" Target="../comments/modernComment_139_F5C8B197.xml"/><Relationship Id="rId7"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png"/><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113_7D1A2AEB.xm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10D_4FABBFBB.xml"/><Relationship Id="rId7"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png"/><Relationship Id="rId4"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microsoft.com/office/2018/10/relationships/comments" Target="../comments/modernComment_11D_A3552C67.xml"/><Relationship Id="rId7"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png"/><Relationship Id="rId4" Type="http://schemas.openxmlformats.org/officeDocument/2006/relationships/image" Target="../media/image3.jpeg"/></Relationships>
</file>

<file path=ppt/slides/_rels/slide33.xml.rels><?xml version="1.0" encoding="UTF-8" standalone="yes"?>
<Relationships xmlns="http://schemas.openxmlformats.org/package/2006/relationships"><Relationship Id="rId3" Type="http://schemas.microsoft.com/office/2018/10/relationships/comments" Target="../comments/modernComment_11B_3C426000.xml"/><Relationship Id="rId7" Type="http://schemas.openxmlformats.org/officeDocument/2006/relationships/image" Target="../media/image49.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png"/><Relationship Id="rId4"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microsoft.com/office/2018/10/relationships/comments" Target="../comments/modernComment_11C_3A89FE66.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png"/><Relationship Id="rId4" Type="http://schemas.openxmlformats.org/officeDocument/2006/relationships/image" Target="../media/image3.jpe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microsoft.com/office/2018/10/relationships/comments" Target="../comments/modernComment_104_4F0A650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microsoft.com/office/2018/10/relationships/comments" Target="../comments/modernComment_107_CFF08269.xm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5000">
              <a:srgbClr val="1F3B82">
                <a:lumMod val="100000"/>
              </a:srgbClr>
            </a:gs>
            <a:gs pos="54000">
              <a:srgbClr val="2F52A4"/>
            </a:gs>
            <a:gs pos="85000">
              <a:srgbClr val="0E245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5B73B78-B036-2F79-C380-5F34C99C4C11}"/>
              </a:ext>
            </a:extLst>
          </p:cNvPr>
          <p:cNvSpPr txBox="1">
            <a:spLocks/>
          </p:cNvSpPr>
          <p:nvPr/>
        </p:nvSpPr>
        <p:spPr>
          <a:xfrm>
            <a:off x="1329098" y="4141432"/>
            <a:ext cx="3579873" cy="1049021"/>
          </a:xfrm>
          <a:prstGeom prst="rect">
            <a:avLst/>
          </a:prstGeom>
          <a:noFill/>
          <a:ln w="28575">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Raleway" pitchFamily="2" charset="77"/>
                <a:ea typeface="+mj-ea"/>
                <a:cs typeface="+mj-cs"/>
              </a:defRPr>
            </a:lvl1pPr>
          </a:lstStyle>
          <a:p>
            <a:pPr algn="l">
              <a:lnSpc>
                <a:spcPct val="150000"/>
              </a:lnSpc>
            </a:pPr>
            <a:r>
              <a:rPr lang="en-US" sz="1800">
                <a:solidFill>
                  <a:schemeClr val="bg1"/>
                </a:solidFill>
                <a:latin typeface="Arial Nova"/>
              </a:rPr>
              <a:t>Midpoint Check-In</a:t>
            </a:r>
            <a:endParaRPr lang="en-US"/>
          </a:p>
          <a:p>
            <a:pPr algn="l">
              <a:lnSpc>
                <a:spcPct val="150000"/>
              </a:lnSpc>
            </a:pPr>
            <a:r>
              <a:rPr lang="en-US" sz="1800">
                <a:solidFill>
                  <a:schemeClr val="bg1"/>
                </a:solidFill>
                <a:latin typeface="Arial Nova"/>
              </a:rPr>
              <a:t>October 2026</a:t>
            </a:r>
          </a:p>
        </p:txBody>
      </p:sp>
      <p:sp>
        <p:nvSpPr>
          <p:cNvPr id="2" name="Title 1"/>
          <p:cNvSpPr>
            <a:spLocks noGrp="1"/>
          </p:cNvSpPr>
          <p:nvPr>
            <p:ph type="ctrTitle"/>
          </p:nvPr>
        </p:nvSpPr>
        <p:spPr>
          <a:xfrm>
            <a:off x="1329014" y="2079467"/>
            <a:ext cx="9444908" cy="2061965"/>
          </a:xfrm>
          <a:noFill/>
          <a:ln w="28575">
            <a:noFill/>
          </a:ln>
        </p:spPr>
        <p:txBody>
          <a:bodyPr vert="horz" lIns="91440" tIns="45720" rIns="91440" bIns="45720" rtlCol="0" anchor="b">
            <a:noAutofit/>
          </a:bodyPr>
          <a:lstStyle/>
          <a:p>
            <a:pPr algn="l"/>
            <a:r>
              <a:rPr lang="en-US" sz="4400">
                <a:solidFill>
                  <a:schemeClr val="bg1"/>
                </a:solidFill>
                <a:latin typeface="Franklin Gothic"/>
                <a:ea typeface="+mj-lt"/>
                <a:cs typeface="+mj-lt"/>
              </a:rPr>
              <a:t>Adapting to Withdrawal</a:t>
            </a:r>
          </a:p>
          <a:p>
            <a:pPr algn="l"/>
            <a:r>
              <a:rPr lang="en-US" sz="4400">
                <a:solidFill>
                  <a:schemeClr val="bg1"/>
                </a:solidFill>
                <a:latin typeface="Franklin Gothic"/>
                <a:ea typeface="+mj-lt"/>
                <a:cs typeface="+mj-lt"/>
              </a:rPr>
              <a:t>from Development Assistance </a:t>
            </a:r>
          </a:p>
          <a:p>
            <a:pPr algn="l"/>
            <a:r>
              <a:rPr lang="en-US" sz="4400">
                <a:solidFill>
                  <a:schemeClr val="bg1"/>
                </a:solidFill>
                <a:latin typeface="Franklin Gothic"/>
                <a:ea typeface="+mj-lt"/>
                <a:cs typeface="+mj-lt"/>
              </a:rPr>
              <a:t>for Global Health </a:t>
            </a:r>
          </a:p>
        </p:txBody>
      </p:sp>
      <p:pic>
        <p:nvPicPr>
          <p:cNvPr id="14" name="Picture 13" descr="A black and white sign with white text&#10;&#10;AI-generated content may be incorrect.">
            <a:extLst>
              <a:ext uri="{FF2B5EF4-FFF2-40B4-BE49-F238E27FC236}">
                <a16:creationId xmlns:a16="http://schemas.microsoft.com/office/drawing/2014/main" id="{D3651D0E-2731-9D76-ED69-B02DC22DA40D}"/>
              </a:ext>
            </a:extLst>
          </p:cNvPr>
          <p:cNvPicPr>
            <a:picLocks noChangeAspect="1"/>
          </p:cNvPicPr>
          <p:nvPr/>
        </p:nvPicPr>
        <p:blipFill>
          <a:blip r:embed="rId3"/>
          <a:stretch>
            <a:fillRect/>
          </a:stretch>
        </p:blipFill>
        <p:spPr>
          <a:xfrm>
            <a:off x="250338" y="326462"/>
            <a:ext cx="2873645" cy="459466"/>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_navy_dark.png"/>
          <p:cNvPicPr>
            <a:picLocks noChangeAspect="1"/>
          </p:cNvPicPr>
          <p:nvPr/>
        </p:nvPicPr>
        <p:blipFill>
          <a:blip r:embed="rId3"/>
          <a:srcRect/>
          <a:stretch/>
        </p:blipFill>
        <p:spPr>
          <a:xfrm>
            <a:off x="-69333" y="-131537"/>
            <a:ext cx="4306253" cy="7121074"/>
          </a:xfrm>
          <a:prstGeom prst="rect">
            <a:avLst/>
          </a:prstGeom>
        </p:spPr>
      </p:pic>
      <p:sp>
        <p:nvSpPr>
          <p:cNvPr id="3" name="Text 0"/>
          <p:cNvSpPr txBox="1"/>
          <p:nvPr/>
        </p:nvSpPr>
        <p:spPr>
          <a:xfrm>
            <a:off x="548640" y="2468880"/>
            <a:ext cx="3291840" cy="914400"/>
          </a:xfrm>
          <a:prstGeom prst="rect">
            <a:avLst/>
          </a:prstGeom>
          <a:noFill/>
          <a:ln/>
        </p:spPr>
        <p:txBody>
          <a:bodyPr wrap="square" lIns="0" tIns="0" rIns="0" bIns="0" rtlCol="0" anchor="ctr"/>
          <a:lstStyle/>
          <a:p>
            <a:pPr marL="0" indent="0">
              <a:buNone/>
            </a:pPr>
            <a:r>
              <a:rPr lang="en-US" sz="4000">
                <a:solidFill>
                  <a:srgbClr val="FFFFFF"/>
                </a:solidFill>
                <a:latin typeface="Franklin Gothic Medium" pitchFamily="34" charset="0"/>
                <a:ea typeface="Franklin Gothic Medium" pitchFamily="34" charset="-122"/>
                <a:cs typeface="Franklin Gothic Medium" pitchFamily="34" charset="-120"/>
              </a:rPr>
              <a:t>Agenda</a:t>
            </a:r>
            <a:endParaRPr lang="en-US" sz="4000"/>
          </a:p>
        </p:txBody>
      </p:sp>
      <p:sp>
        <p:nvSpPr>
          <p:cNvPr id="4" name="Text 1"/>
          <p:cNvSpPr txBox="1"/>
          <p:nvPr/>
        </p:nvSpPr>
        <p:spPr>
          <a:xfrm>
            <a:off x="548640" y="3383280"/>
            <a:ext cx="3291840" cy="457200"/>
          </a:xfrm>
          <a:prstGeom prst="rect">
            <a:avLst/>
          </a:prstGeom>
          <a:noFill/>
          <a:ln/>
        </p:spPr>
        <p:txBody>
          <a:bodyPr wrap="square" lIns="0" tIns="0" rIns="0" bIns="0" rtlCol="0" anchor="ctr"/>
          <a:lstStyle/>
          <a:p>
            <a:pPr marL="0" indent="0">
              <a:buNone/>
            </a:pPr>
            <a:r>
              <a:rPr lang="en-US" sz="1800">
                <a:solidFill>
                  <a:srgbClr val="8FA9D6"/>
                </a:solidFill>
                <a:latin typeface="Arial" pitchFamily="34" charset="0"/>
                <a:ea typeface="Arial" pitchFamily="34" charset="-122"/>
                <a:cs typeface="Arial" pitchFamily="34" charset="-120"/>
              </a:rPr>
              <a:t>90 minutes</a:t>
            </a:r>
            <a:endParaRPr lang="en-US" sz="1800"/>
          </a:p>
        </p:txBody>
      </p:sp>
      <p:sp>
        <p:nvSpPr>
          <p:cNvPr id="5" name="Text 2"/>
          <p:cNvSpPr txBox="1"/>
          <p:nvPr/>
        </p:nvSpPr>
        <p:spPr>
          <a:xfrm>
            <a:off x="4746221" y="1431521"/>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02</a:t>
            </a:r>
            <a:endParaRPr lang="en-US" sz="3000"/>
          </a:p>
        </p:txBody>
      </p:sp>
      <p:sp>
        <p:nvSpPr>
          <p:cNvPr id="6" name="Text 3"/>
          <p:cNvSpPr txBox="1"/>
          <p:nvPr/>
        </p:nvSpPr>
        <p:spPr>
          <a:xfrm>
            <a:off x="5760720" y="1474817"/>
            <a:ext cx="4572000" cy="822960"/>
          </a:xfrm>
          <a:prstGeom prst="rect">
            <a:avLst/>
          </a:prstGeom>
          <a:noFill/>
          <a:ln/>
        </p:spPr>
        <p:txBody>
          <a:bodyPr wrap="square" lIns="0" tIns="0" rIns="0" bIns="0" rtlCol="0" anchor="ctr"/>
          <a:lstStyle/>
          <a:p>
            <a:r>
              <a:rPr lang="en-US" sz="2400">
                <a:solidFill>
                  <a:srgbClr val="14245C"/>
                </a:solidFill>
                <a:latin typeface="Arial"/>
                <a:cs typeface="Arial"/>
              </a:rPr>
              <a:t>OECD Aid Cut Projections</a:t>
            </a:r>
            <a:endParaRPr lang="en-US"/>
          </a:p>
        </p:txBody>
      </p:sp>
      <p:sp>
        <p:nvSpPr>
          <p:cNvPr id="7" name="Text 4"/>
          <p:cNvSpPr txBox="1"/>
          <p:nvPr/>
        </p:nvSpPr>
        <p:spPr>
          <a:xfrm>
            <a:off x="10058400" y="1474816"/>
            <a:ext cx="1645920" cy="822960"/>
          </a:xfrm>
          <a:prstGeom prst="rect">
            <a:avLst/>
          </a:prstGeom>
          <a:noFill/>
          <a:ln/>
        </p:spPr>
        <p:txBody>
          <a:bodyPr wrap="square" lIns="0" tIns="0" rIns="0" bIns="0" rtlCol="0" anchor="ctr"/>
          <a:lstStyle/>
          <a:p>
            <a:pPr marL="0" indent="0" algn="r">
              <a:buNone/>
            </a:pPr>
            <a:r>
              <a:rPr lang="en-US">
                <a:solidFill>
                  <a:srgbClr val="6B7280"/>
                </a:solidFill>
                <a:latin typeface="Arial"/>
                <a:ea typeface="Arial" pitchFamily="34" charset="-122"/>
                <a:cs typeface="Arial"/>
              </a:rPr>
              <a:t>10</a:t>
            </a:r>
            <a:r>
              <a:rPr lang="en-US" sz="1800">
                <a:solidFill>
                  <a:srgbClr val="6B7280"/>
                </a:solidFill>
                <a:latin typeface="Arial"/>
                <a:ea typeface="Arial" pitchFamily="34" charset="-122"/>
                <a:cs typeface="Arial"/>
              </a:rPr>
              <a:t> min</a:t>
            </a:r>
            <a:endParaRPr lang="en-US" sz="1800">
              <a:latin typeface="Arial"/>
              <a:cs typeface="Arial"/>
            </a:endParaRPr>
          </a:p>
        </p:txBody>
      </p:sp>
      <p:sp>
        <p:nvSpPr>
          <p:cNvPr id="8" name="Shape 5"/>
          <p:cNvSpPr/>
          <p:nvPr/>
        </p:nvSpPr>
        <p:spPr>
          <a:xfrm>
            <a:off x="4754880" y="2293966"/>
            <a:ext cx="6949440" cy="0"/>
          </a:xfrm>
          <a:prstGeom prst="line">
            <a:avLst/>
          </a:prstGeom>
          <a:noFill/>
          <a:ln w="12700">
            <a:solidFill>
              <a:srgbClr val="D5DCEA"/>
            </a:solidFill>
            <a:prstDash val="solid"/>
          </a:ln>
        </p:spPr>
        <p:txBody>
          <a:bodyPr/>
          <a:lstStyle/>
          <a:p>
            <a:endParaRPr lang="en-US"/>
          </a:p>
        </p:txBody>
      </p:sp>
      <p:sp>
        <p:nvSpPr>
          <p:cNvPr id="9" name="Text 6"/>
          <p:cNvSpPr txBox="1"/>
          <p:nvPr/>
        </p:nvSpPr>
        <p:spPr>
          <a:xfrm>
            <a:off x="4754880" y="2403694"/>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03</a:t>
            </a:r>
            <a:endParaRPr lang="en-US" sz="3000"/>
          </a:p>
        </p:txBody>
      </p:sp>
      <p:sp>
        <p:nvSpPr>
          <p:cNvPr id="10" name="Text 7"/>
          <p:cNvSpPr txBox="1"/>
          <p:nvPr/>
        </p:nvSpPr>
        <p:spPr>
          <a:xfrm>
            <a:off x="5760720" y="2403694"/>
            <a:ext cx="4572000" cy="822960"/>
          </a:xfrm>
          <a:prstGeom prst="rect">
            <a:avLst/>
          </a:prstGeom>
          <a:noFill/>
          <a:ln/>
        </p:spPr>
        <p:txBody>
          <a:bodyPr wrap="square" lIns="0" tIns="0" rIns="0" bIns="0" rtlCol="0" anchor="ctr"/>
          <a:lstStyle/>
          <a:p>
            <a:pPr marL="0" indent="0">
              <a:buNone/>
            </a:pPr>
            <a:r>
              <a:rPr lang="en-US" sz="2400">
                <a:solidFill>
                  <a:srgbClr val="14245C"/>
                </a:solidFill>
                <a:latin typeface="Arial" pitchFamily="34" charset="0"/>
                <a:ea typeface="Arial" pitchFamily="34" charset="-122"/>
                <a:cs typeface="Arial" pitchFamily="34" charset="-120"/>
              </a:rPr>
              <a:t>Dashboard Presentation</a:t>
            </a:r>
            <a:endParaRPr lang="en-US" sz="2400"/>
          </a:p>
        </p:txBody>
      </p:sp>
      <p:sp>
        <p:nvSpPr>
          <p:cNvPr id="11" name="Text 8"/>
          <p:cNvSpPr txBox="1"/>
          <p:nvPr/>
        </p:nvSpPr>
        <p:spPr>
          <a:xfrm>
            <a:off x="10067059" y="2472967"/>
            <a:ext cx="1645920" cy="822960"/>
          </a:xfrm>
          <a:prstGeom prst="rect">
            <a:avLst/>
          </a:prstGeom>
          <a:noFill/>
          <a:ln/>
        </p:spPr>
        <p:txBody>
          <a:bodyPr wrap="square" lIns="0" tIns="0" rIns="0" bIns="0" rtlCol="0" anchor="ctr"/>
          <a:lstStyle/>
          <a:p>
            <a:pPr marL="0" indent="0" algn="r">
              <a:buNone/>
            </a:pPr>
            <a:r>
              <a:rPr lang="en-US" sz="1800">
                <a:solidFill>
                  <a:srgbClr val="6B7280"/>
                </a:solidFill>
                <a:latin typeface="Arial" pitchFamily="34" charset="0"/>
                <a:ea typeface="Arial" pitchFamily="34" charset="-122"/>
                <a:cs typeface="Arial" pitchFamily="34" charset="-120"/>
              </a:rPr>
              <a:t>15 min</a:t>
            </a:r>
            <a:endParaRPr lang="en-US" sz="1800"/>
          </a:p>
        </p:txBody>
      </p:sp>
      <p:sp>
        <p:nvSpPr>
          <p:cNvPr id="12" name="Shape 9"/>
          <p:cNvSpPr/>
          <p:nvPr/>
        </p:nvSpPr>
        <p:spPr>
          <a:xfrm>
            <a:off x="4754880" y="3318094"/>
            <a:ext cx="6949440" cy="0"/>
          </a:xfrm>
          <a:prstGeom prst="line">
            <a:avLst/>
          </a:prstGeom>
          <a:noFill/>
          <a:ln w="12700">
            <a:solidFill>
              <a:srgbClr val="D5DCEA"/>
            </a:solidFill>
            <a:prstDash val="solid"/>
          </a:ln>
        </p:spPr>
        <p:txBody>
          <a:bodyPr/>
          <a:lstStyle/>
          <a:p>
            <a:endParaRPr lang="en-US"/>
          </a:p>
        </p:txBody>
      </p:sp>
      <p:sp>
        <p:nvSpPr>
          <p:cNvPr id="13" name="Text 10"/>
          <p:cNvSpPr txBox="1"/>
          <p:nvPr/>
        </p:nvSpPr>
        <p:spPr>
          <a:xfrm>
            <a:off x="4754880" y="3427822"/>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04</a:t>
            </a:r>
            <a:endParaRPr lang="en-US" sz="3000"/>
          </a:p>
        </p:txBody>
      </p:sp>
      <p:sp>
        <p:nvSpPr>
          <p:cNvPr id="14" name="Text 11"/>
          <p:cNvSpPr txBox="1"/>
          <p:nvPr/>
        </p:nvSpPr>
        <p:spPr>
          <a:xfrm>
            <a:off x="5760720" y="3427822"/>
            <a:ext cx="4572000" cy="822960"/>
          </a:xfrm>
          <a:prstGeom prst="rect">
            <a:avLst/>
          </a:prstGeom>
          <a:noFill/>
          <a:ln/>
        </p:spPr>
        <p:txBody>
          <a:bodyPr wrap="square" lIns="0" tIns="0" rIns="0" bIns="0" rtlCol="0" anchor="ctr"/>
          <a:lstStyle/>
          <a:p>
            <a:pPr marL="0" indent="0">
              <a:buNone/>
            </a:pPr>
            <a:r>
              <a:rPr lang="en-US" sz="2400">
                <a:solidFill>
                  <a:srgbClr val="14245C"/>
                </a:solidFill>
                <a:latin typeface="Arial" pitchFamily="34" charset="0"/>
                <a:ea typeface="Arial" pitchFamily="34" charset="-122"/>
                <a:cs typeface="Arial" pitchFamily="34" charset="-120"/>
              </a:rPr>
              <a:t>Findings</a:t>
            </a:r>
            <a:endParaRPr lang="en-US" sz="2400"/>
          </a:p>
        </p:txBody>
      </p:sp>
      <p:sp>
        <p:nvSpPr>
          <p:cNvPr id="15" name="Text 12"/>
          <p:cNvSpPr txBox="1"/>
          <p:nvPr/>
        </p:nvSpPr>
        <p:spPr>
          <a:xfrm>
            <a:off x="10058400" y="3427822"/>
            <a:ext cx="1645920" cy="822960"/>
          </a:xfrm>
          <a:prstGeom prst="rect">
            <a:avLst/>
          </a:prstGeom>
          <a:noFill/>
          <a:ln/>
        </p:spPr>
        <p:txBody>
          <a:bodyPr wrap="square" lIns="0" tIns="0" rIns="0" bIns="0" rtlCol="0" anchor="ctr"/>
          <a:lstStyle/>
          <a:p>
            <a:pPr algn="r"/>
            <a:r>
              <a:rPr lang="en-US">
                <a:solidFill>
                  <a:srgbClr val="6B7280"/>
                </a:solidFill>
                <a:latin typeface="Arial"/>
                <a:cs typeface="Arial"/>
              </a:rPr>
              <a:t>20 min</a:t>
            </a:r>
            <a:endParaRPr lang="en-US" sz="1800"/>
          </a:p>
        </p:txBody>
      </p:sp>
      <p:sp>
        <p:nvSpPr>
          <p:cNvPr id="16" name="Shape 13"/>
          <p:cNvSpPr/>
          <p:nvPr/>
        </p:nvSpPr>
        <p:spPr>
          <a:xfrm>
            <a:off x="4754880" y="4342222"/>
            <a:ext cx="6949440" cy="0"/>
          </a:xfrm>
          <a:prstGeom prst="line">
            <a:avLst/>
          </a:prstGeom>
          <a:noFill/>
          <a:ln w="12700">
            <a:solidFill>
              <a:srgbClr val="D5DCEA"/>
            </a:solidFill>
            <a:prstDash val="solid"/>
          </a:ln>
        </p:spPr>
        <p:txBody>
          <a:bodyPr/>
          <a:lstStyle/>
          <a:p>
            <a:endParaRPr lang="en-US"/>
          </a:p>
        </p:txBody>
      </p:sp>
      <p:sp>
        <p:nvSpPr>
          <p:cNvPr id="17" name="Text 14"/>
          <p:cNvSpPr txBox="1"/>
          <p:nvPr/>
        </p:nvSpPr>
        <p:spPr>
          <a:xfrm>
            <a:off x="4754880" y="4451950"/>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05</a:t>
            </a:r>
            <a:endParaRPr lang="en-US" sz="3000"/>
          </a:p>
        </p:txBody>
      </p:sp>
      <p:sp>
        <p:nvSpPr>
          <p:cNvPr id="18" name="Text 15"/>
          <p:cNvSpPr txBox="1"/>
          <p:nvPr/>
        </p:nvSpPr>
        <p:spPr>
          <a:xfrm>
            <a:off x="5760720" y="4451950"/>
            <a:ext cx="4572000" cy="822960"/>
          </a:xfrm>
          <a:prstGeom prst="rect">
            <a:avLst/>
          </a:prstGeom>
          <a:noFill/>
          <a:ln/>
        </p:spPr>
        <p:txBody>
          <a:bodyPr wrap="square" lIns="0" tIns="0" rIns="0" bIns="0" rtlCol="0" anchor="ctr"/>
          <a:lstStyle/>
          <a:p>
            <a:pPr marL="0" indent="0">
              <a:buNone/>
            </a:pPr>
            <a:r>
              <a:rPr lang="en-US" sz="2400">
                <a:solidFill>
                  <a:srgbClr val="14245C"/>
                </a:solidFill>
                <a:latin typeface="Arial" pitchFamily="34" charset="0"/>
                <a:ea typeface="Arial" pitchFamily="34" charset="-122"/>
                <a:cs typeface="Arial" pitchFamily="34" charset="-120"/>
              </a:rPr>
              <a:t>Looking Ahead</a:t>
            </a:r>
            <a:endParaRPr lang="en-US" sz="2400"/>
          </a:p>
        </p:txBody>
      </p:sp>
      <p:sp>
        <p:nvSpPr>
          <p:cNvPr id="19" name="Text 16"/>
          <p:cNvSpPr txBox="1"/>
          <p:nvPr/>
        </p:nvSpPr>
        <p:spPr>
          <a:xfrm>
            <a:off x="9980468" y="4451950"/>
            <a:ext cx="1645920" cy="822960"/>
          </a:xfrm>
          <a:prstGeom prst="rect">
            <a:avLst/>
          </a:prstGeom>
          <a:noFill/>
          <a:ln/>
        </p:spPr>
        <p:txBody>
          <a:bodyPr wrap="square" lIns="0" tIns="0" rIns="0" bIns="0" rtlCol="0" anchor="ctr"/>
          <a:lstStyle/>
          <a:p>
            <a:pPr marL="0" indent="0" algn="r">
              <a:buNone/>
            </a:pPr>
            <a:r>
              <a:rPr lang="en-US" sz="1800">
                <a:solidFill>
                  <a:srgbClr val="6B7280"/>
                </a:solidFill>
                <a:latin typeface="Arial" pitchFamily="34" charset="0"/>
                <a:ea typeface="Arial" pitchFamily="34" charset="-122"/>
                <a:cs typeface="Arial" pitchFamily="34" charset="-120"/>
              </a:rPr>
              <a:t>10 min</a:t>
            </a:r>
            <a:endParaRPr lang="en-US" sz="1800"/>
          </a:p>
        </p:txBody>
      </p:sp>
      <p:sp>
        <p:nvSpPr>
          <p:cNvPr id="20" name="Shape 17"/>
          <p:cNvSpPr/>
          <p:nvPr/>
        </p:nvSpPr>
        <p:spPr>
          <a:xfrm>
            <a:off x="4754880" y="5366350"/>
            <a:ext cx="6949440" cy="0"/>
          </a:xfrm>
          <a:prstGeom prst="line">
            <a:avLst/>
          </a:prstGeom>
          <a:noFill/>
          <a:ln w="12700">
            <a:solidFill>
              <a:srgbClr val="D5DCEA"/>
            </a:solidFill>
            <a:prstDash val="solid"/>
          </a:ln>
        </p:spPr>
        <p:txBody>
          <a:bodyPr/>
          <a:lstStyle/>
          <a:p>
            <a:endParaRPr lang="en-US"/>
          </a:p>
        </p:txBody>
      </p:sp>
      <p:sp>
        <p:nvSpPr>
          <p:cNvPr id="21" name="Text 18"/>
          <p:cNvSpPr txBox="1"/>
          <p:nvPr/>
        </p:nvSpPr>
        <p:spPr>
          <a:xfrm>
            <a:off x="4754880" y="5406806"/>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06</a:t>
            </a:r>
            <a:endParaRPr lang="en-US" sz="3000"/>
          </a:p>
        </p:txBody>
      </p:sp>
      <p:sp>
        <p:nvSpPr>
          <p:cNvPr id="22" name="Text 19"/>
          <p:cNvSpPr txBox="1"/>
          <p:nvPr/>
        </p:nvSpPr>
        <p:spPr>
          <a:xfrm>
            <a:off x="5760720" y="5476078"/>
            <a:ext cx="4572000" cy="822960"/>
          </a:xfrm>
          <a:prstGeom prst="rect">
            <a:avLst/>
          </a:prstGeom>
          <a:noFill/>
          <a:ln/>
        </p:spPr>
        <p:txBody>
          <a:bodyPr wrap="square" lIns="0" tIns="0" rIns="0" bIns="0" rtlCol="0" anchor="ctr"/>
          <a:lstStyle/>
          <a:p>
            <a:pPr marL="0" indent="0">
              <a:buNone/>
            </a:pPr>
            <a:r>
              <a:rPr lang="en-US" sz="2400">
                <a:solidFill>
                  <a:srgbClr val="14245C"/>
                </a:solidFill>
                <a:latin typeface="Arial" pitchFamily="34" charset="0"/>
                <a:ea typeface="Arial" pitchFamily="34" charset="-122"/>
                <a:cs typeface="Arial" pitchFamily="34" charset="-120"/>
              </a:rPr>
              <a:t>Discussion</a:t>
            </a:r>
            <a:endParaRPr lang="en-US" sz="2400"/>
          </a:p>
        </p:txBody>
      </p:sp>
      <p:sp>
        <p:nvSpPr>
          <p:cNvPr id="23" name="Text 20"/>
          <p:cNvSpPr txBox="1"/>
          <p:nvPr/>
        </p:nvSpPr>
        <p:spPr>
          <a:xfrm>
            <a:off x="10058400" y="5476078"/>
            <a:ext cx="1645920" cy="822960"/>
          </a:xfrm>
          <a:prstGeom prst="rect">
            <a:avLst/>
          </a:prstGeom>
          <a:noFill/>
          <a:ln/>
        </p:spPr>
        <p:txBody>
          <a:bodyPr wrap="square" lIns="0" tIns="0" rIns="0" bIns="0" rtlCol="0" anchor="ctr"/>
          <a:lstStyle/>
          <a:p>
            <a:pPr marL="0" indent="0" algn="r">
              <a:buNone/>
            </a:pPr>
            <a:r>
              <a:rPr lang="en-US" sz="1800">
                <a:solidFill>
                  <a:srgbClr val="6B7280"/>
                </a:solidFill>
                <a:latin typeface="Arial" pitchFamily="34" charset="0"/>
                <a:ea typeface="Arial" pitchFamily="34" charset="-122"/>
                <a:cs typeface="Arial" pitchFamily="34" charset="-120"/>
              </a:rPr>
              <a:t>30 min</a:t>
            </a:r>
            <a:endParaRPr lang="en-US" sz="1800"/>
          </a:p>
        </p:txBody>
      </p:sp>
      <p:pic>
        <p:nvPicPr>
          <p:cNvPr id="24" name="Image 1" descr="logo_white.png"/>
          <p:cNvPicPr>
            <a:picLocks noChangeAspect="1"/>
          </p:cNvPicPr>
          <p:nvPr/>
        </p:nvPicPr>
        <p:blipFill>
          <a:blip r:embed="rId4"/>
          <a:stretch>
            <a:fillRect/>
          </a:stretch>
        </p:blipFill>
        <p:spPr>
          <a:xfrm>
            <a:off x="548640" y="5943600"/>
            <a:ext cx="2377440" cy="394269"/>
          </a:xfrm>
          <a:prstGeom prst="rect">
            <a:avLst/>
          </a:prstGeom>
        </p:spPr>
      </p:pic>
      <p:sp>
        <p:nvSpPr>
          <p:cNvPr id="25" name="Text 21"/>
          <p:cNvSpPr txBox="1"/>
          <p:nvPr/>
        </p:nvSpPr>
        <p:spPr>
          <a:xfrm>
            <a:off x="11247120" y="6400800"/>
            <a:ext cx="548640" cy="274320"/>
          </a:xfrm>
          <a:prstGeom prst="rect">
            <a:avLst/>
          </a:prstGeom>
          <a:noFill/>
          <a:ln/>
        </p:spPr>
        <p:txBody>
          <a:bodyPr wrap="square" lIns="0" tIns="0" rIns="0" bIns="0" rtlCol="0" anchor="ctr"/>
          <a:lstStyle/>
          <a:p>
            <a:pPr marL="0" indent="0" algn="r">
              <a:buNone/>
            </a:pPr>
            <a:r>
              <a:rPr lang="en-US" sz="1400">
                <a:solidFill>
                  <a:srgbClr val="6B7280"/>
                </a:solidFill>
                <a:latin typeface="Georgia"/>
                <a:ea typeface="Arial" pitchFamily="34" charset="-122"/>
                <a:cs typeface="Arial"/>
              </a:rPr>
              <a:t>2</a:t>
            </a:r>
            <a:endParaRPr lang="en-US" sz="1400">
              <a:latin typeface="Georgia"/>
              <a:cs typeface="Arial"/>
            </a:endParaRPr>
          </a:p>
        </p:txBody>
      </p:sp>
      <p:sp>
        <p:nvSpPr>
          <p:cNvPr id="26" name="Text 22"/>
          <p:cNvSpPr txBox="1"/>
          <p:nvPr/>
        </p:nvSpPr>
        <p:spPr>
          <a:xfrm>
            <a:off x="365760" y="6537960"/>
            <a:ext cx="7315200" cy="228600"/>
          </a:xfrm>
          <a:prstGeom prst="rect">
            <a:avLst/>
          </a:prstGeom>
          <a:noFill/>
          <a:ln/>
        </p:spPr>
        <p:txBody>
          <a:bodyPr wrap="square" lIns="0" tIns="0" rIns="0" bIns="0" rtlCol="0" anchor="ctr"/>
          <a:lstStyle/>
          <a:p>
            <a:pPr marL="0" indent="0">
              <a:buNone/>
            </a:pPr>
            <a:r>
              <a:rPr lang="en-US" sz="900">
                <a:solidFill>
                  <a:srgbClr val="FFFFFF"/>
                </a:solidFill>
                <a:latin typeface="Arial" pitchFamily="34" charset="0"/>
                <a:ea typeface="Arial" pitchFamily="34" charset="-122"/>
                <a:cs typeface="Arial" pitchFamily="34" charset="-120"/>
              </a:rPr>
              <a:t>Option 2: navy panel and list</a:t>
            </a:r>
            <a:endParaRPr lang="en-US" sz="900"/>
          </a:p>
        </p:txBody>
      </p:sp>
      <p:sp>
        <p:nvSpPr>
          <p:cNvPr id="27" name="Rectangle 26">
            <a:extLst>
              <a:ext uri="{FF2B5EF4-FFF2-40B4-BE49-F238E27FC236}">
                <a16:creationId xmlns:a16="http://schemas.microsoft.com/office/drawing/2014/main" id="{EACEB3A8-4308-AD71-6860-F362C68C8E35}"/>
              </a:ext>
            </a:extLst>
          </p:cNvPr>
          <p:cNvSpPr/>
          <p:nvPr/>
        </p:nvSpPr>
        <p:spPr>
          <a:xfrm>
            <a:off x="241160" y="6537960"/>
            <a:ext cx="1688124" cy="228600"/>
          </a:xfrm>
          <a:prstGeom prst="rect">
            <a:avLst/>
          </a:prstGeom>
          <a:solidFill>
            <a:srgbClr val="1C30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2">
            <a:extLst>
              <a:ext uri="{FF2B5EF4-FFF2-40B4-BE49-F238E27FC236}">
                <a16:creationId xmlns:a16="http://schemas.microsoft.com/office/drawing/2014/main" id="{5FBBAC22-A945-DB5D-F61A-7A5F6530A839}"/>
              </a:ext>
            </a:extLst>
          </p:cNvPr>
          <p:cNvSpPr txBox="1"/>
          <p:nvPr/>
        </p:nvSpPr>
        <p:spPr>
          <a:xfrm>
            <a:off x="4746221" y="479020"/>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01</a:t>
            </a:r>
            <a:endParaRPr lang="en-US" sz="3000"/>
          </a:p>
        </p:txBody>
      </p:sp>
      <p:sp>
        <p:nvSpPr>
          <p:cNvPr id="30" name="Text 3">
            <a:extLst>
              <a:ext uri="{FF2B5EF4-FFF2-40B4-BE49-F238E27FC236}">
                <a16:creationId xmlns:a16="http://schemas.microsoft.com/office/drawing/2014/main" id="{B5CB3E2D-BCAA-7D9C-404E-8D1CD8315D52}"/>
              </a:ext>
            </a:extLst>
          </p:cNvPr>
          <p:cNvSpPr txBox="1"/>
          <p:nvPr/>
        </p:nvSpPr>
        <p:spPr>
          <a:xfrm>
            <a:off x="5760720" y="574270"/>
            <a:ext cx="4572000" cy="822960"/>
          </a:xfrm>
          <a:prstGeom prst="rect">
            <a:avLst/>
          </a:prstGeom>
          <a:noFill/>
          <a:ln/>
        </p:spPr>
        <p:txBody>
          <a:bodyPr wrap="square" lIns="0" tIns="0" rIns="0" bIns="0" rtlCol="0" anchor="ctr"/>
          <a:lstStyle/>
          <a:p>
            <a:r>
              <a:rPr lang="en-US" sz="2400">
                <a:solidFill>
                  <a:srgbClr val="14245C"/>
                </a:solidFill>
                <a:latin typeface="Arial"/>
                <a:cs typeface="Arial"/>
              </a:rPr>
              <a:t>Introduction</a:t>
            </a:r>
            <a:endParaRPr lang="en-US"/>
          </a:p>
        </p:txBody>
      </p:sp>
      <p:sp>
        <p:nvSpPr>
          <p:cNvPr id="31" name="Text 4">
            <a:extLst>
              <a:ext uri="{FF2B5EF4-FFF2-40B4-BE49-F238E27FC236}">
                <a16:creationId xmlns:a16="http://schemas.microsoft.com/office/drawing/2014/main" id="{C4F6DB4E-879F-F0EA-D294-87E34CB713D6}"/>
              </a:ext>
            </a:extLst>
          </p:cNvPr>
          <p:cNvSpPr txBox="1"/>
          <p:nvPr/>
        </p:nvSpPr>
        <p:spPr>
          <a:xfrm>
            <a:off x="10049741" y="539634"/>
            <a:ext cx="1645920" cy="822960"/>
          </a:xfrm>
          <a:prstGeom prst="rect">
            <a:avLst/>
          </a:prstGeom>
          <a:noFill/>
          <a:ln/>
        </p:spPr>
        <p:txBody>
          <a:bodyPr wrap="square" lIns="0" tIns="0" rIns="0" bIns="0" rtlCol="0" anchor="ctr"/>
          <a:lstStyle/>
          <a:p>
            <a:pPr algn="r"/>
            <a:r>
              <a:rPr lang="en-US">
                <a:solidFill>
                  <a:srgbClr val="6B7280"/>
                </a:solidFill>
                <a:latin typeface="Arial"/>
                <a:cs typeface="Arial"/>
              </a:rPr>
              <a:t>5 min</a:t>
            </a:r>
            <a:endParaRPr lang="en-US" sz="1800"/>
          </a:p>
        </p:txBody>
      </p:sp>
      <p:sp>
        <p:nvSpPr>
          <p:cNvPr id="32" name="Shape 5">
            <a:extLst>
              <a:ext uri="{FF2B5EF4-FFF2-40B4-BE49-F238E27FC236}">
                <a16:creationId xmlns:a16="http://schemas.microsoft.com/office/drawing/2014/main" id="{0FFDD48D-9F7B-7F7E-C818-AED0CC1D2330}"/>
              </a:ext>
            </a:extLst>
          </p:cNvPr>
          <p:cNvSpPr/>
          <p:nvPr/>
        </p:nvSpPr>
        <p:spPr>
          <a:xfrm>
            <a:off x="4754880" y="1393420"/>
            <a:ext cx="6949440" cy="0"/>
          </a:xfrm>
          <a:prstGeom prst="line">
            <a:avLst/>
          </a:prstGeom>
          <a:noFill/>
          <a:ln w="12700">
            <a:solidFill>
              <a:srgbClr val="D5DCEA"/>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E142D-0BB3-3978-86C9-8F2919FE4169}"/>
            </a:ext>
          </a:extLst>
        </p:cNvPr>
        <p:cNvGrpSpPr/>
        <p:nvPr/>
      </p:nvGrpSpPr>
      <p:grpSpPr>
        <a:xfrm>
          <a:off x="0" y="0"/>
          <a:ext cx="0" cy="0"/>
          <a:chOff x="0" y="0"/>
          <a:chExt cx="0" cy="0"/>
        </a:xfrm>
      </p:grpSpPr>
      <p:pic>
        <p:nvPicPr>
          <p:cNvPr id="2" name="Image 0" descr="g_navy_dark.png">
            <a:extLst>
              <a:ext uri="{FF2B5EF4-FFF2-40B4-BE49-F238E27FC236}">
                <a16:creationId xmlns:a16="http://schemas.microsoft.com/office/drawing/2014/main" id="{EE4FE6CC-1C1F-261F-AA49-035AB0BA6E69}"/>
              </a:ext>
            </a:extLst>
          </p:cNvPr>
          <p:cNvPicPr>
            <a:picLocks noChangeAspect="1"/>
          </p:cNvPicPr>
          <p:nvPr/>
        </p:nvPicPr>
        <p:blipFill>
          <a:blip r:embed="rId3"/>
          <a:srcRect/>
          <a:stretch/>
        </p:blipFill>
        <p:spPr>
          <a:xfrm>
            <a:off x="-69333" y="-131537"/>
            <a:ext cx="4306253" cy="7121074"/>
          </a:xfrm>
          <a:prstGeom prst="rect">
            <a:avLst/>
          </a:prstGeom>
        </p:spPr>
      </p:pic>
      <p:sp>
        <p:nvSpPr>
          <p:cNvPr id="3" name="Text 0">
            <a:extLst>
              <a:ext uri="{FF2B5EF4-FFF2-40B4-BE49-F238E27FC236}">
                <a16:creationId xmlns:a16="http://schemas.microsoft.com/office/drawing/2014/main" id="{FD8F6F8F-331D-9C3A-42D9-28DC494914FB}"/>
              </a:ext>
            </a:extLst>
          </p:cNvPr>
          <p:cNvSpPr txBox="1"/>
          <p:nvPr/>
        </p:nvSpPr>
        <p:spPr>
          <a:xfrm>
            <a:off x="548640" y="2468880"/>
            <a:ext cx="3291840" cy="914400"/>
          </a:xfrm>
          <a:prstGeom prst="rect">
            <a:avLst/>
          </a:prstGeom>
          <a:noFill/>
          <a:ln/>
        </p:spPr>
        <p:txBody>
          <a:bodyPr wrap="square" lIns="0" tIns="0" rIns="0" bIns="0" rtlCol="0" anchor="ctr"/>
          <a:lstStyle/>
          <a:p>
            <a:pPr marL="0" indent="0">
              <a:buNone/>
            </a:pPr>
            <a:r>
              <a:rPr lang="en-US" sz="4000">
                <a:solidFill>
                  <a:srgbClr val="FFFFFF"/>
                </a:solidFill>
                <a:latin typeface="Franklin Gothic Medium"/>
              </a:rPr>
              <a:t>Objectives</a:t>
            </a:r>
            <a:endParaRPr lang="en-US"/>
          </a:p>
        </p:txBody>
      </p:sp>
      <p:sp>
        <p:nvSpPr>
          <p:cNvPr id="9" name="Text 6">
            <a:extLst>
              <a:ext uri="{FF2B5EF4-FFF2-40B4-BE49-F238E27FC236}">
                <a16:creationId xmlns:a16="http://schemas.microsoft.com/office/drawing/2014/main" id="{27326324-9FE5-5D48-DAD9-287F4EDC9C1D}"/>
              </a:ext>
            </a:extLst>
          </p:cNvPr>
          <p:cNvSpPr txBox="1"/>
          <p:nvPr/>
        </p:nvSpPr>
        <p:spPr>
          <a:xfrm>
            <a:off x="4918166" y="1749314"/>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01</a:t>
            </a:r>
            <a:endParaRPr lang="en-US" sz="3000"/>
          </a:p>
        </p:txBody>
      </p:sp>
      <p:sp>
        <p:nvSpPr>
          <p:cNvPr id="10" name="Text 7">
            <a:extLst>
              <a:ext uri="{FF2B5EF4-FFF2-40B4-BE49-F238E27FC236}">
                <a16:creationId xmlns:a16="http://schemas.microsoft.com/office/drawing/2014/main" id="{9B51A443-083B-7D3B-4364-9E13D2C845F7}"/>
              </a:ext>
            </a:extLst>
          </p:cNvPr>
          <p:cNvSpPr txBox="1"/>
          <p:nvPr/>
        </p:nvSpPr>
        <p:spPr>
          <a:xfrm>
            <a:off x="5924006" y="1749314"/>
            <a:ext cx="4572000" cy="822960"/>
          </a:xfrm>
          <a:prstGeom prst="rect">
            <a:avLst/>
          </a:prstGeom>
          <a:noFill/>
          <a:ln/>
        </p:spPr>
        <p:txBody>
          <a:bodyPr wrap="square" lIns="0" tIns="0" rIns="0" bIns="0" rtlCol="0" anchor="ctr"/>
          <a:lstStyle/>
          <a:p>
            <a:r>
              <a:rPr lang="en-US" sz="2400">
                <a:solidFill>
                  <a:srgbClr val="14245C"/>
                </a:solidFill>
                <a:latin typeface="Arial"/>
                <a:cs typeface="Arial"/>
              </a:rPr>
              <a:t>Recap</a:t>
            </a:r>
            <a:endParaRPr lang="en-US"/>
          </a:p>
        </p:txBody>
      </p:sp>
      <p:sp>
        <p:nvSpPr>
          <p:cNvPr id="12" name="Shape 9">
            <a:extLst>
              <a:ext uri="{FF2B5EF4-FFF2-40B4-BE49-F238E27FC236}">
                <a16:creationId xmlns:a16="http://schemas.microsoft.com/office/drawing/2014/main" id="{8DE6F58D-41C4-EF8C-4292-4E1CA51C2262}"/>
              </a:ext>
            </a:extLst>
          </p:cNvPr>
          <p:cNvSpPr/>
          <p:nvPr/>
        </p:nvSpPr>
        <p:spPr>
          <a:xfrm>
            <a:off x="4918166" y="2663714"/>
            <a:ext cx="6949440" cy="0"/>
          </a:xfrm>
          <a:prstGeom prst="line">
            <a:avLst/>
          </a:prstGeom>
          <a:noFill/>
          <a:ln w="12700">
            <a:solidFill>
              <a:srgbClr val="D5DCEA"/>
            </a:solidFill>
            <a:prstDash val="solid"/>
          </a:ln>
        </p:spPr>
        <p:txBody>
          <a:bodyPr/>
          <a:lstStyle/>
          <a:p>
            <a:endParaRPr lang="en-US"/>
          </a:p>
        </p:txBody>
      </p:sp>
      <p:sp>
        <p:nvSpPr>
          <p:cNvPr id="13" name="Text 10">
            <a:extLst>
              <a:ext uri="{FF2B5EF4-FFF2-40B4-BE49-F238E27FC236}">
                <a16:creationId xmlns:a16="http://schemas.microsoft.com/office/drawing/2014/main" id="{A435F07D-0595-B944-3D1C-4B685CD53337}"/>
              </a:ext>
            </a:extLst>
          </p:cNvPr>
          <p:cNvSpPr txBox="1"/>
          <p:nvPr/>
        </p:nvSpPr>
        <p:spPr>
          <a:xfrm>
            <a:off x="4918166" y="2773442"/>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02</a:t>
            </a:r>
            <a:endParaRPr lang="en-US" sz="3000"/>
          </a:p>
        </p:txBody>
      </p:sp>
      <p:sp>
        <p:nvSpPr>
          <p:cNvPr id="14" name="Text 11">
            <a:extLst>
              <a:ext uri="{FF2B5EF4-FFF2-40B4-BE49-F238E27FC236}">
                <a16:creationId xmlns:a16="http://schemas.microsoft.com/office/drawing/2014/main" id="{4318E8CA-7F1C-410D-66D1-AB36336EFCF4}"/>
              </a:ext>
            </a:extLst>
          </p:cNvPr>
          <p:cNvSpPr txBox="1"/>
          <p:nvPr/>
        </p:nvSpPr>
        <p:spPr>
          <a:xfrm>
            <a:off x="5924006" y="2773442"/>
            <a:ext cx="4572000" cy="822960"/>
          </a:xfrm>
          <a:prstGeom prst="rect">
            <a:avLst/>
          </a:prstGeom>
          <a:noFill/>
          <a:ln/>
        </p:spPr>
        <p:txBody>
          <a:bodyPr wrap="square" lIns="0" tIns="0" rIns="0" bIns="0" rtlCol="0" anchor="ctr"/>
          <a:lstStyle/>
          <a:p>
            <a:r>
              <a:rPr lang="en-US" sz="2400">
                <a:solidFill>
                  <a:srgbClr val="14245C"/>
                </a:solidFill>
                <a:latin typeface="Arial"/>
                <a:cs typeface="Arial"/>
              </a:rPr>
              <a:t>Present New Findings</a:t>
            </a:r>
            <a:endParaRPr lang="en-US"/>
          </a:p>
        </p:txBody>
      </p:sp>
      <p:sp>
        <p:nvSpPr>
          <p:cNvPr id="16" name="Shape 13">
            <a:extLst>
              <a:ext uri="{FF2B5EF4-FFF2-40B4-BE49-F238E27FC236}">
                <a16:creationId xmlns:a16="http://schemas.microsoft.com/office/drawing/2014/main" id="{5F8214F6-B7F4-50E3-770D-B48CC836CB22}"/>
              </a:ext>
            </a:extLst>
          </p:cNvPr>
          <p:cNvSpPr/>
          <p:nvPr/>
        </p:nvSpPr>
        <p:spPr>
          <a:xfrm>
            <a:off x="4918166" y="3687842"/>
            <a:ext cx="6949440" cy="0"/>
          </a:xfrm>
          <a:prstGeom prst="line">
            <a:avLst/>
          </a:prstGeom>
          <a:noFill/>
          <a:ln w="12700">
            <a:solidFill>
              <a:srgbClr val="D5DCEA"/>
            </a:solidFill>
            <a:prstDash val="solid"/>
          </a:ln>
        </p:spPr>
        <p:txBody>
          <a:bodyPr/>
          <a:lstStyle/>
          <a:p>
            <a:endParaRPr lang="en-US"/>
          </a:p>
        </p:txBody>
      </p:sp>
      <p:sp>
        <p:nvSpPr>
          <p:cNvPr id="17" name="Text 14">
            <a:extLst>
              <a:ext uri="{FF2B5EF4-FFF2-40B4-BE49-F238E27FC236}">
                <a16:creationId xmlns:a16="http://schemas.microsoft.com/office/drawing/2014/main" id="{CC477CBF-503D-B900-9A76-A1FBF4C037B2}"/>
              </a:ext>
            </a:extLst>
          </p:cNvPr>
          <p:cNvSpPr txBox="1"/>
          <p:nvPr/>
        </p:nvSpPr>
        <p:spPr>
          <a:xfrm>
            <a:off x="4918166" y="3797570"/>
            <a:ext cx="914400" cy="822960"/>
          </a:xfrm>
          <a:prstGeom prst="rect">
            <a:avLst/>
          </a:prstGeom>
          <a:noFill/>
          <a:ln/>
        </p:spPr>
        <p:txBody>
          <a:bodyPr wrap="square" lIns="0" tIns="0" rIns="0" bIns="0" rtlCol="0" anchor="ctr"/>
          <a:lstStyle/>
          <a:p>
            <a:pPr marL="0" indent="0">
              <a:buNone/>
            </a:pPr>
            <a:r>
              <a:rPr lang="en-US" sz="3000">
                <a:solidFill>
                  <a:srgbClr val="2F52A4"/>
                </a:solidFill>
                <a:latin typeface="Franklin Gothic Medium"/>
              </a:rPr>
              <a:t>03</a:t>
            </a:r>
            <a:endParaRPr lang="en-US" sz="3000"/>
          </a:p>
        </p:txBody>
      </p:sp>
      <p:sp>
        <p:nvSpPr>
          <p:cNvPr id="18" name="Text 15">
            <a:extLst>
              <a:ext uri="{FF2B5EF4-FFF2-40B4-BE49-F238E27FC236}">
                <a16:creationId xmlns:a16="http://schemas.microsoft.com/office/drawing/2014/main" id="{C226E20B-1D51-4B8D-8C11-8FE568565030}"/>
              </a:ext>
            </a:extLst>
          </p:cNvPr>
          <p:cNvSpPr txBox="1"/>
          <p:nvPr/>
        </p:nvSpPr>
        <p:spPr>
          <a:xfrm>
            <a:off x="5924006" y="3797570"/>
            <a:ext cx="4572000" cy="822960"/>
          </a:xfrm>
          <a:prstGeom prst="rect">
            <a:avLst/>
          </a:prstGeom>
          <a:noFill/>
          <a:ln/>
        </p:spPr>
        <p:txBody>
          <a:bodyPr wrap="square" lIns="0" tIns="0" rIns="0" bIns="0" rtlCol="0" anchor="ctr"/>
          <a:lstStyle/>
          <a:p>
            <a:r>
              <a:rPr lang="en-US" sz="2400">
                <a:solidFill>
                  <a:srgbClr val="14245C"/>
                </a:solidFill>
                <a:latin typeface="Arial"/>
                <a:cs typeface="Arial"/>
              </a:rPr>
              <a:t>Re-align on Goals</a:t>
            </a:r>
            <a:endParaRPr lang="en-US"/>
          </a:p>
        </p:txBody>
      </p:sp>
      <p:pic>
        <p:nvPicPr>
          <p:cNvPr id="24" name="Image 1" descr="logo_white.png">
            <a:extLst>
              <a:ext uri="{FF2B5EF4-FFF2-40B4-BE49-F238E27FC236}">
                <a16:creationId xmlns:a16="http://schemas.microsoft.com/office/drawing/2014/main" id="{4D087F5A-AD97-AF89-BB44-0C2ADA8EBE2D}"/>
              </a:ext>
            </a:extLst>
          </p:cNvPr>
          <p:cNvPicPr>
            <a:picLocks noChangeAspect="1"/>
          </p:cNvPicPr>
          <p:nvPr/>
        </p:nvPicPr>
        <p:blipFill>
          <a:blip r:embed="rId4"/>
          <a:stretch>
            <a:fillRect/>
          </a:stretch>
        </p:blipFill>
        <p:spPr>
          <a:xfrm>
            <a:off x="548640" y="5943600"/>
            <a:ext cx="2377440" cy="394269"/>
          </a:xfrm>
          <a:prstGeom prst="rect">
            <a:avLst/>
          </a:prstGeom>
        </p:spPr>
      </p:pic>
      <p:sp>
        <p:nvSpPr>
          <p:cNvPr id="25" name="Text 21">
            <a:extLst>
              <a:ext uri="{FF2B5EF4-FFF2-40B4-BE49-F238E27FC236}">
                <a16:creationId xmlns:a16="http://schemas.microsoft.com/office/drawing/2014/main" id="{EEFF1CF7-FD2A-9F8F-582F-55956310A656}"/>
              </a:ext>
            </a:extLst>
          </p:cNvPr>
          <p:cNvSpPr txBox="1"/>
          <p:nvPr/>
        </p:nvSpPr>
        <p:spPr>
          <a:xfrm>
            <a:off x="11247120" y="6400800"/>
            <a:ext cx="548640" cy="274320"/>
          </a:xfrm>
          <a:prstGeom prst="rect">
            <a:avLst/>
          </a:prstGeom>
          <a:noFill/>
          <a:ln/>
        </p:spPr>
        <p:txBody>
          <a:bodyPr wrap="square" lIns="0" tIns="0" rIns="0" bIns="0" rtlCol="0" anchor="ctr"/>
          <a:lstStyle/>
          <a:p>
            <a:pPr marL="0" indent="0" algn="r">
              <a:buNone/>
            </a:pPr>
            <a:r>
              <a:rPr lang="en-US" sz="1400">
                <a:solidFill>
                  <a:srgbClr val="6B7280"/>
                </a:solidFill>
                <a:latin typeface="Georgia"/>
                <a:cs typeface="Arial"/>
              </a:rPr>
              <a:t>3</a:t>
            </a:r>
          </a:p>
        </p:txBody>
      </p:sp>
      <p:sp>
        <p:nvSpPr>
          <p:cNvPr id="26" name="Text 22">
            <a:extLst>
              <a:ext uri="{FF2B5EF4-FFF2-40B4-BE49-F238E27FC236}">
                <a16:creationId xmlns:a16="http://schemas.microsoft.com/office/drawing/2014/main" id="{6A42C900-5908-7877-42E5-D6EF45C52892}"/>
              </a:ext>
            </a:extLst>
          </p:cNvPr>
          <p:cNvSpPr txBox="1"/>
          <p:nvPr/>
        </p:nvSpPr>
        <p:spPr>
          <a:xfrm>
            <a:off x="365760" y="6537960"/>
            <a:ext cx="7315200" cy="228600"/>
          </a:xfrm>
          <a:prstGeom prst="rect">
            <a:avLst/>
          </a:prstGeom>
          <a:noFill/>
          <a:ln/>
        </p:spPr>
        <p:txBody>
          <a:bodyPr wrap="square" lIns="0" tIns="0" rIns="0" bIns="0" rtlCol="0" anchor="ctr"/>
          <a:lstStyle/>
          <a:p>
            <a:pPr marL="0" indent="0">
              <a:buNone/>
            </a:pPr>
            <a:r>
              <a:rPr lang="en-US" sz="900">
                <a:solidFill>
                  <a:srgbClr val="FFFFFF"/>
                </a:solidFill>
                <a:latin typeface="Arial" pitchFamily="34" charset="0"/>
                <a:ea typeface="Arial" pitchFamily="34" charset="-122"/>
                <a:cs typeface="Arial" pitchFamily="34" charset="-120"/>
              </a:rPr>
              <a:t>Option 2: navy panel and list</a:t>
            </a:r>
            <a:endParaRPr lang="en-US" sz="900"/>
          </a:p>
        </p:txBody>
      </p:sp>
      <p:sp>
        <p:nvSpPr>
          <p:cNvPr id="27" name="Rectangle 26">
            <a:extLst>
              <a:ext uri="{FF2B5EF4-FFF2-40B4-BE49-F238E27FC236}">
                <a16:creationId xmlns:a16="http://schemas.microsoft.com/office/drawing/2014/main" id="{CF56D57D-E37E-73D5-95A5-F709E0747E11}"/>
              </a:ext>
            </a:extLst>
          </p:cNvPr>
          <p:cNvSpPr/>
          <p:nvPr/>
        </p:nvSpPr>
        <p:spPr>
          <a:xfrm>
            <a:off x="241160" y="6537960"/>
            <a:ext cx="1688124" cy="228600"/>
          </a:xfrm>
          <a:prstGeom prst="rect">
            <a:avLst/>
          </a:prstGeom>
          <a:solidFill>
            <a:srgbClr val="1C30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1059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D9078-44D8-8C1C-4F9B-C9DFCF4A9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8B9FF-E2A4-D2B7-A973-19E8828E136E}"/>
              </a:ext>
            </a:extLst>
          </p:cNvPr>
          <p:cNvSpPr>
            <a:spLocks noGrp="1"/>
          </p:cNvSpPr>
          <p:nvPr>
            <p:ph type="title"/>
          </p:nvPr>
        </p:nvSpPr>
        <p:spPr>
          <a:xfrm>
            <a:off x="-34642" y="-61975"/>
            <a:ext cx="12456680" cy="1010253"/>
          </a:xfrm>
          <a:solidFill>
            <a:srgbClr val="1C3073"/>
          </a:solidFill>
          <a:ln w="57150">
            <a:solidFill>
              <a:srgbClr val="1B2F73"/>
            </a:solidFill>
          </a:ln>
        </p:spPr>
        <p:txBody>
          <a:bodyPr vert="horz" lIns="91440" tIns="45720" rIns="91440" bIns="45720" rtlCol="0" anchor="ctr">
            <a:normAutofit/>
          </a:bodyPr>
          <a:lstStyle/>
          <a:p>
            <a:r>
              <a:rPr lang="en-US" sz="2800">
                <a:solidFill>
                  <a:schemeClr val="bg1"/>
                </a:solidFill>
                <a:latin typeface="Franklin Gothic Medium"/>
                <a:ea typeface="+mj-lt"/>
                <a:cs typeface="+mj-lt"/>
              </a:rPr>
              <a:t> Recap</a:t>
            </a:r>
          </a:p>
        </p:txBody>
      </p:sp>
      <p:sp>
        <p:nvSpPr>
          <p:cNvPr id="3" name="Slide Number Placeholder 2">
            <a:extLst>
              <a:ext uri="{FF2B5EF4-FFF2-40B4-BE49-F238E27FC236}">
                <a16:creationId xmlns:a16="http://schemas.microsoft.com/office/drawing/2014/main" id="{06BE094C-113A-2DC2-B6AC-589FE6863033}"/>
              </a:ext>
            </a:extLst>
          </p:cNvPr>
          <p:cNvSpPr>
            <a:spLocks noGrp="1"/>
          </p:cNvSpPr>
          <p:nvPr>
            <p:ph type="sldNum" sz="quarter" idx="12"/>
          </p:nvPr>
        </p:nvSpPr>
        <p:spPr/>
        <p:txBody>
          <a:bodyPr/>
          <a:lstStyle/>
          <a:p>
            <a:r>
              <a:rPr lang="en-US"/>
              <a:t>4</a:t>
            </a:r>
          </a:p>
        </p:txBody>
      </p:sp>
      <p:pic>
        <p:nvPicPr>
          <p:cNvPr id="8" name="Picture 7" descr="Yale Jackson School of Global Affairs - Wikipedia">
            <a:extLst>
              <a:ext uri="{FF2B5EF4-FFF2-40B4-BE49-F238E27FC236}">
                <a16:creationId xmlns:a16="http://schemas.microsoft.com/office/drawing/2014/main" id="{F9795BB2-44D2-5098-857E-8F15200CA119}"/>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5D2BAF7D-ED59-0576-0F77-144EFC5A43C6}"/>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7" name="Content Placeholder 2">
            <a:extLst>
              <a:ext uri="{FF2B5EF4-FFF2-40B4-BE49-F238E27FC236}">
                <a16:creationId xmlns:a16="http://schemas.microsoft.com/office/drawing/2014/main" id="{9A0C9C63-E0E5-7AE8-01C8-E21177B5AF4C}"/>
              </a:ext>
            </a:extLst>
          </p:cNvPr>
          <p:cNvSpPr>
            <a:spLocks noGrp="1"/>
          </p:cNvSpPr>
          <p:nvPr>
            <p:ph idx="1"/>
          </p:nvPr>
        </p:nvSpPr>
        <p:spPr>
          <a:xfrm>
            <a:off x="1223726" y="1314191"/>
            <a:ext cx="9744549" cy="4610617"/>
          </a:xfrm>
          <a:solidFill>
            <a:srgbClr val="DDE7F8"/>
          </a:solidFill>
          <a:ln w="28575">
            <a:noFill/>
          </a:ln>
        </p:spPr>
        <p:txBody>
          <a:bodyPr vert="horz" lIns="91440" tIns="45720" rIns="91440" bIns="45720" rtlCol="0" anchor="t">
            <a:normAutofit/>
          </a:bodyPr>
          <a:lstStyle/>
          <a:p>
            <a:pPr marL="0" indent="0">
              <a:lnSpc>
                <a:spcPct val="170000"/>
              </a:lnSpc>
              <a:buNone/>
            </a:pPr>
            <a:endParaRPr lang="en-US" sz="1800" b="1">
              <a:solidFill>
                <a:srgbClr val="244B91"/>
              </a:solidFill>
              <a:latin typeface="Arial" panose="020B0604020202020204" pitchFamily="34" charset="0"/>
              <a:cs typeface="Arial" panose="020B0604020202020204" pitchFamily="34" charset="0"/>
            </a:endParaRPr>
          </a:p>
          <a:p>
            <a:pPr>
              <a:lnSpc>
                <a:spcPct val="170000"/>
              </a:lnSpc>
            </a:pPr>
            <a:endParaRPr lang="en-US" sz="1800" b="1">
              <a:solidFill>
                <a:srgbClr val="244B9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BF58CE8-A8F8-44DD-D5DB-BB5FBE0987C8}"/>
              </a:ext>
            </a:extLst>
          </p:cNvPr>
          <p:cNvSpPr txBox="1"/>
          <p:nvPr/>
        </p:nvSpPr>
        <p:spPr>
          <a:xfrm>
            <a:off x="1368093" y="2099370"/>
            <a:ext cx="9240275" cy="44427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70000"/>
              </a:lnSpc>
              <a:spcBef>
                <a:spcPts val="1000"/>
              </a:spcBef>
              <a:buFont typeface="Wingdings,sans-serif"/>
              <a:buChar char="ü"/>
            </a:pPr>
            <a:r>
              <a:rPr lang="en-US" sz="1600">
                <a:solidFill>
                  <a:srgbClr val="2E4A9E"/>
                </a:solidFill>
                <a:latin typeface="Arial"/>
                <a:cs typeface="Arial"/>
              </a:rPr>
              <a:t>Broadening scope beyond US MOUs to the full donor landscape (Gavi, the Global Fund, OECD bilateral aid)</a:t>
            </a:r>
            <a:endParaRPr lang="en-US" sz="1600">
              <a:solidFill>
                <a:srgbClr val="244B91"/>
              </a:solidFill>
              <a:latin typeface="Arial"/>
              <a:cs typeface="Arial"/>
            </a:endParaRPr>
          </a:p>
          <a:p>
            <a:pPr marL="285750" indent="-285750">
              <a:lnSpc>
                <a:spcPct val="170000"/>
              </a:lnSpc>
              <a:spcBef>
                <a:spcPts val="1000"/>
              </a:spcBef>
              <a:buFont typeface="Wingdings,sans-serif"/>
              <a:buChar char="ü"/>
            </a:pPr>
            <a:r>
              <a:rPr lang="en-US" sz="1600">
                <a:solidFill>
                  <a:srgbClr val="2E4A9E"/>
                </a:solidFill>
                <a:latin typeface="Arial"/>
                <a:cs typeface="Arial"/>
              </a:rPr>
              <a:t>Shifting from “lives saved” output metric toward how services are actually affected, using a systems-level lens</a:t>
            </a:r>
          </a:p>
          <a:p>
            <a:pPr marL="285750" indent="-285750">
              <a:lnSpc>
                <a:spcPct val="170000"/>
              </a:lnSpc>
              <a:spcBef>
                <a:spcPts val="1000"/>
              </a:spcBef>
              <a:buFont typeface="Wingdings,sans-serif"/>
              <a:buChar char="ü"/>
            </a:pPr>
            <a:r>
              <a:rPr lang="en-US" sz="1600">
                <a:solidFill>
                  <a:srgbClr val="2E4A9E"/>
                </a:solidFill>
                <a:latin typeface="Arial"/>
                <a:cs typeface="Arial"/>
              </a:rPr>
              <a:t>Examining how countries are responding, including their cofinancing commitments to different donors</a:t>
            </a:r>
            <a:endParaRPr lang="en-US">
              <a:solidFill>
                <a:srgbClr val="000000"/>
              </a:solidFill>
              <a:latin typeface="Aptos" panose="02110004020202020204"/>
              <a:cs typeface="Arial"/>
            </a:endParaRPr>
          </a:p>
          <a:p>
            <a:pPr marL="285750" indent="-285750">
              <a:lnSpc>
                <a:spcPct val="170000"/>
              </a:lnSpc>
              <a:spcBef>
                <a:spcPts val="1000"/>
              </a:spcBef>
              <a:buFont typeface="Wingdings,sans-serif"/>
              <a:buChar char="ü"/>
            </a:pPr>
            <a:r>
              <a:rPr lang="en-US" sz="1600">
                <a:solidFill>
                  <a:srgbClr val="2E4A9E"/>
                </a:solidFill>
                <a:latin typeface="Arial"/>
                <a:cs typeface="Arial"/>
              </a:rPr>
              <a:t>Organizing the data into a country-level dashboard, then using it to model coverage metrics</a:t>
            </a:r>
            <a:endParaRPr lang="en-US">
              <a:solidFill>
                <a:srgbClr val="000000"/>
              </a:solidFill>
              <a:latin typeface="Aptos" panose="02110004020202020204"/>
              <a:cs typeface="Arial"/>
            </a:endParaRPr>
          </a:p>
          <a:p>
            <a:pPr marL="285750" indent="-285750">
              <a:lnSpc>
                <a:spcPct val="170000"/>
              </a:lnSpc>
              <a:spcBef>
                <a:spcPts val="1000"/>
              </a:spcBef>
              <a:buFont typeface="Wingdings,sans-serif"/>
              <a:buChar char="ü"/>
            </a:pPr>
            <a:endParaRPr lang="en-US" sz="1600">
              <a:solidFill>
                <a:srgbClr val="2E4A9E"/>
              </a:solidFill>
              <a:latin typeface="Arial"/>
              <a:cs typeface="Arial"/>
            </a:endParaRPr>
          </a:p>
          <a:p>
            <a:pPr marL="285750" indent="-285750">
              <a:lnSpc>
                <a:spcPct val="170000"/>
              </a:lnSpc>
              <a:spcBef>
                <a:spcPts val="1000"/>
              </a:spcBef>
              <a:buFont typeface="Wingdings,sans-serif"/>
              <a:buChar char="ü"/>
            </a:pPr>
            <a:endParaRPr lang="en-US" sz="1600">
              <a:solidFill>
                <a:srgbClr val="2E4A9E"/>
              </a:solidFill>
              <a:latin typeface="Arial"/>
              <a:cs typeface="Arial"/>
            </a:endParaRPr>
          </a:p>
        </p:txBody>
      </p:sp>
      <p:sp>
        <p:nvSpPr>
          <p:cNvPr id="5" name="TextBox 4">
            <a:extLst>
              <a:ext uri="{FF2B5EF4-FFF2-40B4-BE49-F238E27FC236}">
                <a16:creationId xmlns:a16="http://schemas.microsoft.com/office/drawing/2014/main" id="{66C2D65C-81D5-C9D5-5634-275FCF02D5EF}"/>
              </a:ext>
            </a:extLst>
          </p:cNvPr>
          <p:cNvSpPr txBox="1"/>
          <p:nvPr/>
        </p:nvSpPr>
        <p:spPr>
          <a:xfrm>
            <a:off x="1370370" y="1524000"/>
            <a:ext cx="6673645" cy="3847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a:solidFill>
                  <a:srgbClr val="244B91"/>
                </a:solidFill>
                <a:latin typeface="Arial"/>
                <a:cs typeface="Arial"/>
              </a:rPr>
              <a:t>Key Takeaways from Kickoff Meeting</a:t>
            </a:r>
          </a:p>
        </p:txBody>
      </p:sp>
    </p:spTree>
    <p:extLst>
      <p:ext uri="{BB962C8B-B14F-4D97-AF65-F5344CB8AC3E}">
        <p14:creationId xmlns:p14="http://schemas.microsoft.com/office/powerpoint/2010/main" val="200889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05DD-FBDB-0E00-762F-6DD8FE557F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F7D7D-B53D-19BD-62C6-11FBAED560EF}"/>
              </a:ext>
            </a:extLst>
          </p:cNvPr>
          <p:cNvSpPr>
            <a:spLocks noGrp="1"/>
          </p:cNvSpPr>
          <p:nvPr>
            <p:ph type="sldNum" sz="quarter" idx="12"/>
          </p:nvPr>
        </p:nvSpPr>
        <p:spPr/>
        <p:txBody>
          <a:bodyPr/>
          <a:lstStyle/>
          <a:p>
            <a:r>
              <a:rPr lang="en-US">
                <a:latin typeface="Georgia"/>
              </a:rPr>
              <a:t>5</a:t>
            </a:r>
            <a:endParaRPr lang="en-US"/>
          </a:p>
        </p:txBody>
      </p:sp>
      <p:pic>
        <p:nvPicPr>
          <p:cNvPr id="8" name="Picture 7" descr="Yale Jackson School of Global Affairs - Wikipedia">
            <a:extLst>
              <a:ext uri="{FF2B5EF4-FFF2-40B4-BE49-F238E27FC236}">
                <a16:creationId xmlns:a16="http://schemas.microsoft.com/office/drawing/2014/main" id="{BD7290F2-6007-DA57-06FF-644A4C57D3F3}"/>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36D0C88E-6A20-4F00-FD03-09EE40594F01}"/>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7" name="Content Placeholder 2">
            <a:extLst>
              <a:ext uri="{FF2B5EF4-FFF2-40B4-BE49-F238E27FC236}">
                <a16:creationId xmlns:a16="http://schemas.microsoft.com/office/drawing/2014/main" id="{6C565970-4AF5-965A-E92C-9082EDB4FDA1}"/>
              </a:ext>
            </a:extLst>
          </p:cNvPr>
          <p:cNvSpPr>
            <a:spLocks noGrp="1"/>
          </p:cNvSpPr>
          <p:nvPr>
            <p:ph idx="1"/>
          </p:nvPr>
        </p:nvSpPr>
        <p:spPr>
          <a:xfrm>
            <a:off x="961018" y="1258507"/>
            <a:ext cx="9744549" cy="4873843"/>
          </a:xfrm>
          <a:solidFill>
            <a:srgbClr val="DDE7F8"/>
          </a:solidFill>
          <a:ln w="28575">
            <a:noFill/>
          </a:ln>
        </p:spPr>
        <p:txBody>
          <a:bodyPr vert="horz" lIns="91440" tIns="45720" rIns="91440" bIns="45720" rtlCol="0" anchor="t">
            <a:normAutofit fontScale="85000" lnSpcReduction="20000"/>
          </a:bodyPr>
          <a:lstStyle/>
          <a:p>
            <a:pPr marL="0" indent="0">
              <a:lnSpc>
                <a:spcPct val="120000"/>
              </a:lnSpc>
              <a:buNone/>
            </a:pPr>
            <a:r>
              <a:rPr lang="en-US" sz="1700" b="1" u="sng">
                <a:solidFill>
                  <a:srgbClr val="244B91"/>
                </a:solidFill>
                <a:latin typeface="Arial"/>
                <a:cs typeface="Arial"/>
              </a:rPr>
              <a:t>Finding 1: Cuts were uneven relative to need and capacity</a:t>
            </a:r>
            <a:endParaRPr lang="en-US"/>
          </a:p>
          <a:p>
            <a:pPr>
              <a:lnSpc>
                <a:spcPct val="120000"/>
              </a:lnSpc>
            </a:pPr>
            <a:r>
              <a:rPr lang="en-US" sz="1700">
                <a:solidFill>
                  <a:srgbClr val="244B91"/>
                </a:solidFill>
                <a:latin typeface="Arial"/>
                <a:cs typeface="Arial"/>
              </a:rPr>
              <a:t>Projected OECD cuts for 2026 averaged about 15% of last reported data, regardless of income or debt burden</a:t>
            </a:r>
          </a:p>
          <a:p>
            <a:pPr>
              <a:lnSpc>
                <a:spcPct val="120000"/>
              </a:lnSpc>
            </a:pPr>
            <a:r>
              <a:rPr lang="en-US" sz="1700" b="1">
                <a:solidFill>
                  <a:srgbClr val="244B91"/>
                </a:solidFill>
                <a:latin typeface="Arial"/>
                <a:cs typeface="Arial"/>
              </a:rPr>
              <a:t>Emerging Recommendation</a:t>
            </a:r>
            <a:r>
              <a:rPr lang="en-US" sz="1700">
                <a:solidFill>
                  <a:srgbClr val="244B91"/>
                </a:solidFill>
                <a:latin typeface="Arial"/>
                <a:cs typeface="Arial"/>
              </a:rPr>
              <a:t>: Aid reductions need to be tailored to each country’s need and ability to adapt</a:t>
            </a:r>
          </a:p>
          <a:p>
            <a:pPr marL="0" indent="0">
              <a:lnSpc>
                <a:spcPct val="120000"/>
              </a:lnSpc>
              <a:buNone/>
            </a:pPr>
            <a:r>
              <a:rPr lang="en-US" sz="1700" b="1" u="sng">
                <a:solidFill>
                  <a:srgbClr val="244B91"/>
                </a:solidFill>
                <a:latin typeface="Arial"/>
                <a:cs typeface="Arial"/>
              </a:rPr>
              <a:t>Finding 2: Domestic revenue growth is unlikely to resolve shortfalls</a:t>
            </a:r>
            <a:endParaRPr lang="en-US" b="1" u="sng"/>
          </a:p>
          <a:p>
            <a:pPr>
              <a:lnSpc>
                <a:spcPct val="120000"/>
              </a:lnSpc>
            </a:pPr>
            <a:r>
              <a:rPr lang="en-US" sz="1700">
                <a:solidFill>
                  <a:srgbClr val="244B91"/>
                </a:solidFill>
                <a:latin typeface="Arial"/>
                <a:cs typeface="Arial"/>
              </a:rPr>
              <a:t>Reaching max tax potential covers the decline in 51 of 66 countries. The other 15 also need to raise health’s share of the budget, which may prove to be difficult</a:t>
            </a:r>
          </a:p>
          <a:p>
            <a:pPr>
              <a:lnSpc>
                <a:spcPct val="120000"/>
              </a:lnSpc>
            </a:pPr>
            <a:r>
              <a:rPr lang="en-US" sz="1700">
                <a:solidFill>
                  <a:srgbClr val="244B91"/>
                </a:solidFill>
                <a:latin typeface="Arial"/>
                <a:cs typeface="Arial"/>
              </a:rPr>
              <a:t>Governments may also have reduced domestic health financing in response to aid cuts, which would widen the gap.</a:t>
            </a:r>
          </a:p>
          <a:p>
            <a:pPr>
              <a:lnSpc>
                <a:spcPct val="120000"/>
              </a:lnSpc>
            </a:pPr>
            <a:r>
              <a:rPr lang="en-US" sz="1600" b="1">
                <a:solidFill>
                  <a:srgbClr val="244B91"/>
                </a:solidFill>
                <a:latin typeface="Arial"/>
                <a:cs typeface="Arial"/>
              </a:rPr>
              <a:t>Emerging Recommendation</a:t>
            </a:r>
            <a:r>
              <a:rPr lang="en-US" sz="1700">
                <a:solidFill>
                  <a:srgbClr val="244B91"/>
                </a:solidFill>
                <a:latin typeface="Arial"/>
                <a:cs typeface="Arial"/>
              </a:rPr>
              <a:t>: Aid recipients should pursue both tax revenue efficiency and budget reprioritization</a:t>
            </a:r>
            <a:endParaRPr lang="en-US" sz="1600">
              <a:solidFill>
                <a:srgbClr val="244B91"/>
              </a:solidFill>
              <a:latin typeface="Arial"/>
              <a:cs typeface="Arial"/>
            </a:endParaRPr>
          </a:p>
          <a:p>
            <a:pPr>
              <a:lnSpc>
                <a:spcPct val="120000"/>
              </a:lnSpc>
            </a:pPr>
            <a:r>
              <a:rPr lang="en-US" sz="1600" b="1">
                <a:solidFill>
                  <a:srgbClr val="244B91"/>
                </a:solidFill>
                <a:latin typeface="Arial"/>
                <a:cs typeface="Arial"/>
              </a:rPr>
              <a:t>Emerging Recommendation</a:t>
            </a:r>
            <a:r>
              <a:rPr lang="en-US" sz="1600">
                <a:solidFill>
                  <a:srgbClr val="244B91"/>
                </a:solidFill>
                <a:latin typeface="Arial"/>
                <a:cs typeface="Arial"/>
              </a:rPr>
              <a:t>: Development banks and other lenders concerned with health should offer concessional loans tied to health expenditure to bridge the gap</a:t>
            </a:r>
          </a:p>
          <a:p>
            <a:pPr marL="0" indent="0">
              <a:lnSpc>
                <a:spcPct val="120000"/>
              </a:lnSpc>
              <a:buNone/>
            </a:pPr>
            <a:r>
              <a:rPr lang="en-US" sz="1700" b="1" u="sng">
                <a:solidFill>
                  <a:srgbClr val="244B91"/>
                </a:solidFill>
                <a:latin typeface="Arial"/>
                <a:cs typeface="Arial"/>
              </a:rPr>
              <a:t>Finding 3: Foreign dependency makes some programs and countries especially exposed</a:t>
            </a:r>
          </a:p>
          <a:p>
            <a:pPr>
              <a:lnSpc>
                <a:spcPct val="120000"/>
              </a:lnSpc>
            </a:pPr>
            <a:r>
              <a:rPr lang="en-US" sz="1700">
                <a:solidFill>
                  <a:srgbClr val="244B91"/>
                </a:solidFill>
                <a:latin typeface="Arial"/>
                <a:cs typeface="Arial"/>
              </a:rPr>
              <a:t>Programs like TB, malaria and HIV rely heavily on donor funds, and the US share of HIV treatment aid is 80% or more in 12 of 19 evaluated countries</a:t>
            </a:r>
          </a:p>
          <a:p>
            <a:pPr>
              <a:lnSpc>
                <a:spcPct val="120000"/>
              </a:lnSpc>
            </a:pPr>
            <a:r>
              <a:rPr lang="en-US" sz="1600" b="1">
                <a:solidFill>
                  <a:srgbClr val="244B91"/>
                </a:solidFill>
                <a:latin typeface="Arial"/>
                <a:cs typeface="Arial"/>
              </a:rPr>
              <a:t>Emerging Recommendation</a:t>
            </a:r>
            <a:r>
              <a:rPr lang="en-US" sz="1700">
                <a:solidFill>
                  <a:srgbClr val="244B91"/>
                </a:solidFill>
                <a:latin typeface="Arial"/>
                <a:cs typeface="Arial"/>
              </a:rPr>
              <a:t>: Remaining donor funds should targ</a:t>
            </a:r>
            <a:r>
              <a:rPr lang="en-US" sz="1600">
                <a:solidFill>
                  <a:srgbClr val="244B91"/>
                </a:solidFill>
                <a:latin typeface="Arial"/>
                <a:cs typeface="Arial"/>
              </a:rPr>
              <a:t>et programs unlikely to be adopted by domestic spending</a:t>
            </a:r>
          </a:p>
          <a:p>
            <a:pPr>
              <a:lnSpc>
                <a:spcPct val="120000"/>
              </a:lnSpc>
            </a:pPr>
            <a:endParaRPr lang="en-US" sz="1600">
              <a:solidFill>
                <a:srgbClr val="244B91"/>
              </a:solidFill>
              <a:latin typeface="Arial"/>
              <a:cs typeface="Arial"/>
            </a:endParaRPr>
          </a:p>
        </p:txBody>
      </p:sp>
      <p:sp>
        <p:nvSpPr>
          <p:cNvPr id="5" name="Title 1">
            <a:extLst>
              <a:ext uri="{FF2B5EF4-FFF2-40B4-BE49-F238E27FC236}">
                <a16:creationId xmlns:a16="http://schemas.microsoft.com/office/drawing/2014/main" id="{61B0C56D-EE3C-C0E2-40BA-5C37E5E9EA95}"/>
              </a:ext>
            </a:extLst>
          </p:cNvPr>
          <p:cNvSpPr txBox="1">
            <a:spLocks/>
          </p:cNvSpPr>
          <p:nvPr/>
        </p:nvSpPr>
        <p:spPr>
          <a:xfrm>
            <a:off x="-34642" y="-61975"/>
            <a:ext cx="12456680" cy="1010253"/>
          </a:xfrm>
          <a:prstGeom prst="rect">
            <a:avLst/>
          </a:prstGeom>
          <a:solidFill>
            <a:srgbClr val="1C3073"/>
          </a:solidFill>
          <a:ln w="57150">
            <a:solidFill>
              <a:srgbClr val="1B2F73"/>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Raleway" pitchFamily="2" charset="77"/>
                <a:ea typeface="+mj-ea"/>
                <a:cs typeface="+mj-cs"/>
              </a:defRPr>
            </a:lvl1pPr>
          </a:lstStyle>
          <a:p>
            <a:r>
              <a:rPr lang="en-US" sz="2800">
                <a:solidFill>
                  <a:schemeClr val="bg1"/>
                </a:solidFill>
                <a:latin typeface="Franklin Gothic Medium"/>
                <a:ea typeface="+mj-lt"/>
                <a:cs typeface="+mj-lt"/>
              </a:rPr>
              <a:t> Executive Summary</a:t>
            </a:r>
          </a:p>
        </p:txBody>
      </p:sp>
    </p:spTree>
    <p:extLst>
      <p:ext uri="{BB962C8B-B14F-4D97-AF65-F5344CB8AC3E}">
        <p14:creationId xmlns:p14="http://schemas.microsoft.com/office/powerpoint/2010/main" val="72589286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2F52A4"/>
            </a:gs>
            <a:gs pos="23000">
              <a:srgbClr val="0E245F"/>
            </a:gs>
          </a:gsLst>
          <a:lin ang="2700000" scaled="1"/>
          <a:tileRect/>
        </a:gradFill>
        <a:effectLst/>
      </p:bgPr>
    </p:bg>
    <p:spTree>
      <p:nvGrpSpPr>
        <p:cNvPr id="1" name="">
          <a:extLst>
            <a:ext uri="{FF2B5EF4-FFF2-40B4-BE49-F238E27FC236}">
              <a16:creationId xmlns:a16="http://schemas.microsoft.com/office/drawing/2014/main" id="{9F15BE8B-93FF-0588-ADBA-8FE2D72ED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2C665-B560-4590-8BEC-78C2D5010F2F}"/>
              </a:ext>
            </a:extLst>
          </p:cNvPr>
          <p:cNvSpPr>
            <a:spLocks noGrp="1"/>
          </p:cNvSpPr>
          <p:nvPr>
            <p:ph type="ctrTitle"/>
          </p:nvPr>
        </p:nvSpPr>
        <p:spPr>
          <a:xfrm>
            <a:off x="462049" y="3429000"/>
            <a:ext cx="9444908" cy="712432"/>
          </a:xfrm>
          <a:noFill/>
          <a:ln w="28575">
            <a:noFill/>
          </a:ln>
        </p:spPr>
        <p:txBody>
          <a:bodyPr vert="horz" lIns="91440" tIns="45720" rIns="91440" bIns="45720" rtlCol="0" anchor="b">
            <a:noAutofit/>
          </a:bodyPr>
          <a:lstStyle/>
          <a:p>
            <a:pPr algn="l"/>
            <a:r>
              <a:rPr lang="en-US">
                <a:solidFill>
                  <a:srgbClr val="FFFFFF"/>
                </a:solidFill>
                <a:latin typeface="Franklin Gothic"/>
                <a:ea typeface="+mj-lt"/>
                <a:cs typeface="Arial"/>
              </a:rPr>
              <a:t>OECD Aid Cut Projections </a:t>
            </a:r>
            <a:endParaRPr lang="en-US"/>
          </a:p>
        </p:txBody>
      </p:sp>
      <p:sp>
        <p:nvSpPr>
          <p:cNvPr id="3" name="Text 4">
            <a:extLst>
              <a:ext uri="{FF2B5EF4-FFF2-40B4-BE49-F238E27FC236}">
                <a16:creationId xmlns:a16="http://schemas.microsoft.com/office/drawing/2014/main" id="{B3564346-6817-5D22-14E0-E5E646153253}"/>
              </a:ext>
            </a:extLst>
          </p:cNvPr>
          <p:cNvSpPr txBox="1"/>
          <p:nvPr/>
        </p:nvSpPr>
        <p:spPr>
          <a:xfrm>
            <a:off x="548640" y="2266121"/>
            <a:ext cx="795130" cy="1003853"/>
          </a:xfrm>
          <a:prstGeom prst="rect">
            <a:avLst/>
          </a:prstGeom>
          <a:noFill/>
          <a:ln/>
        </p:spPr>
        <p:txBody>
          <a:bodyPr wrap="square" lIns="0" tIns="0" rIns="0" bIns="0" rtlCol="0" anchor="ctr"/>
          <a:lstStyle/>
          <a:p>
            <a:pPr marL="0" indent="0" algn="r">
              <a:buNone/>
            </a:pPr>
            <a:r>
              <a:rPr lang="en-US" sz="5400">
                <a:solidFill>
                  <a:srgbClr val="8FA8E0"/>
                </a:solidFill>
                <a:latin typeface="Arial"/>
                <a:cs typeface="Arial"/>
              </a:rPr>
              <a:t>02</a:t>
            </a:r>
            <a:endParaRPr lang="en-US" sz="5400">
              <a:solidFill>
                <a:srgbClr val="8FA8E0"/>
              </a:solidFill>
            </a:endParaRPr>
          </a:p>
        </p:txBody>
      </p:sp>
      <p:pic>
        <p:nvPicPr>
          <p:cNvPr id="4" name="Image 1" descr="logo_white.png">
            <a:extLst>
              <a:ext uri="{FF2B5EF4-FFF2-40B4-BE49-F238E27FC236}">
                <a16:creationId xmlns:a16="http://schemas.microsoft.com/office/drawing/2014/main" id="{EB869524-1CE5-76E5-3531-E3080AC458D0}"/>
              </a:ext>
            </a:extLst>
          </p:cNvPr>
          <p:cNvPicPr>
            <a:picLocks noChangeAspect="1"/>
          </p:cNvPicPr>
          <p:nvPr/>
        </p:nvPicPr>
        <p:blipFill>
          <a:blip r:embed="rId2"/>
          <a:stretch>
            <a:fillRect/>
          </a:stretch>
        </p:blipFill>
        <p:spPr>
          <a:xfrm>
            <a:off x="548640" y="5943600"/>
            <a:ext cx="2377440" cy="394269"/>
          </a:xfrm>
          <a:prstGeom prst="rect">
            <a:avLst/>
          </a:prstGeom>
        </p:spPr>
      </p:pic>
    </p:spTree>
    <p:extLst>
      <p:ext uri="{BB962C8B-B14F-4D97-AF65-F5344CB8AC3E}">
        <p14:creationId xmlns:p14="http://schemas.microsoft.com/office/powerpoint/2010/main" val="972054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E7A9B-E5FD-771E-27F7-B090662EB4AC}"/>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ext 1">
            <a:extLst>
              <a:ext uri="{FF2B5EF4-FFF2-40B4-BE49-F238E27FC236}">
                <a16:creationId xmlns:a16="http://schemas.microsoft.com/office/drawing/2014/main" id="{3B1F9843-5C36-BDBB-1976-F09BE04BDD3A}"/>
              </a:ext>
            </a:extLst>
          </p:cNvPr>
          <p:cNvSpPr txBox="1">
            <a:spLocks/>
          </p:cNvSpPr>
          <p:nvPr/>
        </p:nvSpPr>
        <p:spPr>
          <a:xfrm>
            <a:off x="0" y="0"/>
            <a:ext cx="12192000" cy="1054100"/>
          </a:xfrm>
          <a:prstGeom prst="rect">
            <a:avLst/>
          </a:prstGeom>
          <a:solidFill>
            <a:srgbClr val="1B2F73"/>
          </a:solidFill>
          <a:ln>
            <a:solidFill>
              <a:srgbClr val="244B91"/>
            </a:solidFill>
          </a:ln>
        </p:spPr>
        <p:txBody>
          <a:bodyPr vert="horz" wrap="square" lIns="127000" tIns="0" rIns="127000" bIns="0" rtlCol="0" anchor="ctr">
            <a:normAutofit/>
          </a:bodyPr>
          <a:lstStyle>
            <a:lvl1pPr algn="l" defTabSz="914400" rtl="0" eaLnBrk="1" latinLnBrk="0" hangingPunct="1">
              <a:lnSpc>
                <a:spcPct val="90000"/>
              </a:lnSpc>
              <a:spcBef>
                <a:spcPct val="0"/>
              </a:spcBef>
              <a:buNone/>
              <a:defRPr sz="4400" kern="1200">
                <a:solidFill>
                  <a:schemeClr val="tx1"/>
                </a:solidFill>
                <a:latin typeface="Raleway" pitchFamily="2" charset="77"/>
                <a:ea typeface="+mj-ea"/>
                <a:cs typeface="+mj-cs"/>
              </a:defRPr>
            </a:lvl1pPr>
          </a:lstStyle>
          <a:p>
            <a:pPr>
              <a:lnSpc>
                <a:spcPts val="3520"/>
              </a:lnSpc>
            </a:pPr>
            <a:r>
              <a:rPr lang="en-US" sz="3200" b="1">
                <a:solidFill>
                  <a:srgbClr val="FFFFFF"/>
                </a:solidFill>
                <a:latin typeface="Arial"/>
                <a:cs typeface="Arial"/>
              </a:rPr>
              <a:t>Title</a:t>
            </a:r>
          </a:p>
        </p:txBody>
      </p:sp>
      <p:sp>
        <p:nvSpPr>
          <p:cNvPr id="8" name="Title 1">
            <a:extLst>
              <a:ext uri="{FF2B5EF4-FFF2-40B4-BE49-F238E27FC236}">
                <a16:creationId xmlns:a16="http://schemas.microsoft.com/office/drawing/2014/main" id="{4285918B-0D88-CC73-E916-D0DE175A5467}"/>
              </a:ext>
            </a:extLst>
          </p:cNvPr>
          <p:cNvSpPr txBox="1">
            <a:spLocks/>
          </p:cNvSpPr>
          <p:nvPr/>
        </p:nvSpPr>
        <p:spPr>
          <a:xfrm>
            <a:off x="828011" y="5442689"/>
            <a:ext cx="10528241" cy="666263"/>
          </a:xfrm>
          <a:prstGeom prst="rect">
            <a:avLst/>
          </a:prstGeom>
          <a:solidFill>
            <a:srgbClr val="DDE7F8"/>
          </a:solidFill>
          <a:ln w="28575">
            <a:noFill/>
          </a:ln>
        </p:spPr>
        <p:txBody>
          <a:bodyPr vert="horz" lIns="91440" tIns="45720" rIns="91440" bIns="45720" rtlCol="0" anchor="t">
            <a:noAutofit/>
          </a:bodyPr>
          <a:lstStyle>
            <a:lvl1pPr indent="0">
              <a:lnSpc>
                <a:spcPct val="170000"/>
              </a:lnSpc>
              <a:spcBef>
                <a:spcPts val="1000"/>
              </a:spcBef>
              <a:buFont typeface="Arial" panose="020B0604020202020204" pitchFamily="34" charset="0"/>
              <a:buNone/>
              <a:defRPr sz="2400" b="1">
                <a:solidFill>
                  <a:srgbClr val="244B9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atin typeface="Raleway" pitchFamily="2" charset="77"/>
              </a:defRPr>
            </a:lvl2pPr>
            <a:lvl3pPr marL="1143000" indent="-228600">
              <a:lnSpc>
                <a:spcPct val="90000"/>
              </a:lnSpc>
              <a:spcBef>
                <a:spcPts val="500"/>
              </a:spcBef>
              <a:buFont typeface="Arial" panose="020B0604020202020204" pitchFamily="34" charset="0"/>
              <a:buChar char="•"/>
              <a:defRPr sz="2000">
                <a:latin typeface="Raleway" pitchFamily="2" charset="77"/>
              </a:defRPr>
            </a:lvl3pPr>
            <a:lvl4pPr marL="1600200" indent="-228600">
              <a:lnSpc>
                <a:spcPct val="90000"/>
              </a:lnSpc>
              <a:spcBef>
                <a:spcPts val="500"/>
              </a:spcBef>
              <a:buFont typeface="Arial" panose="020B0604020202020204" pitchFamily="34" charset="0"/>
              <a:buChar char="•"/>
              <a:defRPr>
                <a:latin typeface="Raleway" pitchFamily="2" charset="77"/>
              </a:defRPr>
            </a:lvl4pPr>
            <a:lvl5pPr marL="2057400" indent="-228600">
              <a:lnSpc>
                <a:spcPct val="90000"/>
              </a:lnSpc>
              <a:spcBef>
                <a:spcPts val="500"/>
              </a:spcBef>
              <a:buFont typeface="Arial" panose="020B0604020202020204" pitchFamily="34" charset="0"/>
              <a:buChar char="•"/>
              <a:defRPr>
                <a:latin typeface="Raleway"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sz="1200" b="0">
                <a:latin typeface="Arial"/>
                <a:cs typeface="Arial"/>
              </a:rPr>
              <a:t>Blurb </a:t>
            </a:r>
            <a:endParaRPr lang="en-US"/>
          </a:p>
        </p:txBody>
      </p:sp>
    </p:spTree>
    <p:extLst>
      <p:ext uri="{BB962C8B-B14F-4D97-AF65-F5344CB8AC3E}">
        <p14:creationId xmlns:p14="http://schemas.microsoft.com/office/powerpoint/2010/main" val="619983312"/>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54100"/>
          </a:xfrm>
          <a:prstGeom prst="rect">
            <a:avLst/>
          </a:prstGeom>
          <a:solidFill>
            <a:srgbClr val="21306F"/>
          </a:solidFill>
          <a:ln/>
        </p:spPr>
        <p:txBody>
          <a:bodyPr/>
          <a:lstStyle/>
          <a:p>
            <a:endParaRPr lang="en-US"/>
          </a:p>
        </p:txBody>
      </p:sp>
      <p:sp>
        <p:nvSpPr>
          <p:cNvPr id="3" name="Text 1"/>
          <p:cNvSpPr>
            <a:spLocks noGrp="1"/>
          </p:cNvSpPr>
          <p:nvPr>
            <p:ph type="title"/>
          </p:nvPr>
        </p:nvSpPr>
        <p:spPr>
          <a:xfrm>
            <a:off x="0" y="0"/>
            <a:ext cx="12192000" cy="1054100"/>
          </a:xfrm>
          <a:prstGeom prst="rect">
            <a:avLst/>
          </a:prstGeom>
          <a:noFill/>
          <a:ln/>
        </p:spPr>
        <p:txBody>
          <a:bodyPr wrap="square" lIns="127000" tIns="0" rIns="127000" bIns="0" rtlCol="0" anchor="ctr">
            <a:normAutofit/>
          </a:bodyPr>
          <a:lstStyle/>
          <a:p>
            <a:pPr marL="0" indent="0" algn="l">
              <a:lnSpc>
                <a:spcPts val="3520"/>
              </a:lnSpc>
              <a:buNone/>
            </a:pPr>
            <a:r>
              <a:rPr lang="en-US" sz="3200" b="1" i="0">
                <a:solidFill>
                  <a:srgbClr val="FFFFFF"/>
                </a:solidFill>
                <a:latin typeface="Arial" pitchFamily="34" charset="0"/>
                <a:ea typeface="Arial" pitchFamily="34" charset="-122"/>
                <a:cs typeface="Arial" pitchFamily="34" charset="-120"/>
              </a:rPr>
              <a:t>How we built the projections</a:t>
            </a:r>
            <a:endParaRPr lang="en-US" sz="3200"/>
          </a:p>
        </p:txBody>
      </p:sp>
      <p:sp>
        <p:nvSpPr>
          <p:cNvPr id="4" name="Text 2"/>
          <p:cNvSpPr/>
          <p:nvPr/>
        </p:nvSpPr>
        <p:spPr>
          <a:xfrm>
            <a:off x="736600" y="5360690"/>
            <a:ext cx="10674350" cy="736600"/>
          </a:xfrm>
          <a:prstGeom prst="rect">
            <a:avLst/>
          </a:prstGeom>
          <a:solidFill>
            <a:srgbClr val="DFE7F7"/>
          </a:solidFill>
          <a:ln/>
        </p:spPr>
        <p:txBody>
          <a:bodyPr wrap="square" lIns="254000" tIns="0" rIns="0" bIns="0" rtlCol="0" anchor="ctr">
            <a:normAutofit/>
          </a:bodyPr>
          <a:lstStyle/>
          <a:p>
            <a:pPr marL="0" indent="0" algn="l">
              <a:lnSpc>
                <a:spcPts val="1820"/>
              </a:lnSpc>
              <a:buNone/>
            </a:pPr>
            <a:r>
              <a:rPr lang="en-US" sz="1400" b="1">
                <a:solidFill>
                  <a:srgbClr val="21306F"/>
                </a:solidFill>
                <a:latin typeface="Arial" pitchFamily="34" charset="0"/>
                <a:ea typeface="Arial" pitchFamily="34" charset="-122"/>
                <a:cs typeface="Arial" pitchFamily="34" charset="-120"/>
              </a:rPr>
              <a:t>54% of the projected cut comes from step 2’s country-specific announcements.</a:t>
            </a:r>
            <a:r>
              <a:rPr lang="en-US" sz="1400">
                <a:solidFill>
                  <a:srgbClr val="21306F"/>
                </a:solidFill>
                <a:latin typeface="Arial" pitchFamily="34" charset="0"/>
                <a:ea typeface="Arial" pitchFamily="34" charset="-122"/>
                <a:cs typeface="Arial" pitchFamily="34" charset="-120"/>
              </a:rPr>
              <a:t> The rest comes is accounted for in step 3, where we know the donor’s total cut, but not which countries lose it.</a:t>
            </a:r>
            <a:endParaRPr lang="en-US" sz="1400"/>
          </a:p>
        </p:txBody>
      </p:sp>
      <p:pic>
        <p:nvPicPr>
          <p:cNvPr id="5" name="Image 0" descr="Yale Jackson School of Global Affairs"/>
          <p:cNvPicPr>
            <a:picLocks noChangeAspect="1"/>
          </p:cNvPicPr>
          <p:nvPr/>
        </p:nvPicPr>
        <p:blipFill>
          <a:blip r:embed="rId3"/>
          <a:srcRect/>
          <a:stretch/>
        </p:blipFill>
        <p:spPr>
          <a:xfrm>
            <a:off x="342900" y="6210300"/>
            <a:ext cx="2851150" cy="571500"/>
          </a:xfrm>
          <a:prstGeom prst="rect">
            <a:avLst/>
          </a:prstGeom>
        </p:spPr>
      </p:pic>
      <p:sp>
        <p:nvSpPr>
          <p:cNvPr id="6" name="Text 3"/>
          <p:cNvSpPr/>
          <p:nvPr/>
        </p:nvSpPr>
        <p:spPr>
          <a:xfrm>
            <a:off x="10617200" y="6426200"/>
            <a:ext cx="685800" cy="274290"/>
          </a:xfrm>
          <a:prstGeom prst="rect">
            <a:avLst/>
          </a:prstGeom>
          <a:noFill/>
          <a:ln/>
        </p:spPr>
        <p:txBody>
          <a:bodyPr wrap="square" lIns="0" tIns="0" rIns="0" bIns="0" rtlCol="0" anchor="t">
            <a:normAutofit/>
          </a:bodyPr>
          <a:lstStyle/>
          <a:p>
            <a:pPr marL="0" indent="0" algn="r">
              <a:lnSpc>
                <a:spcPts val="1960"/>
              </a:lnSpc>
              <a:buNone/>
            </a:pPr>
            <a:r>
              <a:rPr lang="en-US" sz="1400">
                <a:solidFill>
                  <a:srgbClr val="6B6B6B"/>
                </a:solidFill>
                <a:latin typeface="Georgia"/>
              </a:rPr>
              <a:t>8</a:t>
            </a:r>
          </a:p>
        </p:txBody>
      </p:sp>
      <p:sp>
        <p:nvSpPr>
          <p:cNvPr id="7" name="Text 4"/>
          <p:cNvSpPr/>
          <p:nvPr/>
        </p:nvSpPr>
        <p:spPr>
          <a:xfrm>
            <a:off x="781050" y="1270000"/>
            <a:ext cx="10948797" cy="273050"/>
          </a:xfrm>
          <a:prstGeom prst="rect">
            <a:avLst/>
          </a:prstGeom>
          <a:noFill/>
          <a:ln/>
        </p:spPr>
        <p:txBody>
          <a:bodyPr wrap="square" lIns="0" tIns="0" rIns="0" bIns="0" rtlCol="0" anchor="t">
            <a:normAutofit/>
          </a:bodyPr>
          <a:lstStyle/>
          <a:p>
            <a:pPr marL="0" indent="0" algn="l">
              <a:lnSpc>
                <a:spcPts val="1950"/>
              </a:lnSpc>
              <a:buNone/>
            </a:pPr>
            <a:r>
              <a:rPr lang="en-US" sz="1500" b="1">
                <a:solidFill>
                  <a:srgbClr val="21306F"/>
                </a:solidFill>
                <a:latin typeface="Arial" pitchFamily="34" charset="0"/>
                <a:ea typeface="Arial" pitchFamily="34" charset="-122"/>
                <a:cs typeface="Arial" pitchFamily="34" charset="-120"/>
              </a:rPr>
              <a:t>Projected aid = 2023 aid × a multiplier</a:t>
            </a:r>
            <a:r>
              <a:rPr lang="en-US" sz="1500">
                <a:solidFill>
                  <a:srgbClr val="21306F"/>
                </a:solidFill>
                <a:latin typeface="Arial" pitchFamily="34" charset="0"/>
                <a:ea typeface="Arial" pitchFamily="34" charset="-122"/>
                <a:cs typeface="Arial" pitchFamily="34" charset="-120"/>
              </a:rPr>
              <a:t> </a:t>
            </a:r>
            <a:r>
              <a:rPr lang="en-US" sz="1500">
                <a:solidFill>
                  <a:srgbClr val="4A5268"/>
                </a:solidFill>
                <a:latin typeface="Arial" pitchFamily="34" charset="0"/>
                <a:ea typeface="Arial" pitchFamily="34" charset="-122"/>
                <a:cs typeface="Arial" pitchFamily="34" charset="-120"/>
              </a:rPr>
              <a:t>(0.8 means 80% of the money is left, a 20% cut)</a:t>
            </a:r>
            <a:endParaRPr lang="en-US" sz="1500"/>
          </a:p>
        </p:txBody>
      </p:sp>
      <p:sp>
        <p:nvSpPr>
          <p:cNvPr id="8" name="Shape 5"/>
          <p:cNvSpPr/>
          <p:nvPr/>
        </p:nvSpPr>
        <p:spPr>
          <a:xfrm>
            <a:off x="781050" y="1625600"/>
            <a:ext cx="10629900" cy="0"/>
          </a:xfrm>
          <a:prstGeom prst="line">
            <a:avLst/>
          </a:prstGeom>
          <a:noFill/>
          <a:ln w="12700">
            <a:solidFill>
              <a:srgbClr val="21306F"/>
            </a:solidFill>
            <a:prstDash val="solid"/>
          </a:ln>
        </p:spPr>
        <p:txBody>
          <a:bodyPr/>
          <a:lstStyle/>
          <a:p>
            <a:endParaRPr lang="en-US"/>
          </a:p>
        </p:txBody>
      </p:sp>
      <p:sp>
        <p:nvSpPr>
          <p:cNvPr id="9" name="Shape 6"/>
          <p:cNvSpPr/>
          <p:nvPr/>
        </p:nvSpPr>
        <p:spPr>
          <a:xfrm>
            <a:off x="781050" y="2325985"/>
            <a:ext cx="10629900" cy="0"/>
          </a:xfrm>
          <a:prstGeom prst="line">
            <a:avLst/>
          </a:prstGeom>
          <a:noFill/>
          <a:ln w="6350">
            <a:solidFill>
              <a:srgbClr val="C9D3EA"/>
            </a:solidFill>
            <a:prstDash val="solid"/>
          </a:ln>
        </p:spPr>
        <p:txBody>
          <a:bodyPr/>
          <a:lstStyle/>
          <a:p>
            <a:endParaRPr lang="en-US"/>
          </a:p>
        </p:txBody>
      </p:sp>
      <p:sp>
        <p:nvSpPr>
          <p:cNvPr id="10" name="Text 7"/>
          <p:cNvSpPr/>
          <p:nvPr/>
        </p:nvSpPr>
        <p:spPr>
          <a:xfrm>
            <a:off x="781050" y="1799580"/>
            <a:ext cx="355600" cy="355600"/>
          </a:xfrm>
          <a:prstGeom prst="roundRect">
            <a:avLst>
              <a:gd name="adj" fmla="val 50000"/>
            </a:avLst>
          </a:prstGeom>
          <a:solidFill>
            <a:srgbClr val="21306F"/>
          </a:solidFill>
          <a:ln/>
        </p:spPr>
        <p:txBody>
          <a:bodyPr wrap="square" lIns="0" tIns="0" rIns="0" bIns="0" rtlCol="0" anchor="ctr">
            <a:normAutofit/>
          </a:bodyPr>
          <a:lstStyle/>
          <a:p>
            <a:pPr marL="0" indent="0" algn="ctr">
              <a:lnSpc>
                <a:spcPts val="1820"/>
              </a:lnSpc>
              <a:buNone/>
            </a:pPr>
            <a:r>
              <a:rPr lang="en-US" sz="1300" b="1">
                <a:solidFill>
                  <a:srgbClr val="FFFFFF"/>
                </a:solidFill>
                <a:latin typeface="Arial" pitchFamily="34" charset="0"/>
                <a:ea typeface="Arial" pitchFamily="34" charset="-122"/>
                <a:cs typeface="Arial" pitchFamily="34" charset="-120"/>
              </a:rPr>
              <a:t>1</a:t>
            </a:r>
            <a:endParaRPr lang="en-US" sz="1300"/>
          </a:p>
        </p:txBody>
      </p:sp>
      <p:sp>
        <p:nvSpPr>
          <p:cNvPr id="11" name="Text 8"/>
          <p:cNvSpPr/>
          <p:nvPr/>
        </p:nvSpPr>
        <p:spPr>
          <a:xfrm>
            <a:off x="1314450" y="1863080"/>
            <a:ext cx="16383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21306F"/>
                </a:solidFill>
                <a:latin typeface="Arial" pitchFamily="34" charset="0"/>
                <a:ea typeface="Arial" pitchFamily="34" charset="-122"/>
                <a:cs typeface="Arial" pitchFamily="34" charset="-120"/>
              </a:rPr>
              <a:t>Baseline</a:t>
            </a:r>
            <a:endParaRPr lang="en-US" sz="1500"/>
          </a:p>
        </p:txBody>
      </p:sp>
      <p:sp>
        <p:nvSpPr>
          <p:cNvPr id="12" name="Text 9"/>
          <p:cNvSpPr/>
          <p:nvPr/>
        </p:nvSpPr>
        <p:spPr>
          <a:xfrm>
            <a:off x="3079750" y="1771650"/>
            <a:ext cx="4970780" cy="436860"/>
          </a:xfrm>
          <a:prstGeom prst="rect">
            <a:avLst/>
          </a:prstGeom>
          <a:noFill/>
          <a:ln/>
        </p:spPr>
        <p:txBody>
          <a:bodyPr wrap="square" lIns="0" tIns="0" rIns="0" bIns="0" rtlCol="0" anchor="t">
            <a:normAutofit/>
          </a:bodyPr>
          <a:lstStyle/>
          <a:p>
            <a:pPr marL="0" indent="0" algn="l">
              <a:lnSpc>
                <a:spcPts val="1620"/>
              </a:lnSpc>
              <a:buNone/>
            </a:pPr>
            <a:r>
              <a:rPr lang="en-US" sz="1200">
                <a:solidFill>
                  <a:srgbClr val="3A4258"/>
                </a:solidFill>
                <a:latin typeface="Arial" pitchFamily="34" charset="0"/>
                <a:ea typeface="Arial" pitchFamily="34" charset="-122"/>
                <a:cs typeface="Arial" pitchFamily="34" charset="-120"/>
              </a:rPr>
              <a:t>Split 2023 health aid ($27.6B, IHME) into ~20,500 pieces: one donor, one country, one channel.</a:t>
            </a:r>
            <a:endParaRPr lang="en-US" sz="1200"/>
          </a:p>
        </p:txBody>
      </p:sp>
      <p:sp>
        <p:nvSpPr>
          <p:cNvPr id="13" name="Text 10"/>
          <p:cNvSpPr/>
          <p:nvPr/>
        </p:nvSpPr>
        <p:spPr>
          <a:xfrm>
            <a:off x="8083550" y="1695450"/>
            <a:ext cx="3327400" cy="563860"/>
          </a:xfrm>
          <a:prstGeom prst="rect">
            <a:avLst/>
          </a:prstGeom>
          <a:solidFill>
            <a:srgbClr val="F6F8FC"/>
          </a:solidFill>
          <a:ln/>
        </p:spPr>
        <p:txBody>
          <a:bodyPr wrap="square" lIns="139700" tIns="76200" rIns="22098" bIns="50800" rtlCol="0" anchor="t">
            <a:normAutofit/>
          </a:bodyPr>
          <a:lstStyle/>
          <a:p>
            <a:pPr marL="0" indent="0" algn="l">
              <a:lnSpc>
                <a:spcPts val="1620"/>
              </a:lnSpc>
              <a:buNone/>
            </a:pPr>
            <a:r>
              <a:rPr lang="en-US" sz="1200" b="1">
                <a:solidFill>
                  <a:srgbClr val="3A4258"/>
                </a:solidFill>
                <a:latin typeface="Arial" pitchFamily="34" charset="0"/>
                <a:ea typeface="Arial" pitchFamily="34" charset="-122"/>
                <a:cs typeface="Arial" pitchFamily="34" charset="-120"/>
              </a:rPr>
              <a:t>e.g.</a:t>
            </a:r>
            <a:r>
              <a:rPr lang="en-US" sz="1200">
                <a:solidFill>
                  <a:srgbClr val="3A4258"/>
                </a:solidFill>
                <a:latin typeface="Arial" pitchFamily="34" charset="0"/>
                <a:ea typeface="Arial" pitchFamily="34" charset="-122"/>
                <a:cs typeface="Arial" pitchFamily="34" charset="-120"/>
              </a:rPr>
              <a:t> “UK → Kenya via the Global Fund” is one piece.</a:t>
            </a:r>
            <a:endParaRPr lang="en-US" sz="1200"/>
          </a:p>
        </p:txBody>
      </p:sp>
      <p:sp>
        <p:nvSpPr>
          <p:cNvPr id="14" name="Shape 11"/>
          <p:cNvSpPr/>
          <p:nvPr/>
        </p:nvSpPr>
        <p:spPr>
          <a:xfrm>
            <a:off x="8096250" y="1695450"/>
            <a:ext cx="0" cy="563860"/>
          </a:xfrm>
          <a:prstGeom prst="line">
            <a:avLst/>
          </a:prstGeom>
          <a:noFill/>
          <a:ln w="25400">
            <a:solidFill>
              <a:srgbClr val="3D63B0"/>
            </a:solidFill>
            <a:prstDash val="solid"/>
          </a:ln>
        </p:spPr>
        <p:txBody>
          <a:bodyPr/>
          <a:lstStyle/>
          <a:p>
            <a:endParaRPr lang="en-US"/>
          </a:p>
        </p:txBody>
      </p:sp>
      <p:sp>
        <p:nvSpPr>
          <p:cNvPr id="15" name="Shape 12"/>
          <p:cNvSpPr/>
          <p:nvPr/>
        </p:nvSpPr>
        <p:spPr>
          <a:xfrm>
            <a:off x="781050" y="3023195"/>
            <a:ext cx="10629900" cy="0"/>
          </a:xfrm>
          <a:prstGeom prst="line">
            <a:avLst/>
          </a:prstGeom>
          <a:noFill/>
          <a:ln w="6350">
            <a:solidFill>
              <a:srgbClr val="C9D3EA"/>
            </a:solidFill>
            <a:prstDash val="solid"/>
          </a:ln>
        </p:spPr>
        <p:txBody>
          <a:bodyPr/>
          <a:lstStyle/>
          <a:p>
            <a:endParaRPr lang="en-US"/>
          </a:p>
        </p:txBody>
      </p:sp>
      <p:sp>
        <p:nvSpPr>
          <p:cNvPr id="16" name="Text 13"/>
          <p:cNvSpPr/>
          <p:nvPr/>
        </p:nvSpPr>
        <p:spPr>
          <a:xfrm>
            <a:off x="781050" y="2496790"/>
            <a:ext cx="355600" cy="355600"/>
          </a:xfrm>
          <a:prstGeom prst="roundRect">
            <a:avLst>
              <a:gd name="adj" fmla="val 50000"/>
            </a:avLst>
          </a:prstGeom>
          <a:solidFill>
            <a:srgbClr val="21306F"/>
          </a:solidFill>
          <a:ln/>
        </p:spPr>
        <p:txBody>
          <a:bodyPr wrap="square" lIns="0" tIns="0" rIns="0" bIns="0" rtlCol="0" anchor="ctr">
            <a:normAutofit/>
          </a:bodyPr>
          <a:lstStyle/>
          <a:p>
            <a:pPr marL="0" indent="0" algn="ctr">
              <a:lnSpc>
                <a:spcPts val="1820"/>
              </a:lnSpc>
              <a:buNone/>
            </a:pPr>
            <a:r>
              <a:rPr lang="en-US" sz="1300" b="1">
                <a:solidFill>
                  <a:srgbClr val="FFFFFF"/>
                </a:solidFill>
                <a:latin typeface="Arial" pitchFamily="34" charset="0"/>
                <a:ea typeface="Arial" pitchFamily="34" charset="-122"/>
                <a:cs typeface="Arial" pitchFamily="34" charset="-120"/>
              </a:rPr>
              <a:t>2</a:t>
            </a:r>
            <a:endParaRPr lang="en-US" sz="1300"/>
          </a:p>
        </p:txBody>
      </p:sp>
      <p:sp>
        <p:nvSpPr>
          <p:cNvPr id="17" name="Text 14"/>
          <p:cNvSpPr/>
          <p:nvPr/>
        </p:nvSpPr>
        <p:spPr>
          <a:xfrm>
            <a:off x="1314450" y="2560290"/>
            <a:ext cx="16383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21306F"/>
                </a:solidFill>
                <a:latin typeface="Arial" pitchFamily="34" charset="0"/>
                <a:cs typeface="Arial" pitchFamily="34" charset="-120"/>
              </a:rPr>
              <a:t>Announcements</a:t>
            </a:r>
            <a:endParaRPr lang="en-US" sz="1500"/>
          </a:p>
        </p:txBody>
      </p:sp>
      <p:sp>
        <p:nvSpPr>
          <p:cNvPr id="18" name="Text 15"/>
          <p:cNvSpPr/>
          <p:nvPr/>
        </p:nvSpPr>
        <p:spPr>
          <a:xfrm>
            <a:off x="3079750" y="2468860"/>
            <a:ext cx="4970780" cy="436860"/>
          </a:xfrm>
          <a:prstGeom prst="rect">
            <a:avLst/>
          </a:prstGeom>
          <a:noFill/>
          <a:ln/>
        </p:spPr>
        <p:txBody>
          <a:bodyPr wrap="square" lIns="0" tIns="0" rIns="0" bIns="0" rtlCol="0" anchor="t">
            <a:normAutofit/>
          </a:bodyPr>
          <a:lstStyle/>
          <a:p>
            <a:pPr marL="0" indent="0" algn="l">
              <a:lnSpc>
                <a:spcPts val="1620"/>
              </a:lnSpc>
              <a:buNone/>
            </a:pPr>
            <a:r>
              <a:rPr lang="en-US" sz="1200">
                <a:solidFill>
                  <a:srgbClr val="3A4258"/>
                </a:solidFill>
                <a:latin typeface="Arial" pitchFamily="34" charset="0"/>
                <a:ea typeface="Arial" pitchFamily="34" charset="-122"/>
                <a:cs typeface="Arial" pitchFamily="34" charset="-120"/>
              </a:rPr>
              <a:t>Where an announcement exists, it decides the multiplier: US deals, Global Fund, Gavi, UK and Australian budgets, named exits.</a:t>
            </a:r>
            <a:endParaRPr lang="en-US" sz="1200"/>
          </a:p>
        </p:txBody>
      </p:sp>
      <p:sp>
        <p:nvSpPr>
          <p:cNvPr id="19" name="Text 16"/>
          <p:cNvSpPr/>
          <p:nvPr/>
        </p:nvSpPr>
        <p:spPr>
          <a:xfrm>
            <a:off x="8083550" y="2392660"/>
            <a:ext cx="3327400" cy="563860"/>
          </a:xfrm>
          <a:prstGeom prst="rect">
            <a:avLst/>
          </a:prstGeom>
          <a:solidFill>
            <a:srgbClr val="F6F8FC"/>
          </a:solidFill>
          <a:ln/>
        </p:spPr>
        <p:txBody>
          <a:bodyPr wrap="square" lIns="139700" tIns="76200" rIns="22098" bIns="50800" rtlCol="0" anchor="t">
            <a:normAutofit/>
          </a:bodyPr>
          <a:lstStyle/>
          <a:p>
            <a:pPr marL="0" indent="0" algn="l">
              <a:lnSpc>
                <a:spcPts val="1620"/>
              </a:lnSpc>
              <a:buNone/>
            </a:pPr>
            <a:r>
              <a:rPr lang="en-US" sz="1200" b="1">
                <a:solidFill>
                  <a:srgbClr val="3A4258"/>
                </a:solidFill>
                <a:latin typeface="Arial" pitchFamily="34" charset="0"/>
                <a:ea typeface="Arial" pitchFamily="34" charset="-122"/>
                <a:cs typeface="Arial" pitchFamily="34" charset="-120"/>
              </a:rPr>
              <a:t>e.g.</a:t>
            </a:r>
            <a:r>
              <a:rPr lang="en-US" sz="1200">
                <a:solidFill>
                  <a:srgbClr val="3A4258"/>
                </a:solidFill>
                <a:latin typeface="Arial" pitchFamily="34" charset="0"/>
                <a:ea typeface="Arial" pitchFamily="34" charset="-122"/>
                <a:cs typeface="Arial" pitchFamily="34" charset="-120"/>
              </a:rPr>
              <a:t> The US–Zambia health deal sets US aid to Zambia.</a:t>
            </a:r>
            <a:endParaRPr lang="en-US" sz="1200"/>
          </a:p>
        </p:txBody>
      </p:sp>
      <p:sp>
        <p:nvSpPr>
          <p:cNvPr id="20" name="Shape 17"/>
          <p:cNvSpPr/>
          <p:nvPr/>
        </p:nvSpPr>
        <p:spPr>
          <a:xfrm>
            <a:off x="8096250" y="2392660"/>
            <a:ext cx="0" cy="563860"/>
          </a:xfrm>
          <a:prstGeom prst="line">
            <a:avLst/>
          </a:prstGeom>
          <a:noFill/>
          <a:ln w="25400">
            <a:solidFill>
              <a:srgbClr val="3D63B0"/>
            </a:solidFill>
            <a:prstDash val="solid"/>
          </a:ln>
        </p:spPr>
        <p:txBody>
          <a:bodyPr/>
          <a:lstStyle/>
          <a:p>
            <a:endParaRPr lang="en-US"/>
          </a:p>
        </p:txBody>
      </p:sp>
      <p:sp>
        <p:nvSpPr>
          <p:cNvPr id="21" name="Shape 18"/>
          <p:cNvSpPr/>
          <p:nvPr/>
        </p:nvSpPr>
        <p:spPr>
          <a:xfrm>
            <a:off x="781050" y="3720405"/>
            <a:ext cx="10629900" cy="0"/>
          </a:xfrm>
          <a:prstGeom prst="line">
            <a:avLst/>
          </a:prstGeom>
          <a:noFill/>
          <a:ln w="6350">
            <a:solidFill>
              <a:srgbClr val="C9D3EA"/>
            </a:solidFill>
            <a:prstDash val="solid"/>
          </a:ln>
        </p:spPr>
        <p:txBody>
          <a:bodyPr/>
          <a:lstStyle/>
          <a:p>
            <a:endParaRPr lang="en-US"/>
          </a:p>
        </p:txBody>
      </p:sp>
      <p:sp>
        <p:nvSpPr>
          <p:cNvPr id="22" name="Text 19"/>
          <p:cNvSpPr/>
          <p:nvPr/>
        </p:nvSpPr>
        <p:spPr>
          <a:xfrm>
            <a:off x="781050" y="3194000"/>
            <a:ext cx="355600" cy="355600"/>
          </a:xfrm>
          <a:prstGeom prst="roundRect">
            <a:avLst>
              <a:gd name="adj" fmla="val 50000"/>
            </a:avLst>
          </a:prstGeom>
          <a:solidFill>
            <a:srgbClr val="21306F"/>
          </a:solidFill>
          <a:ln/>
        </p:spPr>
        <p:txBody>
          <a:bodyPr wrap="square" lIns="0" tIns="0" rIns="0" bIns="0" rtlCol="0" anchor="ctr">
            <a:normAutofit/>
          </a:bodyPr>
          <a:lstStyle/>
          <a:p>
            <a:pPr marL="0" indent="0" algn="ctr">
              <a:lnSpc>
                <a:spcPts val="1820"/>
              </a:lnSpc>
              <a:buNone/>
            </a:pPr>
            <a:r>
              <a:rPr lang="en-US" sz="1300" b="1">
                <a:solidFill>
                  <a:srgbClr val="FFFFFF"/>
                </a:solidFill>
                <a:latin typeface="Arial" pitchFamily="34" charset="0"/>
                <a:ea typeface="Arial" pitchFamily="34" charset="-122"/>
                <a:cs typeface="Arial" pitchFamily="34" charset="-120"/>
              </a:rPr>
              <a:t>3</a:t>
            </a:r>
            <a:endParaRPr lang="en-US" sz="1300"/>
          </a:p>
        </p:txBody>
      </p:sp>
      <p:sp>
        <p:nvSpPr>
          <p:cNvPr id="23" name="Text 20"/>
          <p:cNvSpPr/>
          <p:nvPr/>
        </p:nvSpPr>
        <p:spPr>
          <a:xfrm>
            <a:off x="1314450" y="3257500"/>
            <a:ext cx="16383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21306F"/>
                </a:solidFill>
                <a:latin typeface="Arial" pitchFamily="34" charset="0"/>
                <a:ea typeface="Arial" pitchFamily="34" charset="-122"/>
                <a:cs typeface="Arial" pitchFamily="34" charset="-120"/>
              </a:rPr>
              <a:t>Donor budgets</a:t>
            </a:r>
            <a:endParaRPr lang="en-US" sz="1500"/>
          </a:p>
        </p:txBody>
      </p:sp>
      <p:sp>
        <p:nvSpPr>
          <p:cNvPr id="24" name="Text 21"/>
          <p:cNvSpPr/>
          <p:nvPr/>
        </p:nvSpPr>
        <p:spPr>
          <a:xfrm>
            <a:off x="3079750" y="3166070"/>
            <a:ext cx="4970780" cy="436860"/>
          </a:xfrm>
          <a:prstGeom prst="rect">
            <a:avLst/>
          </a:prstGeom>
          <a:noFill/>
          <a:ln/>
        </p:spPr>
        <p:txBody>
          <a:bodyPr wrap="square" lIns="0" tIns="0" rIns="0" bIns="0" rtlCol="0" anchor="t">
            <a:normAutofit/>
          </a:bodyPr>
          <a:lstStyle/>
          <a:p>
            <a:pPr marL="0" indent="0" algn="l">
              <a:lnSpc>
                <a:spcPts val="1620"/>
              </a:lnSpc>
              <a:buNone/>
            </a:pPr>
            <a:r>
              <a:rPr lang="en-US" sz="1200">
                <a:solidFill>
                  <a:srgbClr val="3A4258"/>
                </a:solidFill>
                <a:latin typeface="Arial" pitchFamily="34" charset="0"/>
                <a:ea typeface="Arial" pitchFamily="34" charset="-122"/>
                <a:cs typeface="Arial" pitchFamily="34" charset="-120"/>
              </a:rPr>
              <a:t>In the absence of any announcement, the OECD forecast sets the donor’s total. The remaining is shared evenly over its other pieces.</a:t>
            </a:r>
            <a:endParaRPr lang="en-US" sz="1200"/>
          </a:p>
        </p:txBody>
      </p:sp>
      <p:sp>
        <p:nvSpPr>
          <p:cNvPr id="25" name="Text 22"/>
          <p:cNvSpPr/>
          <p:nvPr/>
        </p:nvSpPr>
        <p:spPr>
          <a:xfrm>
            <a:off x="8083550" y="3089870"/>
            <a:ext cx="3327400" cy="563860"/>
          </a:xfrm>
          <a:prstGeom prst="rect">
            <a:avLst/>
          </a:prstGeom>
          <a:solidFill>
            <a:srgbClr val="F6F8FC"/>
          </a:solidFill>
          <a:ln/>
        </p:spPr>
        <p:txBody>
          <a:bodyPr wrap="square" lIns="139700" tIns="76200" rIns="22098" bIns="50800" rtlCol="0" anchor="t">
            <a:normAutofit/>
          </a:bodyPr>
          <a:lstStyle/>
          <a:p>
            <a:pPr marL="0" indent="0" algn="l">
              <a:lnSpc>
                <a:spcPts val="1620"/>
              </a:lnSpc>
              <a:buNone/>
            </a:pPr>
            <a:r>
              <a:rPr lang="en-US" sz="1200" b="1">
                <a:solidFill>
                  <a:srgbClr val="3A4258"/>
                </a:solidFill>
                <a:latin typeface="Arial" pitchFamily="34" charset="0"/>
                <a:ea typeface="Arial" pitchFamily="34" charset="-122"/>
                <a:cs typeface="Arial" pitchFamily="34" charset="-120"/>
              </a:rPr>
              <a:t>e.g.</a:t>
            </a:r>
            <a:r>
              <a:rPr lang="en-US" sz="1200">
                <a:solidFill>
                  <a:srgbClr val="3A4258"/>
                </a:solidFill>
                <a:latin typeface="Arial" pitchFamily="34" charset="0"/>
                <a:ea typeface="Arial" pitchFamily="34" charset="-122"/>
                <a:cs typeface="Arial" pitchFamily="34" charset="-120"/>
              </a:rPr>
              <a:t> Japan: $1.11B target, $0.30B announced → other pieces × 0.88.</a:t>
            </a:r>
            <a:endParaRPr lang="en-US" sz="1200"/>
          </a:p>
        </p:txBody>
      </p:sp>
      <p:sp>
        <p:nvSpPr>
          <p:cNvPr id="26" name="Shape 23"/>
          <p:cNvSpPr/>
          <p:nvPr/>
        </p:nvSpPr>
        <p:spPr>
          <a:xfrm>
            <a:off x="8096250" y="3089870"/>
            <a:ext cx="0" cy="563860"/>
          </a:xfrm>
          <a:prstGeom prst="line">
            <a:avLst/>
          </a:prstGeom>
          <a:noFill/>
          <a:ln w="25400">
            <a:solidFill>
              <a:srgbClr val="3D63B0"/>
            </a:solidFill>
            <a:prstDash val="solid"/>
          </a:ln>
        </p:spPr>
        <p:txBody>
          <a:bodyPr/>
          <a:lstStyle/>
          <a:p>
            <a:endParaRPr lang="en-US"/>
          </a:p>
        </p:txBody>
      </p:sp>
      <p:sp>
        <p:nvSpPr>
          <p:cNvPr id="27" name="Shape 24"/>
          <p:cNvSpPr/>
          <p:nvPr/>
        </p:nvSpPr>
        <p:spPr>
          <a:xfrm>
            <a:off x="781050" y="4417616"/>
            <a:ext cx="10629900" cy="0"/>
          </a:xfrm>
          <a:prstGeom prst="line">
            <a:avLst/>
          </a:prstGeom>
          <a:noFill/>
          <a:ln w="6350">
            <a:solidFill>
              <a:srgbClr val="C9D3EA"/>
            </a:solidFill>
            <a:prstDash val="solid"/>
          </a:ln>
        </p:spPr>
        <p:txBody>
          <a:bodyPr/>
          <a:lstStyle/>
          <a:p>
            <a:endParaRPr lang="en-US"/>
          </a:p>
        </p:txBody>
      </p:sp>
      <p:sp>
        <p:nvSpPr>
          <p:cNvPr id="28" name="Text 25"/>
          <p:cNvSpPr/>
          <p:nvPr/>
        </p:nvSpPr>
        <p:spPr>
          <a:xfrm>
            <a:off x="781050" y="3891211"/>
            <a:ext cx="355600" cy="355600"/>
          </a:xfrm>
          <a:prstGeom prst="roundRect">
            <a:avLst>
              <a:gd name="adj" fmla="val 50000"/>
            </a:avLst>
          </a:prstGeom>
          <a:solidFill>
            <a:srgbClr val="21306F"/>
          </a:solidFill>
          <a:ln/>
        </p:spPr>
        <p:txBody>
          <a:bodyPr wrap="square" lIns="0" tIns="0" rIns="0" bIns="0" rtlCol="0" anchor="ctr">
            <a:normAutofit/>
          </a:bodyPr>
          <a:lstStyle/>
          <a:p>
            <a:pPr marL="0" indent="0" algn="ctr">
              <a:lnSpc>
                <a:spcPts val="1820"/>
              </a:lnSpc>
              <a:buNone/>
            </a:pPr>
            <a:r>
              <a:rPr lang="en-US" sz="1300" b="1">
                <a:solidFill>
                  <a:srgbClr val="FFFFFF"/>
                </a:solidFill>
                <a:latin typeface="Arial" pitchFamily="34" charset="0"/>
                <a:ea typeface="Arial" pitchFamily="34" charset="-122"/>
                <a:cs typeface="Arial" pitchFamily="34" charset="-120"/>
              </a:rPr>
              <a:t>4</a:t>
            </a:r>
            <a:endParaRPr lang="en-US" sz="1300"/>
          </a:p>
        </p:txBody>
      </p:sp>
      <p:sp>
        <p:nvSpPr>
          <p:cNvPr id="29" name="Text 26"/>
          <p:cNvSpPr/>
          <p:nvPr/>
        </p:nvSpPr>
        <p:spPr>
          <a:xfrm>
            <a:off x="1314450" y="3954711"/>
            <a:ext cx="16383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21306F"/>
                </a:solidFill>
                <a:latin typeface="Arial" pitchFamily="34" charset="0"/>
                <a:ea typeface="Arial" pitchFamily="34" charset="-122"/>
                <a:cs typeface="Arial" pitchFamily="34" charset="-120"/>
              </a:rPr>
              <a:t>Add up</a:t>
            </a:r>
            <a:endParaRPr lang="en-US" sz="1500"/>
          </a:p>
        </p:txBody>
      </p:sp>
      <p:sp>
        <p:nvSpPr>
          <p:cNvPr id="30" name="Text 27"/>
          <p:cNvSpPr/>
          <p:nvPr/>
        </p:nvSpPr>
        <p:spPr>
          <a:xfrm>
            <a:off x="3079750" y="3863280"/>
            <a:ext cx="4970780" cy="436860"/>
          </a:xfrm>
          <a:prstGeom prst="rect">
            <a:avLst/>
          </a:prstGeom>
          <a:noFill/>
          <a:ln/>
        </p:spPr>
        <p:txBody>
          <a:bodyPr wrap="square" lIns="0" tIns="0" rIns="0" bIns="0" rtlCol="0" anchor="t">
            <a:normAutofit/>
          </a:bodyPr>
          <a:lstStyle/>
          <a:p>
            <a:pPr marL="0" indent="0" algn="l">
              <a:lnSpc>
                <a:spcPts val="1620"/>
              </a:lnSpc>
              <a:buNone/>
            </a:pPr>
            <a:r>
              <a:rPr lang="en-US" sz="1200">
                <a:solidFill>
                  <a:srgbClr val="3A4258"/>
                </a:solidFill>
                <a:latin typeface="Arial" pitchFamily="34" charset="0"/>
                <a:ea typeface="Arial" pitchFamily="34" charset="-122"/>
                <a:cs typeface="Arial" pitchFamily="34" charset="-120"/>
              </a:rPr>
              <a:t>Add the pieces up by country, donor, health area and year, 2026–2030, in constant 2023 dollars.</a:t>
            </a:r>
            <a:endParaRPr lang="en-US" sz="1200"/>
          </a:p>
        </p:txBody>
      </p:sp>
      <p:sp>
        <p:nvSpPr>
          <p:cNvPr id="31" name="Text 28"/>
          <p:cNvSpPr/>
          <p:nvPr/>
        </p:nvSpPr>
        <p:spPr>
          <a:xfrm>
            <a:off x="8083550" y="3787080"/>
            <a:ext cx="3327400" cy="563860"/>
          </a:xfrm>
          <a:prstGeom prst="rect">
            <a:avLst/>
          </a:prstGeom>
          <a:solidFill>
            <a:srgbClr val="F6F8FC"/>
          </a:solidFill>
          <a:ln/>
        </p:spPr>
        <p:txBody>
          <a:bodyPr wrap="square" lIns="139700" tIns="76200" rIns="22098" bIns="50800" rtlCol="0" anchor="t">
            <a:normAutofit/>
          </a:bodyPr>
          <a:lstStyle/>
          <a:p>
            <a:pPr marL="0" indent="0" algn="l">
              <a:lnSpc>
                <a:spcPts val="1620"/>
              </a:lnSpc>
              <a:buNone/>
            </a:pPr>
            <a:r>
              <a:rPr lang="en-US" sz="1200" b="1">
                <a:solidFill>
                  <a:srgbClr val="3A4258"/>
                </a:solidFill>
                <a:latin typeface="Arial" pitchFamily="34" charset="0"/>
                <a:ea typeface="Arial" pitchFamily="34" charset="-122"/>
                <a:cs typeface="Arial" pitchFamily="34" charset="-120"/>
              </a:rPr>
              <a:t>e.g.</a:t>
            </a:r>
            <a:r>
              <a:rPr lang="en-US" sz="1200">
                <a:solidFill>
                  <a:srgbClr val="3A4258"/>
                </a:solidFill>
                <a:latin typeface="Arial" pitchFamily="34" charset="0"/>
                <a:ea typeface="Arial" pitchFamily="34" charset="-122"/>
                <a:cs typeface="Arial" pitchFamily="34" charset="-120"/>
              </a:rPr>
              <a:t> Kenya’s total = all its pieces from every donor.</a:t>
            </a:r>
            <a:endParaRPr lang="en-US" sz="1200"/>
          </a:p>
        </p:txBody>
      </p:sp>
      <p:sp>
        <p:nvSpPr>
          <p:cNvPr id="32" name="Shape 29"/>
          <p:cNvSpPr/>
          <p:nvPr/>
        </p:nvSpPr>
        <p:spPr>
          <a:xfrm>
            <a:off x="8096250" y="3787080"/>
            <a:ext cx="0" cy="563860"/>
          </a:xfrm>
          <a:prstGeom prst="line">
            <a:avLst/>
          </a:prstGeom>
          <a:noFill/>
          <a:ln w="25400">
            <a:solidFill>
              <a:srgbClr val="3D63B0"/>
            </a:solidFill>
            <a:prstDash val="solid"/>
          </a:ln>
        </p:spPr>
        <p:txBody>
          <a:bodyPr/>
          <a:lstStyle/>
          <a:p>
            <a:endParaRPr lang="en-US"/>
          </a:p>
        </p:txBody>
      </p:sp>
      <p:sp>
        <p:nvSpPr>
          <p:cNvPr id="33" name="Shape 30"/>
          <p:cNvSpPr/>
          <p:nvPr/>
        </p:nvSpPr>
        <p:spPr>
          <a:xfrm>
            <a:off x="781050" y="5114826"/>
            <a:ext cx="10629900" cy="0"/>
          </a:xfrm>
          <a:prstGeom prst="line">
            <a:avLst/>
          </a:prstGeom>
          <a:noFill/>
          <a:ln w="6350">
            <a:solidFill>
              <a:srgbClr val="C9D3EA"/>
            </a:solidFill>
            <a:prstDash val="solid"/>
          </a:ln>
        </p:spPr>
        <p:txBody>
          <a:bodyPr/>
          <a:lstStyle/>
          <a:p>
            <a:endParaRPr lang="en-US"/>
          </a:p>
        </p:txBody>
      </p:sp>
      <p:sp>
        <p:nvSpPr>
          <p:cNvPr id="34" name="Text 31"/>
          <p:cNvSpPr/>
          <p:nvPr/>
        </p:nvSpPr>
        <p:spPr>
          <a:xfrm>
            <a:off x="781050" y="4588421"/>
            <a:ext cx="355600" cy="355600"/>
          </a:xfrm>
          <a:prstGeom prst="roundRect">
            <a:avLst>
              <a:gd name="adj" fmla="val 50000"/>
            </a:avLst>
          </a:prstGeom>
          <a:solidFill>
            <a:srgbClr val="21306F"/>
          </a:solidFill>
          <a:ln/>
        </p:spPr>
        <p:txBody>
          <a:bodyPr wrap="square" lIns="0" tIns="0" rIns="0" bIns="0" rtlCol="0" anchor="ctr">
            <a:normAutofit/>
          </a:bodyPr>
          <a:lstStyle/>
          <a:p>
            <a:pPr marL="0" indent="0" algn="ctr">
              <a:lnSpc>
                <a:spcPts val="1820"/>
              </a:lnSpc>
              <a:buNone/>
            </a:pPr>
            <a:r>
              <a:rPr lang="en-US" sz="1300" b="1">
                <a:solidFill>
                  <a:srgbClr val="FFFFFF"/>
                </a:solidFill>
                <a:latin typeface="Arial" pitchFamily="34" charset="0"/>
                <a:ea typeface="Arial" pitchFamily="34" charset="-122"/>
                <a:cs typeface="Arial" pitchFamily="34" charset="-120"/>
              </a:rPr>
              <a:t>5</a:t>
            </a:r>
            <a:endParaRPr lang="en-US" sz="1300"/>
          </a:p>
        </p:txBody>
      </p:sp>
      <p:sp>
        <p:nvSpPr>
          <p:cNvPr id="35" name="Text 32"/>
          <p:cNvSpPr/>
          <p:nvPr/>
        </p:nvSpPr>
        <p:spPr>
          <a:xfrm>
            <a:off x="1314450" y="4651921"/>
            <a:ext cx="1638300" cy="254000"/>
          </a:xfrm>
          <a:prstGeom prst="rect">
            <a:avLst/>
          </a:prstGeom>
          <a:noFill/>
          <a:ln/>
        </p:spPr>
        <p:txBody>
          <a:bodyPr wrap="square" lIns="0" tIns="0" rIns="0" bIns="0" rtlCol="0" anchor="t">
            <a:normAutofit/>
          </a:bodyPr>
          <a:lstStyle/>
          <a:p>
            <a:pPr marL="0" indent="0" algn="l">
              <a:lnSpc>
                <a:spcPts val="1800"/>
              </a:lnSpc>
              <a:buNone/>
            </a:pPr>
            <a:r>
              <a:rPr lang="en-US" sz="1500" b="1">
                <a:solidFill>
                  <a:srgbClr val="21306F"/>
                </a:solidFill>
                <a:latin typeface="Arial" pitchFamily="34" charset="0"/>
                <a:ea typeface="Arial" pitchFamily="34" charset="-122"/>
                <a:cs typeface="Arial" pitchFamily="34" charset="-120"/>
              </a:rPr>
              <a:t>Ranges</a:t>
            </a:r>
            <a:endParaRPr lang="en-US" sz="1500"/>
          </a:p>
        </p:txBody>
      </p:sp>
      <p:sp>
        <p:nvSpPr>
          <p:cNvPr id="36" name="Text 33"/>
          <p:cNvSpPr/>
          <p:nvPr/>
        </p:nvSpPr>
        <p:spPr>
          <a:xfrm>
            <a:off x="3079750" y="4560491"/>
            <a:ext cx="4970780" cy="436860"/>
          </a:xfrm>
          <a:prstGeom prst="rect">
            <a:avLst/>
          </a:prstGeom>
          <a:noFill/>
          <a:ln/>
        </p:spPr>
        <p:txBody>
          <a:bodyPr wrap="square" lIns="0" tIns="0" rIns="0" bIns="0" rtlCol="0" anchor="t">
            <a:normAutofit/>
          </a:bodyPr>
          <a:lstStyle/>
          <a:p>
            <a:pPr marL="0" indent="0" algn="l">
              <a:lnSpc>
                <a:spcPts val="1620"/>
              </a:lnSpc>
              <a:buNone/>
            </a:pPr>
            <a:r>
              <a:rPr lang="en-US" sz="1200">
                <a:solidFill>
                  <a:srgbClr val="3A4258"/>
                </a:solidFill>
                <a:latin typeface="Arial" pitchFamily="34" charset="0"/>
                <a:ea typeface="Arial" pitchFamily="34" charset="-122"/>
                <a:cs typeface="Arial" pitchFamily="34" charset="-120"/>
              </a:rPr>
              <a:t>Rerun the model with low and high budgets, plus 2,000 simulated ways donors could split unannounced cuts based on historical data.</a:t>
            </a:r>
            <a:endParaRPr lang="en-US" sz="1200"/>
          </a:p>
        </p:txBody>
      </p:sp>
      <p:sp>
        <p:nvSpPr>
          <p:cNvPr id="37" name="Text 34"/>
          <p:cNvSpPr/>
          <p:nvPr/>
        </p:nvSpPr>
        <p:spPr>
          <a:xfrm>
            <a:off x="8083550" y="4484291"/>
            <a:ext cx="3327400" cy="563860"/>
          </a:xfrm>
          <a:prstGeom prst="rect">
            <a:avLst/>
          </a:prstGeom>
          <a:solidFill>
            <a:srgbClr val="F6F8FC"/>
          </a:solidFill>
          <a:ln/>
        </p:spPr>
        <p:txBody>
          <a:bodyPr wrap="square" lIns="139700" tIns="76200" rIns="22098" bIns="50800" rtlCol="0" anchor="t">
            <a:normAutofit/>
          </a:bodyPr>
          <a:lstStyle/>
          <a:p>
            <a:pPr marL="0" indent="0" algn="l">
              <a:lnSpc>
                <a:spcPts val="1620"/>
              </a:lnSpc>
              <a:buNone/>
            </a:pPr>
            <a:r>
              <a:rPr lang="en-US" sz="1200" b="1">
                <a:solidFill>
                  <a:srgbClr val="3A4258"/>
                </a:solidFill>
                <a:latin typeface="Arial" pitchFamily="34" charset="0"/>
                <a:ea typeface="Arial" pitchFamily="34" charset="-122"/>
                <a:cs typeface="Arial" pitchFamily="34" charset="-120"/>
              </a:rPr>
              <a:t>e.g.</a:t>
            </a:r>
            <a:r>
              <a:rPr lang="en-US" sz="1200">
                <a:solidFill>
                  <a:srgbClr val="3A4258"/>
                </a:solidFill>
                <a:latin typeface="Arial" pitchFamily="34" charset="0"/>
                <a:ea typeface="Arial" pitchFamily="34" charset="-122"/>
                <a:cs typeface="Arial" pitchFamily="34" charset="-120"/>
              </a:rPr>
              <a:t> All countries, 2030: −25%, range −13% to −39%.</a:t>
            </a:r>
            <a:endParaRPr lang="en-US" sz="1200"/>
          </a:p>
        </p:txBody>
      </p:sp>
      <p:sp>
        <p:nvSpPr>
          <p:cNvPr id="38" name="Shape 35"/>
          <p:cNvSpPr/>
          <p:nvPr/>
        </p:nvSpPr>
        <p:spPr>
          <a:xfrm>
            <a:off x="8096250" y="4484291"/>
            <a:ext cx="0" cy="563860"/>
          </a:xfrm>
          <a:prstGeom prst="line">
            <a:avLst/>
          </a:prstGeom>
          <a:noFill/>
          <a:ln w="25400">
            <a:solidFill>
              <a:srgbClr val="3D63B0"/>
            </a:solidFill>
            <a:prstDash val="solid"/>
          </a:ln>
        </p:spPr>
        <p:txBody>
          <a:bodyPr/>
          <a:lstStyle/>
          <a:p>
            <a:endParaRPr lang="en-US"/>
          </a:p>
        </p:txBody>
      </p:sp>
    </p:spTree>
    <p:extLst>
      <p:ext uri="{BB962C8B-B14F-4D97-AF65-F5344CB8AC3E}">
        <p14:creationId xmlns:p14="http://schemas.microsoft.com/office/powerpoint/2010/main" val="1648522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54100"/>
          </a:xfrm>
          <a:prstGeom prst="rect">
            <a:avLst/>
          </a:prstGeom>
          <a:solidFill>
            <a:srgbClr val="21306F"/>
          </a:solidFill>
          <a:ln/>
        </p:spPr>
        <p:txBody>
          <a:bodyPr/>
          <a:lstStyle/>
          <a:p>
            <a:endParaRPr lang="en-US"/>
          </a:p>
        </p:txBody>
      </p:sp>
      <p:sp>
        <p:nvSpPr>
          <p:cNvPr id="3" name="Text 1"/>
          <p:cNvSpPr>
            <a:spLocks noGrp="1"/>
          </p:cNvSpPr>
          <p:nvPr>
            <p:ph type="title"/>
          </p:nvPr>
        </p:nvSpPr>
        <p:spPr>
          <a:xfrm>
            <a:off x="0" y="0"/>
            <a:ext cx="12192000" cy="1054100"/>
          </a:xfrm>
          <a:prstGeom prst="rect">
            <a:avLst/>
          </a:prstGeom>
          <a:noFill/>
          <a:ln/>
        </p:spPr>
        <p:txBody>
          <a:bodyPr wrap="square" lIns="127000" tIns="0" rIns="127000" bIns="0" rtlCol="0" anchor="ctr">
            <a:normAutofit/>
          </a:bodyPr>
          <a:lstStyle/>
          <a:p>
            <a:pPr marL="0" indent="0" algn="l">
              <a:lnSpc>
                <a:spcPts val="3520"/>
              </a:lnSpc>
              <a:buNone/>
            </a:pPr>
            <a:r>
              <a:rPr lang="en-US" sz="3200" b="1" i="0">
                <a:solidFill>
                  <a:srgbClr val="FFFFFF"/>
                </a:solidFill>
                <a:latin typeface="Arial" pitchFamily="34" charset="0"/>
                <a:ea typeface="Arial" pitchFamily="34" charset="-122"/>
                <a:cs typeface="Arial" pitchFamily="34" charset="-120"/>
              </a:rPr>
              <a:t>Main findings: health aid falls about 25% by 2030</a:t>
            </a:r>
            <a:endParaRPr lang="en-US" sz="3200"/>
          </a:p>
        </p:txBody>
      </p:sp>
      <p:sp>
        <p:nvSpPr>
          <p:cNvPr id="4" name="Text 2"/>
          <p:cNvSpPr/>
          <p:nvPr/>
        </p:nvSpPr>
        <p:spPr>
          <a:xfrm>
            <a:off x="764825" y="5071841"/>
            <a:ext cx="10788350" cy="1048600"/>
          </a:xfrm>
          <a:prstGeom prst="rect">
            <a:avLst/>
          </a:prstGeom>
          <a:solidFill>
            <a:srgbClr val="DFE7F7"/>
          </a:solidFill>
          <a:ln/>
        </p:spPr>
        <p:txBody>
          <a:bodyPr wrap="square" lIns="254000" tIns="0" rIns="0" bIns="0" rtlCol="0" anchor="ctr">
            <a:normAutofit/>
          </a:bodyPr>
          <a:lstStyle/>
          <a:p>
            <a:pPr>
              <a:lnSpc>
                <a:spcPts val="1820"/>
              </a:lnSpc>
            </a:pPr>
            <a:r>
              <a:rPr lang="en-US" sz="1400" b="1">
                <a:solidFill>
                  <a:srgbClr val="21306F"/>
                </a:solidFill>
                <a:latin typeface="Arial"/>
                <a:ea typeface="Arial" pitchFamily="34" charset="-122"/>
                <a:cs typeface="Arial"/>
              </a:rPr>
              <a:t>Range by 2030: −13% to −39%.</a:t>
            </a:r>
            <a:r>
              <a:rPr lang="en-US" sz="1400">
                <a:solidFill>
                  <a:srgbClr val="21306F"/>
                </a:solidFill>
                <a:latin typeface="Arial"/>
                <a:ea typeface="Arial" pitchFamily="34" charset="-122"/>
                <a:cs typeface="Arial"/>
              </a:rPr>
              <a:t> After inflation, health aid falls about 25% by 2030: around 13% with optimistic assumptions, 39% with pessimistic assumptions (</a:t>
            </a:r>
            <a:r>
              <a:rPr lang="en-US" sz="1400" err="1">
                <a:solidFill>
                  <a:srgbClr val="21306F"/>
                </a:solidFill>
                <a:latin typeface="Arial"/>
                <a:ea typeface="Arial" pitchFamily="34" charset="-122"/>
                <a:cs typeface="Arial"/>
              </a:rPr>
              <a:t>eg</a:t>
            </a:r>
            <a:r>
              <a:rPr lang="en-US" sz="1400">
                <a:solidFill>
                  <a:srgbClr val="21306F"/>
                </a:solidFill>
                <a:latin typeface="Arial"/>
                <a:ea typeface="Arial" pitchFamily="34" charset="-122"/>
                <a:cs typeface="Arial"/>
              </a:rPr>
              <a:t>: smaller donor budgets, less of the US deals actually delivered). </a:t>
            </a:r>
            <a:endParaRPr lang="en-US"/>
          </a:p>
          <a:p>
            <a:pPr>
              <a:lnSpc>
                <a:spcPts val="1820"/>
              </a:lnSpc>
            </a:pPr>
            <a:r>
              <a:rPr lang="en-US" sz="1050">
                <a:solidFill>
                  <a:srgbClr val="21306F"/>
                </a:solidFill>
                <a:latin typeface="Arial"/>
                <a:cs typeface="Arial"/>
              </a:rPr>
              <a:t>Source: our model on IHME 1990-2025 health aid, OECD aid outlook and donor announcements; constant 2023 US$.</a:t>
            </a:r>
            <a:endParaRPr lang="en-US" sz="1050"/>
          </a:p>
        </p:txBody>
      </p:sp>
      <p:pic>
        <p:nvPicPr>
          <p:cNvPr id="5" name="Image 0" descr="Yale Jackson School of Global Affairs"/>
          <p:cNvPicPr>
            <a:picLocks noChangeAspect="1"/>
          </p:cNvPicPr>
          <p:nvPr/>
        </p:nvPicPr>
        <p:blipFill>
          <a:blip r:embed="rId3"/>
          <a:srcRect/>
          <a:stretch/>
        </p:blipFill>
        <p:spPr>
          <a:xfrm>
            <a:off x="342900" y="6210300"/>
            <a:ext cx="2851150" cy="571500"/>
          </a:xfrm>
          <a:prstGeom prst="rect">
            <a:avLst/>
          </a:prstGeom>
        </p:spPr>
      </p:pic>
      <p:sp>
        <p:nvSpPr>
          <p:cNvPr id="6" name="Text 3"/>
          <p:cNvSpPr/>
          <p:nvPr/>
        </p:nvSpPr>
        <p:spPr>
          <a:xfrm>
            <a:off x="10617200" y="6426200"/>
            <a:ext cx="685800" cy="274290"/>
          </a:xfrm>
          <a:prstGeom prst="rect">
            <a:avLst/>
          </a:prstGeom>
          <a:noFill/>
          <a:ln/>
        </p:spPr>
        <p:txBody>
          <a:bodyPr wrap="square" lIns="0" tIns="0" rIns="0" bIns="0" rtlCol="0" anchor="t">
            <a:normAutofit/>
          </a:bodyPr>
          <a:lstStyle/>
          <a:p>
            <a:pPr marL="0" indent="0" algn="r">
              <a:lnSpc>
                <a:spcPts val="1960"/>
              </a:lnSpc>
              <a:buNone/>
            </a:pPr>
            <a:r>
              <a:rPr lang="en-US" sz="1400">
                <a:solidFill>
                  <a:srgbClr val="6B6B6B"/>
                </a:solidFill>
                <a:latin typeface="Georgia"/>
              </a:rPr>
              <a:t>9</a:t>
            </a:r>
          </a:p>
        </p:txBody>
      </p:sp>
      <p:sp>
        <p:nvSpPr>
          <p:cNvPr id="7" name="Text 4"/>
          <p:cNvSpPr/>
          <p:nvPr/>
        </p:nvSpPr>
        <p:spPr>
          <a:xfrm>
            <a:off x="756469" y="1216068"/>
            <a:ext cx="4185920" cy="787400"/>
          </a:xfrm>
          <a:prstGeom prst="rect">
            <a:avLst/>
          </a:prstGeom>
          <a:noFill/>
          <a:ln/>
        </p:spPr>
        <p:txBody>
          <a:bodyPr wrap="square" lIns="0" tIns="0" rIns="0" bIns="0" rtlCol="0" anchor="t">
            <a:noAutofit/>
          </a:bodyPr>
          <a:lstStyle/>
          <a:p>
            <a:pPr marL="0" indent="0" algn="l">
              <a:lnSpc>
                <a:spcPts val="6000"/>
              </a:lnSpc>
              <a:buNone/>
            </a:pPr>
            <a:r>
              <a:rPr lang="en-US" sz="5000" b="1">
                <a:solidFill>
                  <a:schemeClr val="tx2">
                    <a:lumMod val="25000"/>
                    <a:lumOff val="75000"/>
                  </a:schemeClr>
                </a:solidFill>
                <a:latin typeface="Arial"/>
                <a:ea typeface="Arial" pitchFamily="34" charset="-122"/>
                <a:cs typeface="Arial"/>
              </a:rPr>
              <a:t>−25%</a:t>
            </a:r>
            <a:endParaRPr lang="en-US" sz="5000">
              <a:solidFill>
                <a:schemeClr val="tx2">
                  <a:lumMod val="25000"/>
                  <a:lumOff val="75000"/>
                </a:schemeClr>
              </a:solidFill>
              <a:latin typeface="Arial"/>
              <a:cs typeface="Arial"/>
            </a:endParaRPr>
          </a:p>
        </p:txBody>
      </p:sp>
      <p:sp>
        <p:nvSpPr>
          <p:cNvPr id="8" name="Text 5"/>
          <p:cNvSpPr/>
          <p:nvPr/>
        </p:nvSpPr>
        <p:spPr>
          <a:xfrm>
            <a:off x="768760" y="1956935"/>
            <a:ext cx="4185920" cy="248245"/>
          </a:xfrm>
          <a:prstGeom prst="rect">
            <a:avLst/>
          </a:prstGeom>
          <a:noFill/>
          <a:ln/>
        </p:spPr>
        <p:txBody>
          <a:bodyPr wrap="square" lIns="0" tIns="0" rIns="0" bIns="0" rtlCol="0" anchor="t">
            <a:normAutofit/>
          </a:bodyPr>
          <a:lstStyle/>
          <a:p>
            <a:pPr marL="0" indent="0" algn="l">
              <a:lnSpc>
                <a:spcPts val="1755"/>
              </a:lnSpc>
              <a:buNone/>
            </a:pPr>
            <a:r>
              <a:rPr lang="en-US" sz="1300">
                <a:solidFill>
                  <a:srgbClr val="4A5268"/>
                </a:solidFill>
                <a:latin typeface="Arial" pitchFamily="34" charset="0"/>
                <a:ea typeface="Arial" pitchFamily="34" charset="-122"/>
                <a:cs typeface="Arial" pitchFamily="34" charset="-120"/>
              </a:rPr>
              <a:t>Decrease in health aid from all donors, 2023 to 2030</a:t>
            </a:r>
            <a:endParaRPr lang="en-US" sz="1300"/>
          </a:p>
        </p:txBody>
      </p:sp>
      <p:sp>
        <p:nvSpPr>
          <p:cNvPr id="10" name="Text 7"/>
          <p:cNvSpPr/>
          <p:nvPr/>
        </p:nvSpPr>
        <p:spPr>
          <a:xfrm>
            <a:off x="768760" y="2375119"/>
            <a:ext cx="4185920" cy="26923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21306F"/>
                </a:solidFill>
                <a:latin typeface="Arial" pitchFamily="34" charset="0"/>
                <a:ea typeface="Arial" pitchFamily="34" charset="-122"/>
                <a:cs typeface="Arial" pitchFamily="34" charset="-120"/>
              </a:rPr>
              <a:t>Most donors are cutting aid</a:t>
            </a:r>
            <a:endParaRPr lang="en-US" sz="1600"/>
          </a:p>
        </p:txBody>
      </p:sp>
      <p:sp>
        <p:nvSpPr>
          <p:cNvPr id="11" name="Text 8"/>
          <p:cNvSpPr/>
          <p:nvPr/>
        </p:nvSpPr>
        <p:spPr>
          <a:xfrm>
            <a:off x="768760" y="2644349"/>
            <a:ext cx="4185920" cy="471091"/>
          </a:xfrm>
          <a:prstGeom prst="rect">
            <a:avLst/>
          </a:prstGeom>
          <a:noFill/>
          <a:ln/>
        </p:spPr>
        <p:txBody>
          <a:bodyPr wrap="square" lIns="0" tIns="0" rIns="0" bIns="0" rtlCol="0" anchor="t">
            <a:normAutofit/>
          </a:bodyPr>
          <a:lstStyle/>
          <a:p>
            <a:pPr>
              <a:lnSpc>
                <a:spcPts val="1755"/>
              </a:lnSpc>
            </a:pPr>
            <a:r>
              <a:rPr lang="en-US" sz="1300">
                <a:solidFill>
                  <a:srgbClr val="3A4258"/>
                </a:solidFill>
                <a:latin typeface="Arial"/>
                <a:ea typeface="Arial" pitchFamily="34" charset="-122"/>
                <a:cs typeface="Arial"/>
              </a:rPr>
              <a:t>US health aid falls 66%. Other governments fall 22%, led by Germany, France, UK, Netherlands.</a:t>
            </a:r>
            <a:endParaRPr lang="en-US" sz="1300">
              <a:solidFill>
                <a:srgbClr val="3A4258"/>
              </a:solidFill>
              <a:latin typeface="Arial"/>
              <a:cs typeface="Arial"/>
            </a:endParaRPr>
          </a:p>
        </p:txBody>
      </p:sp>
      <p:sp>
        <p:nvSpPr>
          <p:cNvPr id="12" name="Text 9"/>
          <p:cNvSpPr/>
          <p:nvPr/>
        </p:nvSpPr>
        <p:spPr>
          <a:xfrm>
            <a:off x="768760" y="3178940"/>
            <a:ext cx="4185920" cy="269230"/>
          </a:xfrm>
          <a:prstGeom prst="rect">
            <a:avLst/>
          </a:prstGeom>
          <a:noFill/>
          <a:ln/>
        </p:spPr>
        <p:txBody>
          <a:bodyPr wrap="square" lIns="0" tIns="0" rIns="0" bIns="0" rtlCol="0" anchor="t">
            <a:normAutofit/>
          </a:bodyPr>
          <a:lstStyle/>
          <a:p>
            <a:pPr>
              <a:lnSpc>
                <a:spcPts val="1920"/>
              </a:lnSpc>
            </a:pPr>
            <a:r>
              <a:rPr lang="en-US" sz="1600" b="1">
                <a:solidFill>
                  <a:srgbClr val="21306F"/>
                </a:solidFill>
                <a:latin typeface="Arial"/>
                <a:cs typeface="Arial"/>
              </a:rPr>
              <a:t>Global health funds decrease</a:t>
            </a:r>
            <a:endParaRPr lang="en-US"/>
          </a:p>
        </p:txBody>
      </p:sp>
      <p:sp>
        <p:nvSpPr>
          <p:cNvPr id="13" name="Text 10"/>
          <p:cNvSpPr/>
          <p:nvPr/>
        </p:nvSpPr>
        <p:spPr>
          <a:xfrm>
            <a:off x="768760" y="3448170"/>
            <a:ext cx="4368800" cy="248245"/>
          </a:xfrm>
          <a:prstGeom prst="rect">
            <a:avLst/>
          </a:prstGeom>
          <a:noFill/>
          <a:ln/>
        </p:spPr>
        <p:txBody>
          <a:bodyPr wrap="square" lIns="0" tIns="0" rIns="0" bIns="0" rtlCol="0" anchor="t">
            <a:normAutofit/>
          </a:bodyPr>
          <a:lstStyle/>
          <a:p>
            <a:pPr>
              <a:lnSpc>
                <a:spcPts val="1755"/>
              </a:lnSpc>
            </a:pPr>
            <a:r>
              <a:rPr lang="en-US" sz="1300">
                <a:solidFill>
                  <a:srgbClr val="3A4258"/>
                </a:solidFill>
                <a:latin typeface="Arial"/>
                <a:ea typeface="Arial" pitchFamily="34" charset="-122"/>
                <a:cs typeface="Arial"/>
              </a:rPr>
              <a:t>France cut its Global Fund pledge 58%, Japan cut 20%.</a:t>
            </a:r>
            <a:endParaRPr lang="en-US"/>
          </a:p>
        </p:txBody>
      </p:sp>
      <p:sp>
        <p:nvSpPr>
          <p:cNvPr id="14" name="Text 11"/>
          <p:cNvSpPr/>
          <p:nvPr/>
        </p:nvSpPr>
        <p:spPr>
          <a:xfrm>
            <a:off x="768760" y="3759915"/>
            <a:ext cx="4185920" cy="269230"/>
          </a:xfrm>
          <a:prstGeom prst="rect">
            <a:avLst/>
          </a:prstGeom>
          <a:noFill/>
          <a:ln/>
        </p:spPr>
        <p:txBody>
          <a:bodyPr wrap="square" lIns="0" tIns="0" rIns="0" bIns="0" rtlCol="0" anchor="t">
            <a:normAutofit/>
          </a:bodyPr>
          <a:lstStyle/>
          <a:p>
            <a:pPr>
              <a:lnSpc>
                <a:spcPts val="1920"/>
              </a:lnSpc>
            </a:pPr>
            <a:r>
              <a:rPr lang="en-US" sz="1600" b="1">
                <a:solidFill>
                  <a:srgbClr val="21306F"/>
                </a:solidFill>
                <a:latin typeface="Arial"/>
                <a:ea typeface="Arial" pitchFamily="34" charset="-122"/>
                <a:cs typeface="Arial"/>
              </a:rPr>
              <a:t>HIV, </a:t>
            </a:r>
            <a:r>
              <a:rPr lang="en-US" sz="1600" b="1">
                <a:solidFill>
                  <a:srgbClr val="21306F"/>
                </a:solidFill>
                <a:latin typeface="Arial"/>
                <a:ea typeface="+mn-lt"/>
                <a:cs typeface="Arial"/>
              </a:rPr>
              <a:t>malaria</a:t>
            </a:r>
            <a:r>
              <a:rPr lang="en-US" sz="1600" b="1">
                <a:solidFill>
                  <a:srgbClr val="21306F"/>
                </a:solidFill>
                <a:latin typeface="Arial"/>
                <a:ea typeface="Arial" pitchFamily="34" charset="-122"/>
                <a:cs typeface="Arial"/>
              </a:rPr>
              <a:t> and TB </a:t>
            </a:r>
            <a:endParaRPr lang="en-US"/>
          </a:p>
        </p:txBody>
      </p:sp>
      <p:sp>
        <p:nvSpPr>
          <p:cNvPr id="15" name="Text 12"/>
          <p:cNvSpPr/>
          <p:nvPr/>
        </p:nvSpPr>
        <p:spPr>
          <a:xfrm>
            <a:off x="768760" y="4029145"/>
            <a:ext cx="4185920" cy="248245"/>
          </a:xfrm>
          <a:prstGeom prst="rect">
            <a:avLst/>
          </a:prstGeom>
          <a:noFill/>
          <a:ln/>
        </p:spPr>
        <p:txBody>
          <a:bodyPr wrap="square" lIns="0" tIns="0" rIns="0" bIns="0" rtlCol="0" anchor="t">
            <a:normAutofit fontScale="92500"/>
          </a:bodyPr>
          <a:lstStyle/>
          <a:p>
            <a:pPr>
              <a:lnSpc>
                <a:spcPts val="1755"/>
              </a:lnSpc>
            </a:pPr>
            <a:r>
              <a:rPr lang="en-US" sz="1300">
                <a:solidFill>
                  <a:srgbClr val="3A4258"/>
                </a:solidFill>
                <a:latin typeface="Arial"/>
                <a:ea typeface="Arial" pitchFamily="34" charset="-122"/>
                <a:cs typeface="Arial"/>
              </a:rPr>
              <a:t>Even without the US: malaria −30%, HIV −27%, TB −26%.</a:t>
            </a:r>
            <a:endParaRPr lang="en-US"/>
          </a:p>
        </p:txBody>
      </p:sp>
      <p:sp>
        <p:nvSpPr>
          <p:cNvPr id="16" name="Text 13"/>
          <p:cNvSpPr/>
          <p:nvPr/>
        </p:nvSpPr>
        <p:spPr>
          <a:xfrm>
            <a:off x="6256650" y="1344100"/>
            <a:ext cx="6396609" cy="26923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21306F"/>
                </a:solidFill>
                <a:latin typeface="Arial" pitchFamily="34" charset="0"/>
                <a:ea typeface="Arial" pitchFamily="34" charset="-122"/>
                <a:cs typeface="Arial" pitchFamily="34" charset="-120"/>
              </a:rPr>
              <a:t>Change by donor, 2030 vs 2023</a:t>
            </a:r>
            <a:endParaRPr lang="en-US" sz="1600"/>
          </a:p>
        </p:txBody>
      </p:sp>
      <p:sp>
        <p:nvSpPr>
          <p:cNvPr id="17" name="Text 14"/>
          <p:cNvSpPr/>
          <p:nvPr/>
        </p:nvSpPr>
        <p:spPr>
          <a:xfrm>
            <a:off x="6205850" y="17390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United States</a:t>
            </a:r>
            <a:endParaRPr lang="en-US" sz="1300"/>
          </a:p>
        </p:txBody>
      </p:sp>
      <p:sp>
        <p:nvSpPr>
          <p:cNvPr id="18" name="Shape 15"/>
          <p:cNvSpPr/>
          <p:nvPr/>
        </p:nvSpPr>
        <p:spPr>
          <a:xfrm>
            <a:off x="7945750" y="1753030"/>
            <a:ext cx="2349500" cy="203200"/>
          </a:xfrm>
          <a:prstGeom prst="rect">
            <a:avLst/>
          </a:prstGeom>
          <a:solidFill>
            <a:schemeClr val="tx2">
              <a:lumMod val="25000"/>
              <a:lumOff val="75000"/>
            </a:schemeClr>
          </a:solidFill>
          <a:ln/>
        </p:spPr>
        <p:txBody>
          <a:bodyPr/>
          <a:lstStyle/>
          <a:p>
            <a:endParaRPr lang="en-US">
              <a:solidFill>
                <a:schemeClr val="accent5">
                  <a:lumMod val="75000"/>
                </a:schemeClr>
              </a:solidFill>
            </a:endParaRPr>
          </a:p>
        </p:txBody>
      </p:sp>
      <p:sp>
        <p:nvSpPr>
          <p:cNvPr id="19" name="Shape 16"/>
          <p:cNvSpPr/>
          <p:nvPr/>
        </p:nvSpPr>
        <p:spPr>
          <a:xfrm>
            <a:off x="10396850" y="1689530"/>
            <a:ext cx="19050" cy="330200"/>
          </a:xfrm>
          <a:prstGeom prst="rect">
            <a:avLst/>
          </a:prstGeom>
          <a:solidFill>
            <a:srgbClr val="21306F"/>
          </a:solidFill>
          <a:ln/>
        </p:spPr>
        <p:txBody>
          <a:bodyPr/>
          <a:lstStyle/>
          <a:p>
            <a:endParaRPr lang="en-US"/>
          </a:p>
        </p:txBody>
      </p:sp>
      <p:sp>
        <p:nvSpPr>
          <p:cNvPr id="20" name="Text 17"/>
          <p:cNvSpPr/>
          <p:nvPr/>
        </p:nvSpPr>
        <p:spPr>
          <a:xfrm>
            <a:off x="10517500" y="17390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-66%</a:t>
            </a:r>
            <a:endParaRPr lang="en-US" sz="1300"/>
          </a:p>
        </p:txBody>
      </p:sp>
      <p:sp>
        <p:nvSpPr>
          <p:cNvPr id="21" name="Text 18"/>
          <p:cNvSpPr/>
          <p:nvPr/>
        </p:nvSpPr>
        <p:spPr>
          <a:xfrm>
            <a:off x="6205850" y="20692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Germany</a:t>
            </a:r>
            <a:endParaRPr lang="en-US" sz="1300"/>
          </a:p>
        </p:txBody>
      </p:sp>
      <p:sp>
        <p:nvSpPr>
          <p:cNvPr id="22" name="Shape 19"/>
          <p:cNvSpPr/>
          <p:nvPr/>
        </p:nvSpPr>
        <p:spPr>
          <a:xfrm>
            <a:off x="8834750" y="2083230"/>
            <a:ext cx="1460500" cy="203200"/>
          </a:xfrm>
          <a:prstGeom prst="rect">
            <a:avLst/>
          </a:prstGeom>
          <a:solidFill>
            <a:schemeClr val="tx2">
              <a:lumMod val="25000"/>
              <a:lumOff val="75000"/>
            </a:schemeClr>
          </a:solidFill>
          <a:ln/>
        </p:spPr>
        <p:txBody>
          <a:bodyPr/>
          <a:lstStyle/>
          <a:p>
            <a:endParaRPr lang="en-US"/>
          </a:p>
        </p:txBody>
      </p:sp>
      <p:sp>
        <p:nvSpPr>
          <p:cNvPr id="23" name="Shape 20"/>
          <p:cNvSpPr/>
          <p:nvPr/>
        </p:nvSpPr>
        <p:spPr>
          <a:xfrm>
            <a:off x="10396850" y="2019730"/>
            <a:ext cx="19050" cy="330200"/>
          </a:xfrm>
          <a:prstGeom prst="rect">
            <a:avLst/>
          </a:prstGeom>
          <a:solidFill>
            <a:srgbClr val="21306F"/>
          </a:solidFill>
          <a:ln/>
        </p:spPr>
        <p:txBody>
          <a:bodyPr/>
          <a:lstStyle/>
          <a:p>
            <a:endParaRPr lang="en-US"/>
          </a:p>
        </p:txBody>
      </p:sp>
      <p:sp>
        <p:nvSpPr>
          <p:cNvPr id="24" name="Text 21"/>
          <p:cNvSpPr/>
          <p:nvPr/>
        </p:nvSpPr>
        <p:spPr>
          <a:xfrm>
            <a:off x="10517500" y="20692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-41%</a:t>
            </a:r>
            <a:endParaRPr lang="en-US" sz="1300"/>
          </a:p>
        </p:txBody>
      </p:sp>
      <p:sp>
        <p:nvSpPr>
          <p:cNvPr id="25" name="Text 22"/>
          <p:cNvSpPr/>
          <p:nvPr/>
        </p:nvSpPr>
        <p:spPr>
          <a:xfrm>
            <a:off x="6205850" y="23994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France</a:t>
            </a:r>
            <a:endParaRPr lang="en-US" sz="1300"/>
          </a:p>
        </p:txBody>
      </p:sp>
      <p:sp>
        <p:nvSpPr>
          <p:cNvPr id="26" name="Shape 23"/>
          <p:cNvSpPr/>
          <p:nvPr/>
        </p:nvSpPr>
        <p:spPr>
          <a:xfrm>
            <a:off x="9088750" y="2413430"/>
            <a:ext cx="1206500" cy="203200"/>
          </a:xfrm>
          <a:prstGeom prst="rect">
            <a:avLst/>
          </a:prstGeom>
          <a:solidFill>
            <a:schemeClr val="tx2">
              <a:lumMod val="25000"/>
              <a:lumOff val="75000"/>
            </a:schemeClr>
          </a:solidFill>
          <a:ln/>
        </p:spPr>
        <p:txBody>
          <a:bodyPr/>
          <a:lstStyle/>
          <a:p>
            <a:endParaRPr lang="en-US"/>
          </a:p>
        </p:txBody>
      </p:sp>
      <p:sp>
        <p:nvSpPr>
          <p:cNvPr id="27" name="Shape 24"/>
          <p:cNvSpPr/>
          <p:nvPr/>
        </p:nvSpPr>
        <p:spPr>
          <a:xfrm>
            <a:off x="10396850" y="2349930"/>
            <a:ext cx="19050" cy="330200"/>
          </a:xfrm>
          <a:prstGeom prst="rect">
            <a:avLst/>
          </a:prstGeom>
          <a:solidFill>
            <a:srgbClr val="21306F"/>
          </a:solidFill>
          <a:ln/>
        </p:spPr>
        <p:txBody>
          <a:bodyPr/>
          <a:lstStyle/>
          <a:p>
            <a:endParaRPr lang="en-US"/>
          </a:p>
        </p:txBody>
      </p:sp>
      <p:sp>
        <p:nvSpPr>
          <p:cNvPr id="28" name="Text 25"/>
          <p:cNvSpPr/>
          <p:nvPr/>
        </p:nvSpPr>
        <p:spPr>
          <a:xfrm>
            <a:off x="10517500" y="23994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-34%</a:t>
            </a:r>
            <a:endParaRPr lang="en-US" sz="1300"/>
          </a:p>
        </p:txBody>
      </p:sp>
      <p:sp>
        <p:nvSpPr>
          <p:cNvPr id="29" name="Text 26"/>
          <p:cNvSpPr/>
          <p:nvPr/>
        </p:nvSpPr>
        <p:spPr>
          <a:xfrm>
            <a:off x="6205850" y="27296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United Kingdom</a:t>
            </a:r>
            <a:endParaRPr lang="en-US" sz="1300"/>
          </a:p>
        </p:txBody>
      </p:sp>
      <p:sp>
        <p:nvSpPr>
          <p:cNvPr id="30" name="Shape 27"/>
          <p:cNvSpPr/>
          <p:nvPr/>
        </p:nvSpPr>
        <p:spPr>
          <a:xfrm>
            <a:off x="9158600" y="2743630"/>
            <a:ext cx="1136650" cy="203200"/>
          </a:xfrm>
          <a:prstGeom prst="rect">
            <a:avLst/>
          </a:prstGeom>
          <a:solidFill>
            <a:schemeClr val="tx2">
              <a:lumMod val="25000"/>
              <a:lumOff val="75000"/>
            </a:schemeClr>
          </a:solidFill>
          <a:ln/>
        </p:spPr>
        <p:txBody>
          <a:bodyPr/>
          <a:lstStyle/>
          <a:p>
            <a:endParaRPr lang="en-US"/>
          </a:p>
        </p:txBody>
      </p:sp>
      <p:sp>
        <p:nvSpPr>
          <p:cNvPr id="31" name="Shape 28"/>
          <p:cNvSpPr/>
          <p:nvPr/>
        </p:nvSpPr>
        <p:spPr>
          <a:xfrm>
            <a:off x="10396850" y="2680130"/>
            <a:ext cx="19050" cy="330200"/>
          </a:xfrm>
          <a:prstGeom prst="rect">
            <a:avLst/>
          </a:prstGeom>
          <a:solidFill>
            <a:srgbClr val="21306F"/>
          </a:solidFill>
          <a:ln/>
        </p:spPr>
        <p:txBody>
          <a:bodyPr/>
          <a:lstStyle/>
          <a:p>
            <a:endParaRPr lang="en-US"/>
          </a:p>
        </p:txBody>
      </p:sp>
      <p:sp>
        <p:nvSpPr>
          <p:cNvPr id="32" name="Text 29"/>
          <p:cNvSpPr/>
          <p:nvPr/>
        </p:nvSpPr>
        <p:spPr>
          <a:xfrm>
            <a:off x="10517500" y="27296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-32%</a:t>
            </a:r>
            <a:endParaRPr lang="en-US" sz="1300"/>
          </a:p>
        </p:txBody>
      </p:sp>
      <p:sp>
        <p:nvSpPr>
          <p:cNvPr id="33" name="Text 30"/>
          <p:cNvSpPr/>
          <p:nvPr/>
        </p:nvSpPr>
        <p:spPr>
          <a:xfrm>
            <a:off x="6205850" y="30598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Netherlands</a:t>
            </a:r>
            <a:endParaRPr lang="en-US" sz="1300"/>
          </a:p>
        </p:txBody>
      </p:sp>
      <p:sp>
        <p:nvSpPr>
          <p:cNvPr id="34" name="Shape 31"/>
          <p:cNvSpPr/>
          <p:nvPr/>
        </p:nvSpPr>
        <p:spPr>
          <a:xfrm>
            <a:off x="9158600" y="3073830"/>
            <a:ext cx="1136650" cy="203200"/>
          </a:xfrm>
          <a:prstGeom prst="rect">
            <a:avLst/>
          </a:prstGeom>
          <a:solidFill>
            <a:schemeClr val="tx2">
              <a:lumMod val="25000"/>
              <a:lumOff val="75000"/>
            </a:schemeClr>
          </a:solidFill>
          <a:ln/>
        </p:spPr>
        <p:txBody>
          <a:bodyPr/>
          <a:lstStyle/>
          <a:p>
            <a:endParaRPr lang="en-US"/>
          </a:p>
        </p:txBody>
      </p:sp>
      <p:sp>
        <p:nvSpPr>
          <p:cNvPr id="35" name="Shape 32"/>
          <p:cNvSpPr/>
          <p:nvPr/>
        </p:nvSpPr>
        <p:spPr>
          <a:xfrm>
            <a:off x="10396850" y="3010330"/>
            <a:ext cx="19050" cy="330200"/>
          </a:xfrm>
          <a:prstGeom prst="rect">
            <a:avLst/>
          </a:prstGeom>
          <a:solidFill>
            <a:srgbClr val="21306F"/>
          </a:solidFill>
          <a:ln/>
        </p:spPr>
        <p:txBody>
          <a:bodyPr/>
          <a:lstStyle/>
          <a:p>
            <a:endParaRPr lang="en-US"/>
          </a:p>
        </p:txBody>
      </p:sp>
      <p:sp>
        <p:nvSpPr>
          <p:cNvPr id="36" name="Text 33"/>
          <p:cNvSpPr/>
          <p:nvPr/>
        </p:nvSpPr>
        <p:spPr>
          <a:xfrm>
            <a:off x="10517500" y="30598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-32%</a:t>
            </a:r>
            <a:endParaRPr lang="en-US" sz="1300"/>
          </a:p>
        </p:txBody>
      </p:sp>
      <p:sp>
        <p:nvSpPr>
          <p:cNvPr id="37" name="Text 34"/>
          <p:cNvSpPr/>
          <p:nvPr/>
        </p:nvSpPr>
        <p:spPr>
          <a:xfrm>
            <a:off x="6205850" y="33900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Japan</a:t>
            </a:r>
            <a:endParaRPr lang="en-US" sz="1300"/>
          </a:p>
        </p:txBody>
      </p:sp>
      <p:sp>
        <p:nvSpPr>
          <p:cNvPr id="38" name="Shape 35"/>
          <p:cNvSpPr/>
          <p:nvPr/>
        </p:nvSpPr>
        <p:spPr>
          <a:xfrm>
            <a:off x="9761850" y="3404030"/>
            <a:ext cx="533400" cy="203200"/>
          </a:xfrm>
          <a:prstGeom prst="rect">
            <a:avLst/>
          </a:prstGeom>
          <a:solidFill>
            <a:schemeClr val="tx2">
              <a:lumMod val="25000"/>
              <a:lumOff val="75000"/>
            </a:schemeClr>
          </a:solidFill>
          <a:ln/>
        </p:spPr>
        <p:txBody>
          <a:bodyPr/>
          <a:lstStyle/>
          <a:p>
            <a:endParaRPr lang="en-US"/>
          </a:p>
        </p:txBody>
      </p:sp>
      <p:sp>
        <p:nvSpPr>
          <p:cNvPr id="39" name="Shape 36"/>
          <p:cNvSpPr/>
          <p:nvPr/>
        </p:nvSpPr>
        <p:spPr>
          <a:xfrm>
            <a:off x="10396850" y="3340530"/>
            <a:ext cx="19050" cy="330200"/>
          </a:xfrm>
          <a:prstGeom prst="rect">
            <a:avLst/>
          </a:prstGeom>
          <a:solidFill>
            <a:srgbClr val="21306F"/>
          </a:solidFill>
          <a:ln/>
        </p:spPr>
        <p:txBody>
          <a:bodyPr/>
          <a:lstStyle/>
          <a:p>
            <a:endParaRPr lang="en-US"/>
          </a:p>
        </p:txBody>
      </p:sp>
      <p:sp>
        <p:nvSpPr>
          <p:cNvPr id="40" name="Text 37"/>
          <p:cNvSpPr/>
          <p:nvPr/>
        </p:nvSpPr>
        <p:spPr>
          <a:xfrm>
            <a:off x="10517500" y="33900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-15%</a:t>
            </a:r>
            <a:endParaRPr lang="en-US" sz="1300"/>
          </a:p>
        </p:txBody>
      </p:sp>
      <p:sp>
        <p:nvSpPr>
          <p:cNvPr id="41" name="Text 38"/>
          <p:cNvSpPr/>
          <p:nvPr/>
        </p:nvSpPr>
        <p:spPr>
          <a:xfrm>
            <a:off x="6205850" y="37202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Canada</a:t>
            </a:r>
            <a:endParaRPr lang="en-US" sz="1300"/>
          </a:p>
        </p:txBody>
      </p:sp>
      <p:sp>
        <p:nvSpPr>
          <p:cNvPr id="42" name="Shape 39"/>
          <p:cNvSpPr/>
          <p:nvPr/>
        </p:nvSpPr>
        <p:spPr>
          <a:xfrm>
            <a:off x="7882250" y="3670730"/>
            <a:ext cx="19050" cy="330200"/>
          </a:xfrm>
          <a:prstGeom prst="rect">
            <a:avLst/>
          </a:prstGeom>
          <a:solidFill>
            <a:srgbClr val="21306F"/>
          </a:solidFill>
          <a:ln/>
        </p:spPr>
        <p:txBody>
          <a:bodyPr/>
          <a:lstStyle/>
          <a:p>
            <a:endParaRPr lang="en-US"/>
          </a:p>
        </p:txBody>
      </p:sp>
      <p:sp>
        <p:nvSpPr>
          <p:cNvPr id="43" name="Shape 40"/>
          <p:cNvSpPr/>
          <p:nvPr/>
        </p:nvSpPr>
        <p:spPr>
          <a:xfrm>
            <a:off x="8002900" y="3734230"/>
            <a:ext cx="69850" cy="203200"/>
          </a:xfrm>
          <a:prstGeom prst="rect">
            <a:avLst/>
          </a:prstGeom>
          <a:solidFill>
            <a:srgbClr val="3D63B0"/>
          </a:solidFill>
          <a:ln/>
        </p:spPr>
        <p:txBody>
          <a:bodyPr/>
          <a:lstStyle/>
          <a:p>
            <a:endParaRPr lang="en-US"/>
          </a:p>
        </p:txBody>
      </p:sp>
      <p:sp>
        <p:nvSpPr>
          <p:cNvPr id="44" name="Text 41"/>
          <p:cNvSpPr/>
          <p:nvPr/>
        </p:nvSpPr>
        <p:spPr>
          <a:xfrm>
            <a:off x="8241741" y="373253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+2%</a:t>
            </a:r>
            <a:endParaRPr lang="en-US" sz="1300"/>
          </a:p>
        </p:txBody>
      </p:sp>
      <p:sp>
        <p:nvSpPr>
          <p:cNvPr id="45" name="Text 42"/>
          <p:cNvSpPr/>
          <p:nvPr/>
        </p:nvSpPr>
        <p:spPr>
          <a:xfrm>
            <a:off x="6205850" y="4050440"/>
            <a:ext cx="1574800" cy="256530"/>
          </a:xfrm>
          <a:prstGeom prst="rect">
            <a:avLst/>
          </a:prstGeom>
          <a:noFill/>
          <a:ln/>
        </p:spPr>
        <p:txBody>
          <a:bodyPr wrap="square" lIns="0" tIns="0" rIns="0" bIns="0" rtlCol="0" anchor="t">
            <a:normAutofit/>
          </a:bodyPr>
          <a:lstStyle/>
          <a:p>
            <a:pPr marL="0" indent="0" algn="r">
              <a:lnSpc>
                <a:spcPts val="1820"/>
              </a:lnSpc>
              <a:buNone/>
            </a:pPr>
            <a:r>
              <a:rPr lang="en-US" sz="1300">
                <a:solidFill>
                  <a:srgbClr val="1B2340"/>
                </a:solidFill>
                <a:latin typeface="Arial" pitchFamily="34" charset="0"/>
                <a:ea typeface="Arial" pitchFamily="34" charset="-122"/>
                <a:cs typeface="Arial" pitchFamily="34" charset="-120"/>
              </a:rPr>
              <a:t>Gates Foundation</a:t>
            </a:r>
            <a:endParaRPr lang="en-US" sz="1300"/>
          </a:p>
        </p:txBody>
      </p:sp>
      <p:sp>
        <p:nvSpPr>
          <p:cNvPr id="46" name="Shape 43"/>
          <p:cNvSpPr/>
          <p:nvPr/>
        </p:nvSpPr>
        <p:spPr>
          <a:xfrm>
            <a:off x="7882250" y="4000930"/>
            <a:ext cx="19050" cy="330200"/>
          </a:xfrm>
          <a:prstGeom prst="rect">
            <a:avLst/>
          </a:prstGeom>
          <a:solidFill>
            <a:srgbClr val="21306F"/>
          </a:solidFill>
          <a:ln/>
        </p:spPr>
        <p:txBody>
          <a:bodyPr/>
          <a:lstStyle/>
          <a:p>
            <a:endParaRPr lang="en-US"/>
          </a:p>
        </p:txBody>
      </p:sp>
      <p:sp>
        <p:nvSpPr>
          <p:cNvPr id="47" name="Shape 44"/>
          <p:cNvSpPr/>
          <p:nvPr/>
        </p:nvSpPr>
        <p:spPr>
          <a:xfrm>
            <a:off x="8002900" y="4064430"/>
            <a:ext cx="781050" cy="203200"/>
          </a:xfrm>
          <a:prstGeom prst="rect">
            <a:avLst/>
          </a:prstGeom>
          <a:solidFill>
            <a:srgbClr val="3D63B0"/>
          </a:solidFill>
          <a:ln/>
        </p:spPr>
        <p:txBody>
          <a:bodyPr/>
          <a:lstStyle/>
          <a:p>
            <a:endParaRPr lang="en-US"/>
          </a:p>
        </p:txBody>
      </p:sp>
      <p:sp>
        <p:nvSpPr>
          <p:cNvPr id="48" name="Text 45"/>
          <p:cNvSpPr/>
          <p:nvPr/>
        </p:nvSpPr>
        <p:spPr>
          <a:xfrm>
            <a:off x="8930000" y="4050440"/>
            <a:ext cx="685800" cy="25653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1B2340"/>
                </a:solidFill>
                <a:latin typeface="Arial" pitchFamily="34" charset="0"/>
                <a:ea typeface="Arial" pitchFamily="34" charset="-122"/>
                <a:cs typeface="Arial" pitchFamily="34" charset="-120"/>
              </a:rPr>
              <a:t>+22%</a:t>
            </a:r>
            <a:endParaRPr lang="en-US" sz="1300"/>
          </a:p>
        </p:txBody>
      </p:sp>
      <p:sp>
        <p:nvSpPr>
          <p:cNvPr id="49" name="Text 46"/>
          <p:cNvSpPr/>
          <p:nvPr/>
        </p:nvSpPr>
        <p:spPr>
          <a:xfrm>
            <a:off x="6256650" y="4432730"/>
            <a:ext cx="6396609" cy="231130"/>
          </a:xfrm>
          <a:prstGeom prst="rect">
            <a:avLst/>
          </a:prstGeom>
          <a:noFill/>
          <a:ln/>
        </p:spPr>
        <p:txBody>
          <a:bodyPr wrap="square" lIns="0" tIns="0" rIns="0" bIns="0" rtlCol="0" anchor="t">
            <a:normAutofit/>
          </a:bodyPr>
          <a:lstStyle/>
          <a:p>
            <a:pPr marL="0" indent="0" algn="l">
              <a:lnSpc>
                <a:spcPts val="1620"/>
              </a:lnSpc>
              <a:buNone/>
            </a:pPr>
            <a:r>
              <a:rPr lang="en-US" sz="1200">
                <a:solidFill>
                  <a:srgbClr val="4A5268"/>
                </a:solidFill>
                <a:latin typeface="Arial" pitchFamily="34" charset="0"/>
                <a:ea typeface="Arial" pitchFamily="34" charset="-122"/>
                <a:cs typeface="Arial" pitchFamily="34" charset="-120"/>
              </a:rPr>
              <a:t>Private philanthropy held flat (0%). Gates grows 2.9% a year by assumption.</a:t>
            </a:r>
            <a:endParaRPr lang="en-US" sz="1200"/>
          </a:p>
        </p:txBody>
      </p:sp>
      <p:sp>
        <p:nvSpPr>
          <p:cNvPr id="9" name="Text 11">
            <a:extLst>
              <a:ext uri="{FF2B5EF4-FFF2-40B4-BE49-F238E27FC236}">
                <a16:creationId xmlns:a16="http://schemas.microsoft.com/office/drawing/2014/main" id="{3D8E7968-B764-BC9F-7E87-F9200C1C3856}"/>
              </a:ext>
            </a:extLst>
          </p:cNvPr>
          <p:cNvSpPr/>
          <p:nvPr/>
        </p:nvSpPr>
        <p:spPr>
          <a:xfrm>
            <a:off x="756759" y="4323915"/>
            <a:ext cx="4185920" cy="269230"/>
          </a:xfrm>
          <a:prstGeom prst="rect">
            <a:avLst/>
          </a:prstGeom>
          <a:noFill/>
          <a:ln/>
        </p:spPr>
        <p:txBody>
          <a:bodyPr wrap="square" lIns="0" tIns="0" rIns="0" bIns="0" rtlCol="0" anchor="t">
            <a:normAutofit/>
          </a:bodyPr>
          <a:lstStyle/>
          <a:p>
            <a:pPr>
              <a:lnSpc>
                <a:spcPts val="1920"/>
              </a:lnSpc>
            </a:pPr>
            <a:r>
              <a:rPr lang="en-US" sz="1600" b="1">
                <a:solidFill>
                  <a:srgbClr val="21306F"/>
                </a:solidFill>
                <a:latin typeface="Arial"/>
                <a:cs typeface="Arial"/>
              </a:rPr>
              <a:t>US gap </a:t>
            </a:r>
            <a:endParaRPr lang="en-US"/>
          </a:p>
        </p:txBody>
      </p:sp>
      <p:sp>
        <p:nvSpPr>
          <p:cNvPr id="50" name="Text 12">
            <a:extLst>
              <a:ext uri="{FF2B5EF4-FFF2-40B4-BE49-F238E27FC236}">
                <a16:creationId xmlns:a16="http://schemas.microsoft.com/office/drawing/2014/main" id="{69DE366A-1F21-2250-DF3F-491D924CBB6B}"/>
              </a:ext>
            </a:extLst>
          </p:cNvPr>
          <p:cNvSpPr/>
          <p:nvPr/>
        </p:nvSpPr>
        <p:spPr>
          <a:xfrm>
            <a:off x="756759" y="4593145"/>
            <a:ext cx="4185920" cy="248245"/>
          </a:xfrm>
          <a:prstGeom prst="rect">
            <a:avLst/>
          </a:prstGeom>
          <a:noFill/>
          <a:ln/>
        </p:spPr>
        <p:txBody>
          <a:bodyPr wrap="square" lIns="0" tIns="0" rIns="0" bIns="0" rtlCol="0" anchor="t">
            <a:normAutofit fontScale="92500"/>
          </a:bodyPr>
          <a:lstStyle/>
          <a:p>
            <a:pPr>
              <a:lnSpc>
                <a:spcPts val="1755"/>
              </a:lnSpc>
            </a:pPr>
            <a:r>
              <a:rPr lang="en-US" sz="1300">
                <a:solidFill>
                  <a:srgbClr val="3A4258"/>
                </a:solidFill>
                <a:latin typeface="Arial"/>
                <a:ea typeface="Arial" pitchFamily="34" charset="-122"/>
                <a:cs typeface="Arial"/>
              </a:rPr>
              <a:t>US health aid falls 66%, but only Canada and Gates grow.</a:t>
            </a:r>
            <a:endParaRPr lang="en-US"/>
          </a:p>
        </p:txBody>
      </p:sp>
    </p:spTree>
    <p:extLst>
      <p:ext uri="{BB962C8B-B14F-4D97-AF65-F5344CB8AC3E}">
        <p14:creationId xmlns:p14="http://schemas.microsoft.com/office/powerpoint/2010/main" val="231464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54100"/>
          </a:xfrm>
          <a:prstGeom prst="rect">
            <a:avLst/>
          </a:prstGeom>
          <a:solidFill>
            <a:srgbClr val="21306F"/>
          </a:solidFill>
          <a:ln/>
        </p:spPr>
        <p:txBody>
          <a:bodyPr/>
          <a:lstStyle/>
          <a:p>
            <a:endParaRPr lang="en-US"/>
          </a:p>
        </p:txBody>
      </p:sp>
      <p:sp>
        <p:nvSpPr>
          <p:cNvPr id="3" name="Text 1"/>
          <p:cNvSpPr>
            <a:spLocks noGrp="1"/>
          </p:cNvSpPr>
          <p:nvPr>
            <p:ph type="title"/>
          </p:nvPr>
        </p:nvSpPr>
        <p:spPr>
          <a:xfrm>
            <a:off x="0" y="0"/>
            <a:ext cx="12192000" cy="1054100"/>
          </a:xfrm>
          <a:prstGeom prst="rect">
            <a:avLst/>
          </a:prstGeom>
          <a:noFill/>
          <a:ln/>
        </p:spPr>
        <p:txBody>
          <a:bodyPr wrap="square" lIns="127000" tIns="0" rIns="127000" bIns="0" rtlCol="0" anchor="ctr">
            <a:normAutofit/>
          </a:bodyPr>
          <a:lstStyle/>
          <a:p>
            <a:pPr marL="0" indent="0" algn="l">
              <a:lnSpc>
                <a:spcPts val="3520"/>
              </a:lnSpc>
              <a:buNone/>
            </a:pPr>
            <a:r>
              <a:rPr lang="en-US" sz="3200" b="1" i="0">
                <a:solidFill>
                  <a:srgbClr val="FFFFFF"/>
                </a:solidFill>
                <a:latin typeface="Arial" pitchFamily="34" charset="0"/>
                <a:ea typeface="Arial" pitchFamily="34" charset="-122"/>
                <a:cs typeface="Arial" pitchFamily="34" charset="-120"/>
              </a:rPr>
              <a:t>Assumptions and caveats</a:t>
            </a:r>
            <a:endParaRPr lang="en-US" sz="3200"/>
          </a:p>
        </p:txBody>
      </p:sp>
      <p:sp>
        <p:nvSpPr>
          <p:cNvPr id="4" name="Text 2"/>
          <p:cNvSpPr/>
          <p:nvPr/>
        </p:nvSpPr>
        <p:spPr>
          <a:xfrm>
            <a:off x="736600" y="5454650"/>
            <a:ext cx="10674350" cy="736600"/>
          </a:xfrm>
          <a:prstGeom prst="rect">
            <a:avLst/>
          </a:prstGeom>
          <a:solidFill>
            <a:srgbClr val="DFE7F7"/>
          </a:solidFill>
          <a:ln/>
        </p:spPr>
        <p:txBody>
          <a:bodyPr wrap="square" lIns="254000" tIns="0" rIns="0" bIns="0" rtlCol="0" anchor="ctr">
            <a:normAutofit/>
          </a:bodyPr>
          <a:lstStyle/>
          <a:p>
            <a:pPr>
              <a:lnSpc>
                <a:spcPts val="1820"/>
              </a:lnSpc>
            </a:pPr>
            <a:r>
              <a:rPr lang="en-US" sz="1400" b="1">
                <a:solidFill>
                  <a:srgbClr val="21306F"/>
                </a:solidFill>
                <a:latin typeface="Arial"/>
                <a:ea typeface="Arial" pitchFamily="34" charset="-122"/>
                <a:cs typeface="Arial"/>
              </a:rPr>
              <a:t>Central assumptions: whether US deals are actually delivered, and if countries will cut aid uniformly betwe</a:t>
            </a:r>
            <a:r>
              <a:rPr lang="en-US" sz="1400" b="1">
                <a:solidFill>
                  <a:srgbClr val="21306F"/>
                </a:solidFill>
                <a:latin typeface="Arial"/>
                <a:cs typeface="Arial"/>
              </a:rPr>
              <a:t>en</a:t>
            </a:r>
            <a:r>
              <a:rPr lang="en-US" sz="1400" b="1">
                <a:solidFill>
                  <a:srgbClr val="21306F"/>
                </a:solidFill>
                <a:latin typeface="Arial"/>
                <a:ea typeface="Arial" pitchFamily="34" charset="-122"/>
                <a:cs typeface="Arial"/>
              </a:rPr>
              <a:t> recipients</a:t>
            </a:r>
            <a:endParaRPr lang="en-US" sz="1400">
              <a:solidFill>
                <a:srgbClr val="21306F"/>
              </a:solidFill>
              <a:latin typeface="Arial"/>
              <a:cs typeface="Arial"/>
            </a:endParaRPr>
          </a:p>
        </p:txBody>
      </p:sp>
      <p:pic>
        <p:nvPicPr>
          <p:cNvPr id="5" name="Image 0" descr="Yale Jackson School of Global Affairs"/>
          <p:cNvPicPr>
            <a:picLocks noChangeAspect="1"/>
          </p:cNvPicPr>
          <p:nvPr/>
        </p:nvPicPr>
        <p:blipFill>
          <a:blip r:embed="rId3"/>
          <a:srcRect/>
          <a:stretch/>
        </p:blipFill>
        <p:spPr>
          <a:xfrm>
            <a:off x="342900" y="6210300"/>
            <a:ext cx="2851150" cy="571500"/>
          </a:xfrm>
          <a:prstGeom prst="rect">
            <a:avLst/>
          </a:prstGeom>
        </p:spPr>
      </p:pic>
      <p:sp>
        <p:nvSpPr>
          <p:cNvPr id="6" name="Text 3"/>
          <p:cNvSpPr/>
          <p:nvPr/>
        </p:nvSpPr>
        <p:spPr>
          <a:xfrm>
            <a:off x="10617200" y="6426200"/>
            <a:ext cx="685800" cy="274290"/>
          </a:xfrm>
          <a:prstGeom prst="rect">
            <a:avLst/>
          </a:prstGeom>
          <a:noFill/>
          <a:ln/>
        </p:spPr>
        <p:txBody>
          <a:bodyPr wrap="square" lIns="0" tIns="0" rIns="0" bIns="0" rtlCol="0" anchor="t">
            <a:normAutofit/>
          </a:bodyPr>
          <a:lstStyle/>
          <a:p>
            <a:pPr marL="0" indent="0" algn="r">
              <a:lnSpc>
                <a:spcPts val="1960"/>
              </a:lnSpc>
              <a:buNone/>
            </a:pPr>
            <a:r>
              <a:rPr lang="en-US" sz="1400">
                <a:solidFill>
                  <a:srgbClr val="6B6B6B"/>
                </a:solidFill>
                <a:latin typeface="Georgia"/>
              </a:rPr>
              <a:t>10</a:t>
            </a:r>
          </a:p>
        </p:txBody>
      </p:sp>
      <p:sp>
        <p:nvSpPr>
          <p:cNvPr id="7" name="Shape 4"/>
          <p:cNvSpPr/>
          <p:nvPr/>
        </p:nvSpPr>
        <p:spPr>
          <a:xfrm>
            <a:off x="784225" y="1311275"/>
            <a:ext cx="5181600" cy="4044950"/>
          </a:xfrm>
          <a:prstGeom prst="rect">
            <a:avLst/>
          </a:prstGeom>
          <a:solidFill>
            <a:srgbClr val="F6F8FC"/>
          </a:solidFill>
          <a:ln w="6350">
            <a:solidFill>
              <a:srgbClr val="C9D3EA"/>
            </a:solidFill>
            <a:prstDash val="solid"/>
          </a:ln>
        </p:spPr>
        <p:txBody>
          <a:bodyPr/>
          <a:lstStyle/>
          <a:p>
            <a:endParaRPr lang="en-US"/>
          </a:p>
        </p:txBody>
      </p:sp>
      <p:sp>
        <p:nvSpPr>
          <p:cNvPr id="8" name="Text 5"/>
          <p:cNvSpPr/>
          <p:nvPr/>
        </p:nvSpPr>
        <p:spPr>
          <a:xfrm>
            <a:off x="965200" y="1492250"/>
            <a:ext cx="4964240" cy="26923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21306F"/>
                </a:solidFill>
                <a:latin typeface="Arial"/>
                <a:ea typeface="Arial" pitchFamily="34" charset="-122"/>
                <a:cs typeface="Arial"/>
              </a:rPr>
              <a:t>Key assumptions</a:t>
            </a:r>
            <a:endParaRPr lang="en-US" sz="1600" b="1">
              <a:solidFill>
                <a:srgbClr val="5A6278"/>
              </a:solidFill>
              <a:latin typeface="Arial"/>
              <a:cs typeface="Arial"/>
            </a:endParaRPr>
          </a:p>
        </p:txBody>
      </p:sp>
      <p:sp>
        <p:nvSpPr>
          <p:cNvPr id="9" name="Text 6"/>
          <p:cNvSpPr/>
          <p:nvPr/>
        </p:nvSpPr>
        <p:spPr>
          <a:xfrm>
            <a:off x="965200" y="1812280"/>
            <a:ext cx="279400" cy="244475"/>
          </a:xfrm>
          <a:prstGeom prst="rect">
            <a:avLst/>
          </a:prstGeom>
          <a:noFill/>
          <a:ln/>
        </p:spPr>
        <p:txBody>
          <a:bodyPr wrap="square" lIns="0" tIns="0" rIns="0" bIns="0" rtlCol="0" anchor="t">
            <a:normAutofit/>
          </a:bodyPr>
          <a:lstStyle/>
          <a:p>
            <a:pPr marL="0" indent="0" algn="l">
              <a:lnSpc>
                <a:spcPts val="1725"/>
              </a:lnSpc>
              <a:buNone/>
            </a:pPr>
            <a:r>
              <a:rPr lang="en-US" sz="1500" b="1">
                <a:solidFill>
                  <a:srgbClr val="3D63B0"/>
                </a:solidFill>
                <a:latin typeface="Arial" pitchFamily="34" charset="0"/>
                <a:ea typeface="Arial" pitchFamily="34" charset="-122"/>
                <a:cs typeface="Arial" pitchFamily="34" charset="-120"/>
              </a:rPr>
              <a:t>1</a:t>
            </a:r>
            <a:endParaRPr lang="en-US" sz="1500"/>
          </a:p>
        </p:txBody>
      </p:sp>
      <p:sp>
        <p:nvSpPr>
          <p:cNvPr id="10" name="Text 7"/>
          <p:cNvSpPr/>
          <p:nvPr/>
        </p:nvSpPr>
        <p:spPr>
          <a:xfrm>
            <a:off x="1308100" y="1812280"/>
            <a:ext cx="4611053" cy="471091"/>
          </a:xfrm>
          <a:prstGeom prst="rect">
            <a:avLst/>
          </a:prstGeom>
          <a:noFill/>
          <a:ln/>
        </p:spPr>
        <p:txBody>
          <a:bodyPr wrap="square" lIns="0" tIns="0" rIns="0" bIns="0" rtlCol="0" anchor="t">
            <a:normAutofit/>
          </a:bodyPr>
          <a:lstStyle/>
          <a:p>
            <a:pPr>
              <a:lnSpc>
                <a:spcPts val="1755"/>
              </a:lnSpc>
            </a:pPr>
            <a:r>
              <a:rPr lang="en-US" sz="1300" b="1">
                <a:solidFill>
                  <a:srgbClr val="3A4258"/>
                </a:solidFill>
                <a:latin typeface="Arial"/>
                <a:ea typeface="Arial" pitchFamily="34" charset="-122"/>
                <a:cs typeface="Arial"/>
              </a:rPr>
              <a:t>US deals delivered as announced.</a:t>
            </a:r>
            <a:r>
              <a:rPr lang="en-US" sz="1300">
                <a:solidFill>
                  <a:srgbClr val="3A4258"/>
                </a:solidFill>
                <a:latin typeface="Arial"/>
                <a:ea typeface="Arial" pitchFamily="34" charset="-122"/>
                <a:cs typeface="Arial"/>
              </a:rPr>
              <a:t> They are non-binding and need Congressional approval.</a:t>
            </a:r>
            <a:endParaRPr lang="en-US" sz="1300">
              <a:latin typeface="Aptos" panose="02110004020202020204"/>
              <a:cs typeface="Arial"/>
            </a:endParaRPr>
          </a:p>
        </p:txBody>
      </p:sp>
      <p:sp>
        <p:nvSpPr>
          <p:cNvPr id="11" name="Text 8"/>
          <p:cNvSpPr/>
          <p:nvPr/>
        </p:nvSpPr>
        <p:spPr>
          <a:xfrm>
            <a:off x="965200" y="2334171"/>
            <a:ext cx="279400" cy="244475"/>
          </a:xfrm>
          <a:prstGeom prst="rect">
            <a:avLst/>
          </a:prstGeom>
          <a:noFill/>
          <a:ln/>
        </p:spPr>
        <p:txBody>
          <a:bodyPr wrap="square" lIns="0" tIns="0" rIns="0" bIns="0" rtlCol="0" anchor="t">
            <a:normAutofit/>
          </a:bodyPr>
          <a:lstStyle/>
          <a:p>
            <a:pPr marL="0" indent="0" algn="l">
              <a:lnSpc>
                <a:spcPts val="1725"/>
              </a:lnSpc>
              <a:buNone/>
            </a:pPr>
            <a:r>
              <a:rPr lang="en-US" sz="1500" b="1">
                <a:solidFill>
                  <a:srgbClr val="3D63B0"/>
                </a:solidFill>
                <a:latin typeface="Arial" pitchFamily="34" charset="0"/>
                <a:ea typeface="Arial" pitchFamily="34" charset="-122"/>
                <a:cs typeface="Arial" pitchFamily="34" charset="-120"/>
              </a:rPr>
              <a:t>2</a:t>
            </a:r>
            <a:endParaRPr lang="en-US" sz="1500"/>
          </a:p>
        </p:txBody>
      </p:sp>
      <p:sp>
        <p:nvSpPr>
          <p:cNvPr id="12" name="Text 9"/>
          <p:cNvSpPr/>
          <p:nvPr/>
        </p:nvSpPr>
        <p:spPr>
          <a:xfrm>
            <a:off x="1277375" y="2309591"/>
            <a:ext cx="4531166" cy="520251"/>
          </a:xfrm>
          <a:prstGeom prst="rect">
            <a:avLst/>
          </a:prstGeom>
          <a:noFill/>
          <a:ln/>
        </p:spPr>
        <p:txBody>
          <a:bodyPr wrap="square" lIns="0" tIns="0" rIns="0" bIns="0" rtlCol="0" anchor="t">
            <a:normAutofit/>
          </a:bodyPr>
          <a:lstStyle/>
          <a:p>
            <a:pPr>
              <a:lnSpc>
                <a:spcPts val="1755"/>
              </a:lnSpc>
            </a:pPr>
            <a:r>
              <a:rPr lang="en-US" sz="1300" b="1">
                <a:solidFill>
                  <a:srgbClr val="3A4258"/>
                </a:solidFill>
                <a:latin typeface="Arial"/>
                <a:ea typeface="Arial" pitchFamily="34" charset="-122"/>
                <a:cs typeface="Arial"/>
              </a:rPr>
              <a:t>Philanthropy:</a:t>
            </a:r>
            <a:r>
              <a:rPr lang="en-US" sz="1300">
                <a:solidFill>
                  <a:srgbClr val="3A4258"/>
                </a:solidFill>
                <a:latin typeface="Arial"/>
                <a:ea typeface="Arial" pitchFamily="34" charset="-122"/>
                <a:cs typeface="Arial"/>
              </a:rPr>
              <a:t> Gates grows 2.9% a year (IHME), other private aid held flat. Together 32% of the baseline.</a:t>
            </a:r>
            <a:endParaRPr lang="en-US" sz="1300">
              <a:latin typeface="Arial"/>
              <a:cs typeface="Arial"/>
            </a:endParaRPr>
          </a:p>
        </p:txBody>
      </p:sp>
      <p:sp>
        <p:nvSpPr>
          <p:cNvPr id="13" name="Text 10"/>
          <p:cNvSpPr/>
          <p:nvPr/>
        </p:nvSpPr>
        <p:spPr>
          <a:xfrm>
            <a:off x="965200" y="2856061"/>
            <a:ext cx="279400" cy="244475"/>
          </a:xfrm>
          <a:prstGeom prst="rect">
            <a:avLst/>
          </a:prstGeom>
          <a:noFill/>
          <a:ln/>
        </p:spPr>
        <p:txBody>
          <a:bodyPr wrap="square" lIns="0" tIns="0" rIns="0" bIns="0" rtlCol="0" anchor="t">
            <a:normAutofit/>
          </a:bodyPr>
          <a:lstStyle/>
          <a:p>
            <a:pPr marL="0" indent="0" algn="l">
              <a:lnSpc>
                <a:spcPts val="1725"/>
              </a:lnSpc>
              <a:buNone/>
            </a:pPr>
            <a:r>
              <a:rPr lang="en-US" sz="1500" b="1">
                <a:solidFill>
                  <a:srgbClr val="3D63B0"/>
                </a:solidFill>
                <a:latin typeface="Arial" pitchFamily="34" charset="0"/>
                <a:ea typeface="Arial" pitchFamily="34" charset="-122"/>
                <a:cs typeface="Arial" pitchFamily="34" charset="-120"/>
              </a:rPr>
              <a:t>3</a:t>
            </a:r>
            <a:endParaRPr lang="en-US" sz="1500"/>
          </a:p>
        </p:txBody>
      </p:sp>
      <p:sp>
        <p:nvSpPr>
          <p:cNvPr id="14" name="Text 11"/>
          <p:cNvSpPr/>
          <p:nvPr/>
        </p:nvSpPr>
        <p:spPr>
          <a:xfrm>
            <a:off x="1308100" y="2856061"/>
            <a:ext cx="4611053" cy="471091"/>
          </a:xfrm>
          <a:prstGeom prst="rect">
            <a:avLst/>
          </a:prstGeom>
          <a:noFill/>
          <a:ln/>
        </p:spPr>
        <p:txBody>
          <a:bodyPr wrap="square" lIns="0" tIns="0" rIns="0" bIns="0" rtlCol="0" anchor="t">
            <a:normAutofit/>
          </a:bodyPr>
          <a:lstStyle/>
          <a:p>
            <a:pPr>
              <a:lnSpc>
                <a:spcPts val="1755"/>
              </a:lnSpc>
            </a:pPr>
            <a:r>
              <a:rPr lang="en-US" sz="1300" b="1">
                <a:solidFill>
                  <a:srgbClr val="3A4258"/>
                </a:solidFill>
                <a:latin typeface="Arial"/>
                <a:ea typeface="Arial" pitchFamily="34" charset="-122"/>
                <a:cs typeface="Arial"/>
              </a:rPr>
              <a:t>US aid with no deal</a:t>
            </a:r>
            <a:r>
              <a:rPr lang="en-US" sz="1300">
                <a:solidFill>
                  <a:srgbClr val="3A4258"/>
                </a:solidFill>
                <a:latin typeface="Arial"/>
                <a:ea typeface="Arial" pitchFamily="34" charset="-122"/>
                <a:cs typeface="Arial"/>
              </a:rPr>
              <a:t> kept at 25% of its old level; no country evidence exists [can change]</a:t>
            </a:r>
            <a:endParaRPr lang="en-US" sz="1300"/>
          </a:p>
        </p:txBody>
      </p:sp>
      <p:sp>
        <p:nvSpPr>
          <p:cNvPr id="15" name="Text 12"/>
          <p:cNvSpPr/>
          <p:nvPr/>
        </p:nvSpPr>
        <p:spPr>
          <a:xfrm>
            <a:off x="965200" y="3377952"/>
            <a:ext cx="279400" cy="244475"/>
          </a:xfrm>
          <a:prstGeom prst="rect">
            <a:avLst/>
          </a:prstGeom>
          <a:noFill/>
          <a:ln/>
        </p:spPr>
        <p:txBody>
          <a:bodyPr wrap="square" lIns="0" tIns="0" rIns="0" bIns="0" rtlCol="0" anchor="t">
            <a:normAutofit/>
          </a:bodyPr>
          <a:lstStyle/>
          <a:p>
            <a:pPr marL="0" indent="0" algn="l">
              <a:lnSpc>
                <a:spcPts val="1725"/>
              </a:lnSpc>
              <a:buNone/>
            </a:pPr>
            <a:r>
              <a:rPr lang="en-US" sz="1500" b="1">
                <a:solidFill>
                  <a:srgbClr val="3D63B0"/>
                </a:solidFill>
                <a:latin typeface="Arial" pitchFamily="34" charset="0"/>
                <a:ea typeface="Arial" pitchFamily="34" charset="-122"/>
                <a:cs typeface="Arial" pitchFamily="34" charset="-120"/>
              </a:rPr>
              <a:t>4</a:t>
            </a:r>
            <a:endParaRPr lang="en-US" sz="1500"/>
          </a:p>
        </p:txBody>
      </p:sp>
      <p:sp>
        <p:nvSpPr>
          <p:cNvPr id="16" name="Text 13"/>
          <p:cNvSpPr/>
          <p:nvPr/>
        </p:nvSpPr>
        <p:spPr>
          <a:xfrm>
            <a:off x="1308100" y="3377952"/>
            <a:ext cx="4611053"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3A4258"/>
                </a:solidFill>
                <a:latin typeface="Arial" pitchFamily="34" charset="0"/>
                <a:ea typeface="Arial" pitchFamily="34" charset="-122"/>
                <a:cs typeface="Arial" pitchFamily="34" charset="-120"/>
              </a:rPr>
              <a:t>Health keeps its share</a:t>
            </a:r>
            <a:r>
              <a:rPr lang="en-US" sz="1300">
                <a:solidFill>
                  <a:srgbClr val="3A4258"/>
                </a:solidFill>
                <a:latin typeface="Arial" pitchFamily="34" charset="0"/>
                <a:ea typeface="Arial" pitchFamily="34" charset="-122"/>
                <a:cs typeface="Arial" pitchFamily="34" charset="-120"/>
              </a:rPr>
              <a:t> of each donor’s total aid as budgets shrink.</a:t>
            </a:r>
            <a:endParaRPr lang="en-US" sz="1300"/>
          </a:p>
        </p:txBody>
      </p:sp>
      <p:sp>
        <p:nvSpPr>
          <p:cNvPr id="17" name="Text 14"/>
          <p:cNvSpPr/>
          <p:nvPr/>
        </p:nvSpPr>
        <p:spPr>
          <a:xfrm>
            <a:off x="965200" y="3899843"/>
            <a:ext cx="279400" cy="244475"/>
          </a:xfrm>
          <a:prstGeom prst="rect">
            <a:avLst/>
          </a:prstGeom>
          <a:noFill/>
          <a:ln/>
        </p:spPr>
        <p:txBody>
          <a:bodyPr wrap="square" lIns="0" tIns="0" rIns="0" bIns="0" rtlCol="0" anchor="t">
            <a:normAutofit/>
          </a:bodyPr>
          <a:lstStyle/>
          <a:p>
            <a:pPr marL="0" indent="0" algn="l">
              <a:lnSpc>
                <a:spcPts val="1725"/>
              </a:lnSpc>
              <a:buNone/>
            </a:pPr>
            <a:r>
              <a:rPr lang="en-US" sz="1500" b="1">
                <a:solidFill>
                  <a:srgbClr val="3D63B0"/>
                </a:solidFill>
                <a:latin typeface="Arial" pitchFamily="34" charset="0"/>
                <a:ea typeface="Arial" pitchFamily="34" charset="-122"/>
                <a:cs typeface="Arial" pitchFamily="34" charset="-120"/>
              </a:rPr>
              <a:t>5</a:t>
            </a:r>
            <a:endParaRPr lang="en-US" sz="1500"/>
          </a:p>
        </p:txBody>
      </p:sp>
      <p:sp>
        <p:nvSpPr>
          <p:cNvPr id="18" name="Text 15"/>
          <p:cNvSpPr/>
          <p:nvPr/>
        </p:nvSpPr>
        <p:spPr>
          <a:xfrm>
            <a:off x="1308100" y="3899843"/>
            <a:ext cx="4611053" cy="471091"/>
          </a:xfrm>
          <a:prstGeom prst="rect">
            <a:avLst/>
          </a:prstGeom>
          <a:noFill/>
          <a:ln/>
        </p:spPr>
        <p:txBody>
          <a:bodyPr wrap="square" lIns="0" tIns="0" rIns="0" bIns="0" rtlCol="0" anchor="t">
            <a:normAutofit/>
          </a:bodyPr>
          <a:lstStyle/>
          <a:p>
            <a:pPr>
              <a:lnSpc>
                <a:spcPts val="1755"/>
              </a:lnSpc>
            </a:pPr>
            <a:r>
              <a:rPr lang="en-US" sz="1300" b="1">
                <a:solidFill>
                  <a:srgbClr val="3A4258"/>
                </a:solidFill>
                <a:latin typeface="Arial"/>
                <a:ea typeface="Arial" pitchFamily="34" charset="-122"/>
                <a:cs typeface="Arial"/>
              </a:rPr>
              <a:t>Unannounced cuts spread evenly</a:t>
            </a:r>
            <a:r>
              <a:rPr lang="en-US" sz="1300">
                <a:solidFill>
                  <a:srgbClr val="3A4258"/>
                </a:solidFill>
                <a:latin typeface="Arial"/>
                <a:ea typeface="Arial" pitchFamily="34" charset="-122"/>
                <a:cs typeface="Arial"/>
              </a:rPr>
              <a:t> within each donor: about a quarter of the cut.</a:t>
            </a:r>
            <a:endParaRPr lang="en-US" sz="1300">
              <a:solidFill>
                <a:srgbClr val="3A4258"/>
              </a:solidFill>
              <a:latin typeface="Arial"/>
              <a:cs typeface="Arial"/>
            </a:endParaRPr>
          </a:p>
        </p:txBody>
      </p:sp>
      <p:sp>
        <p:nvSpPr>
          <p:cNvPr id="19" name="Text 16"/>
          <p:cNvSpPr/>
          <p:nvPr/>
        </p:nvSpPr>
        <p:spPr>
          <a:xfrm>
            <a:off x="965200" y="4421733"/>
            <a:ext cx="279400" cy="244475"/>
          </a:xfrm>
          <a:prstGeom prst="rect">
            <a:avLst/>
          </a:prstGeom>
          <a:noFill/>
          <a:ln/>
        </p:spPr>
        <p:txBody>
          <a:bodyPr wrap="square" lIns="0" tIns="0" rIns="0" bIns="0" rtlCol="0" anchor="t">
            <a:normAutofit/>
          </a:bodyPr>
          <a:lstStyle/>
          <a:p>
            <a:pPr marL="0" indent="0" algn="l">
              <a:lnSpc>
                <a:spcPts val="1725"/>
              </a:lnSpc>
              <a:buNone/>
            </a:pPr>
            <a:r>
              <a:rPr lang="en-US" sz="1500" b="1">
                <a:solidFill>
                  <a:srgbClr val="3D63B0"/>
                </a:solidFill>
                <a:latin typeface="Arial" pitchFamily="34" charset="0"/>
                <a:ea typeface="Arial" pitchFamily="34" charset="-122"/>
                <a:cs typeface="Arial" pitchFamily="34" charset="-120"/>
              </a:rPr>
              <a:t>6</a:t>
            </a:r>
            <a:endParaRPr lang="en-US" sz="1500"/>
          </a:p>
        </p:txBody>
      </p:sp>
      <p:sp>
        <p:nvSpPr>
          <p:cNvPr id="20" name="Text 17"/>
          <p:cNvSpPr/>
          <p:nvPr/>
        </p:nvSpPr>
        <p:spPr>
          <a:xfrm>
            <a:off x="1308100" y="4421733"/>
            <a:ext cx="4611053"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3A4258"/>
                </a:solidFill>
                <a:latin typeface="Arial" pitchFamily="34" charset="0"/>
                <a:ea typeface="Arial" pitchFamily="34" charset="-122"/>
                <a:cs typeface="Arial" pitchFamily="34" charset="-120"/>
              </a:rPr>
              <a:t>Judgment calls:</a:t>
            </a:r>
            <a:r>
              <a:rPr lang="en-US" sz="1300">
                <a:solidFill>
                  <a:srgbClr val="3A4258"/>
                </a:solidFill>
                <a:latin typeface="Arial" pitchFamily="34" charset="0"/>
                <a:ea typeface="Arial" pitchFamily="34" charset="-122"/>
                <a:cs typeface="Arial" pitchFamily="34" charset="-120"/>
              </a:rPr>
              <a:t> South Africa 0.1 and Zimbabwe 0.5 in 2026; exit year 0.5; Germany’s wind-down.</a:t>
            </a:r>
            <a:endParaRPr lang="en-US" sz="1300"/>
          </a:p>
        </p:txBody>
      </p:sp>
      <p:sp>
        <p:nvSpPr>
          <p:cNvPr id="21" name="Shape 18"/>
          <p:cNvSpPr/>
          <p:nvPr/>
        </p:nvSpPr>
        <p:spPr>
          <a:xfrm>
            <a:off x="6226175" y="1311275"/>
            <a:ext cx="5181600" cy="4044950"/>
          </a:xfrm>
          <a:prstGeom prst="rect">
            <a:avLst/>
          </a:prstGeom>
          <a:solidFill>
            <a:srgbClr val="F6F8FC"/>
          </a:solidFill>
          <a:ln w="6350">
            <a:solidFill>
              <a:srgbClr val="C9D3EA"/>
            </a:solidFill>
            <a:prstDash val="solid"/>
          </a:ln>
        </p:spPr>
        <p:txBody>
          <a:bodyPr/>
          <a:lstStyle/>
          <a:p>
            <a:endParaRPr lang="en-US"/>
          </a:p>
        </p:txBody>
      </p:sp>
      <p:sp>
        <p:nvSpPr>
          <p:cNvPr id="22" name="Text 19"/>
          <p:cNvSpPr/>
          <p:nvPr/>
        </p:nvSpPr>
        <p:spPr>
          <a:xfrm>
            <a:off x="6407150" y="1492250"/>
            <a:ext cx="4964240" cy="269230"/>
          </a:xfrm>
          <a:prstGeom prst="rect">
            <a:avLst/>
          </a:prstGeom>
          <a:noFill/>
          <a:ln/>
        </p:spPr>
        <p:txBody>
          <a:bodyPr wrap="square" lIns="0" tIns="0" rIns="0" bIns="0" rtlCol="0" anchor="t">
            <a:normAutofit/>
          </a:bodyPr>
          <a:lstStyle/>
          <a:p>
            <a:pPr marL="0" indent="0" algn="l">
              <a:lnSpc>
                <a:spcPts val="1920"/>
              </a:lnSpc>
              <a:buNone/>
            </a:pPr>
            <a:r>
              <a:rPr lang="en-US" sz="1600" b="1">
                <a:solidFill>
                  <a:srgbClr val="21306F"/>
                </a:solidFill>
                <a:latin typeface="Arial"/>
                <a:ea typeface="Arial" pitchFamily="34" charset="-122"/>
                <a:cs typeface="Arial"/>
              </a:rPr>
              <a:t>Caveats </a:t>
            </a:r>
            <a:endParaRPr lang="en-US" sz="1600" b="1">
              <a:solidFill>
                <a:srgbClr val="5A6278"/>
              </a:solidFill>
              <a:latin typeface="Arial"/>
              <a:cs typeface="Arial"/>
            </a:endParaRPr>
          </a:p>
        </p:txBody>
      </p:sp>
      <p:sp>
        <p:nvSpPr>
          <p:cNvPr id="23" name="Shape 20"/>
          <p:cNvSpPr/>
          <p:nvPr/>
        </p:nvSpPr>
        <p:spPr>
          <a:xfrm>
            <a:off x="6407150" y="1894830"/>
            <a:ext cx="76200" cy="76200"/>
          </a:xfrm>
          <a:prstGeom prst="roundRect">
            <a:avLst>
              <a:gd name="adj" fmla="val 50000"/>
            </a:avLst>
          </a:prstGeom>
          <a:solidFill>
            <a:srgbClr val="2F52A6"/>
          </a:solidFill>
          <a:ln>
            <a:solidFill>
              <a:srgbClr val="4472C4"/>
            </a:solidFill>
          </a:ln>
        </p:spPr>
        <p:txBody>
          <a:bodyPr/>
          <a:lstStyle/>
          <a:p>
            <a:endParaRPr lang="en-US"/>
          </a:p>
        </p:txBody>
      </p:sp>
      <p:sp>
        <p:nvSpPr>
          <p:cNvPr id="24" name="Text 21"/>
          <p:cNvSpPr/>
          <p:nvPr/>
        </p:nvSpPr>
        <p:spPr>
          <a:xfrm>
            <a:off x="6597650" y="1812280"/>
            <a:ext cx="4768025"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3A4258"/>
                </a:solidFill>
                <a:latin typeface="Arial" pitchFamily="34" charset="0"/>
                <a:ea typeface="Arial" pitchFamily="34" charset="-122"/>
                <a:cs typeface="Arial" pitchFamily="34" charset="-120"/>
              </a:rPr>
              <a:t>Cuts may come faster.</a:t>
            </a:r>
            <a:r>
              <a:rPr lang="en-US" sz="1300">
                <a:solidFill>
                  <a:srgbClr val="3A4258"/>
                </a:solidFill>
                <a:latin typeface="Arial" pitchFamily="34" charset="0"/>
                <a:ea typeface="Arial" pitchFamily="34" charset="-122"/>
                <a:cs typeface="Arial" pitchFamily="34" charset="-120"/>
              </a:rPr>
              <a:t> IHME estimates 2025 health aid already fell 67% (US) and 64% (UK).</a:t>
            </a:r>
            <a:endParaRPr lang="en-US" sz="1300"/>
          </a:p>
        </p:txBody>
      </p:sp>
      <p:sp>
        <p:nvSpPr>
          <p:cNvPr id="25" name="Shape 22"/>
          <p:cNvSpPr/>
          <p:nvPr/>
        </p:nvSpPr>
        <p:spPr>
          <a:xfrm>
            <a:off x="6407150" y="2416721"/>
            <a:ext cx="76200" cy="76200"/>
          </a:xfrm>
          <a:prstGeom prst="roundRect">
            <a:avLst>
              <a:gd name="adj" fmla="val 50000"/>
            </a:avLst>
          </a:prstGeom>
          <a:solidFill>
            <a:srgbClr val="2F52A6"/>
          </a:solidFill>
          <a:ln/>
        </p:spPr>
        <p:txBody>
          <a:bodyPr/>
          <a:lstStyle/>
          <a:p>
            <a:endParaRPr lang="en-US"/>
          </a:p>
        </p:txBody>
      </p:sp>
      <p:sp>
        <p:nvSpPr>
          <p:cNvPr id="26" name="Text 23"/>
          <p:cNvSpPr/>
          <p:nvPr/>
        </p:nvSpPr>
        <p:spPr>
          <a:xfrm>
            <a:off x="6597650" y="2334171"/>
            <a:ext cx="4768025"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3A4258"/>
                </a:solidFill>
                <a:latin typeface="Arial" pitchFamily="34" charset="0"/>
                <a:ea typeface="Arial" pitchFamily="34" charset="-122"/>
                <a:cs typeface="Arial" pitchFamily="34" charset="-120"/>
              </a:rPr>
              <a:t>Maternal and child health</a:t>
            </a:r>
            <a:r>
              <a:rPr lang="en-US" sz="1300">
                <a:solidFill>
                  <a:srgbClr val="3A4258"/>
                </a:solidFill>
                <a:latin typeface="Arial" pitchFamily="34" charset="0"/>
                <a:ea typeface="Arial" pitchFamily="34" charset="-122"/>
                <a:cs typeface="Arial" pitchFamily="34" charset="-120"/>
              </a:rPr>
              <a:t> cuts in US deal countries are probably understated.</a:t>
            </a:r>
            <a:endParaRPr lang="en-US" sz="1300"/>
          </a:p>
        </p:txBody>
      </p:sp>
      <p:sp>
        <p:nvSpPr>
          <p:cNvPr id="27" name="Shape 24"/>
          <p:cNvSpPr/>
          <p:nvPr/>
        </p:nvSpPr>
        <p:spPr>
          <a:xfrm>
            <a:off x="6407150" y="2938611"/>
            <a:ext cx="76200" cy="76200"/>
          </a:xfrm>
          <a:prstGeom prst="roundRect">
            <a:avLst>
              <a:gd name="adj" fmla="val 50000"/>
            </a:avLst>
          </a:prstGeom>
          <a:solidFill>
            <a:srgbClr val="2F52A6"/>
          </a:solidFill>
          <a:ln/>
        </p:spPr>
        <p:txBody>
          <a:bodyPr/>
          <a:lstStyle/>
          <a:p>
            <a:endParaRPr lang="en-US"/>
          </a:p>
        </p:txBody>
      </p:sp>
      <p:sp>
        <p:nvSpPr>
          <p:cNvPr id="28" name="Text 25"/>
          <p:cNvSpPr/>
          <p:nvPr/>
        </p:nvSpPr>
        <p:spPr>
          <a:xfrm>
            <a:off x="6597650" y="2856061"/>
            <a:ext cx="4768025"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3A4258"/>
                </a:solidFill>
                <a:latin typeface="Arial"/>
                <a:ea typeface="Arial" pitchFamily="34" charset="-122"/>
                <a:cs typeface="Arial"/>
              </a:rPr>
              <a:t>2029–2030</a:t>
            </a:r>
            <a:r>
              <a:rPr lang="en-US" sz="1300">
                <a:solidFill>
                  <a:srgbClr val="3A4258"/>
                </a:solidFill>
                <a:latin typeface="Arial"/>
                <a:ea typeface="Arial" pitchFamily="34" charset="-122"/>
                <a:cs typeface="Arial"/>
              </a:rPr>
              <a:t> rely on inputs held flat after 2028 (OECD outlook, UK, Dutch, Global Fund).</a:t>
            </a:r>
            <a:endParaRPr lang="en-US" sz="1300">
              <a:latin typeface="Arial"/>
              <a:cs typeface="Arial"/>
            </a:endParaRPr>
          </a:p>
        </p:txBody>
      </p:sp>
      <p:sp>
        <p:nvSpPr>
          <p:cNvPr id="29" name="Shape 26"/>
          <p:cNvSpPr/>
          <p:nvPr/>
        </p:nvSpPr>
        <p:spPr>
          <a:xfrm>
            <a:off x="6407150" y="3460502"/>
            <a:ext cx="76200" cy="76200"/>
          </a:xfrm>
          <a:prstGeom prst="roundRect">
            <a:avLst>
              <a:gd name="adj" fmla="val 50000"/>
            </a:avLst>
          </a:prstGeom>
          <a:solidFill>
            <a:srgbClr val="2F52A6"/>
          </a:solidFill>
          <a:ln/>
        </p:spPr>
        <p:txBody>
          <a:bodyPr/>
          <a:lstStyle/>
          <a:p>
            <a:endParaRPr lang="en-US"/>
          </a:p>
        </p:txBody>
      </p:sp>
      <p:sp>
        <p:nvSpPr>
          <p:cNvPr id="30" name="Text 27"/>
          <p:cNvSpPr/>
          <p:nvPr/>
        </p:nvSpPr>
        <p:spPr>
          <a:xfrm>
            <a:off x="6597650" y="3377952"/>
            <a:ext cx="4768025" cy="471091"/>
          </a:xfrm>
          <a:prstGeom prst="rect">
            <a:avLst/>
          </a:prstGeom>
          <a:noFill/>
          <a:ln/>
        </p:spPr>
        <p:txBody>
          <a:bodyPr wrap="square" lIns="0" tIns="0" rIns="0" bIns="0" rtlCol="0" anchor="t">
            <a:normAutofit/>
          </a:bodyPr>
          <a:lstStyle/>
          <a:p>
            <a:pPr>
              <a:lnSpc>
                <a:spcPts val="1755"/>
              </a:lnSpc>
            </a:pPr>
            <a:r>
              <a:rPr lang="en-US" sz="1300" b="1">
                <a:solidFill>
                  <a:srgbClr val="3A4258"/>
                </a:solidFill>
                <a:latin typeface="Arial"/>
                <a:ea typeface="Arial" pitchFamily="34" charset="-122"/>
                <a:cs typeface="Arial"/>
              </a:rPr>
              <a:t>Country budgets = health budgets:</a:t>
            </a:r>
            <a:r>
              <a:rPr lang="en-US" sz="1300">
                <a:solidFill>
                  <a:srgbClr val="3A4258"/>
                </a:solidFill>
                <a:latin typeface="Arial"/>
                <a:ea typeface="Arial" pitchFamily="34" charset="-122"/>
                <a:cs typeface="Arial"/>
              </a:rPr>
              <a:t> UK and Australian budgets cover all aid, and we assume health moves proportionally.</a:t>
            </a:r>
            <a:endParaRPr lang="en-US" sz="1300">
              <a:solidFill>
                <a:srgbClr val="3A4258"/>
              </a:solidFill>
              <a:latin typeface="Arial"/>
              <a:cs typeface="Arial"/>
            </a:endParaRPr>
          </a:p>
        </p:txBody>
      </p:sp>
      <p:sp>
        <p:nvSpPr>
          <p:cNvPr id="31" name="Shape 28"/>
          <p:cNvSpPr/>
          <p:nvPr/>
        </p:nvSpPr>
        <p:spPr>
          <a:xfrm>
            <a:off x="6407150" y="3982393"/>
            <a:ext cx="76200" cy="76200"/>
          </a:xfrm>
          <a:prstGeom prst="roundRect">
            <a:avLst>
              <a:gd name="adj" fmla="val 50000"/>
            </a:avLst>
          </a:prstGeom>
          <a:solidFill>
            <a:srgbClr val="2F52A6"/>
          </a:solidFill>
          <a:ln/>
        </p:spPr>
        <p:txBody>
          <a:bodyPr/>
          <a:lstStyle/>
          <a:p>
            <a:endParaRPr lang="en-US"/>
          </a:p>
        </p:txBody>
      </p:sp>
      <p:sp>
        <p:nvSpPr>
          <p:cNvPr id="32" name="Text 29"/>
          <p:cNvSpPr/>
          <p:nvPr/>
        </p:nvSpPr>
        <p:spPr>
          <a:xfrm>
            <a:off x="6597650" y="3899843"/>
            <a:ext cx="4768025" cy="471091"/>
          </a:xfrm>
          <a:prstGeom prst="rect">
            <a:avLst/>
          </a:prstGeom>
          <a:noFill/>
          <a:ln/>
        </p:spPr>
        <p:txBody>
          <a:bodyPr wrap="square" lIns="0" tIns="0" rIns="0" bIns="0" rtlCol="0" anchor="t">
            <a:normAutofit/>
          </a:bodyPr>
          <a:lstStyle/>
          <a:p>
            <a:pPr>
              <a:lnSpc>
                <a:spcPts val="1755"/>
              </a:lnSpc>
            </a:pPr>
            <a:r>
              <a:rPr lang="en-US" sz="1300" b="1">
                <a:solidFill>
                  <a:srgbClr val="3A4258"/>
                </a:solidFill>
                <a:latin typeface="Arial"/>
                <a:ea typeface="Arial" pitchFamily="34" charset="-122"/>
                <a:cs typeface="Arial"/>
              </a:rPr>
              <a:t>Gavi country allocations aren’t public;</a:t>
            </a:r>
            <a:r>
              <a:rPr lang="en-US" sz="1300">
                <a:solidFill>
                  <a:srgbClr val="3A4258"/>
                </a:solidFill>
                <a:latin typeface="Arial"/>
                <a:ea typeface="Arial" pitchFamily="34" charset="-122"/>
                <a:cs typeface="Arial"/>
              </a:rPr>
              <a:t> we only apply its stated plan to give fragile countries a bigger share.</a:t>
            </a:r>
            <a:endParaRPr lang="en-US" sz="1300">
              <a:solidFill>
                <a:srgbClr val="3A4258"/>
              </a:solidFill>
              <a:latin typeface="Arial"/>
              <a:cs typeface="Arial"/>
            </a:endParaRPr>
          </a:p>
        </p:txBody>
      </p:sp>
      <p:sp>
        <p:nvSpPr>
          <p:cNvPr id="33" name="Shape 30"/>
          <p:cNvSpPr/>
          <p:nvPr/>
        </p:nvSpPr>
        <p:spPr>
          <a:xfrm>
            <a:off x="6407150" y="4504283"/>
            <a:ext cx="76200" cy="76200"/>
          </a:xfrm>
          <a:prstGeom prst="roundRect">
            <a:avLst>
              <a:gd name="adj" fmla="val 50000"/>
            </a:avLst>
          </a:prstGeom>
          <a:solidFill>
            <a:srgbClr val="2F52A6"/>
          </a:solidFill>
          <a:ln/>
        </p:spPr>
        <p:txBody>
          <a:bodyPr/>
          <a:lstStyle/>
          <a:p>
            <a:endParaRPr lang="en-US"/>
          </a:p>
        </p:txBody>
      </p:sp>
      <p:sp>
        <p:nvSpPr>
          <p:cNvPr id="34" name="Text 31"/>
          <p:cNvSpPr/>
          <p:nvPr/>
        </p:nvSpPr>
        <p:spPr>
          <a:xfrm>
            <a:off x="6597650" y="4421733"/>
            <a:ext cx="4768025" cy="471091"/>
          </a:xfrm>
          <a:prstGeom prst="rect">
            <a:avLst/>
          </a:prstGeom>
          <a:noFill/>
          <a:ln/>
        </p:spPr>
        <p:txBody>
          <a:bodyPr wrap="square" lIns="0" tIns="0" rIns="0" bIns="0" rtlCol="0" anchor="t">
            <a:normAutofit/>
          </a:bodyPr>
          <a:lstStyle/>
          <a:p>
            <a:pPr marL="0" indent="0" algn="l">
              <a:lnSpc>
                <a:spcPts val="1755"/>
              </a:lnSpc>
              <a:buNone/>
            </a:pPr>
            <a:r>
              <a:rPr lang="en-US" sz="1300" b="1">
                <a:solidFill>
                  <a:srgbClr val="3A4258"/>
                </a:solidFill>
                <a:latin typeface="Arial" pitchFamily="34" charset="0"/>
                <a:ea typeface="Arial" pitchFamily="34" charset="-122"/>
                <a:cs typeface="Arial" pitchFamily="34" charset="-120"/>
              </a:rPr>
              <a:t>Scope:</a:t>
            </a:r>
            <a:r>
              <a:rPr lang="en-US" sz="1300">
                <a:solidFill>
                  <a:srgbClr val="3A4258"/>
                </a:solidFill>
                <a:latin typeface="Arial" pitchFamily="34" charset="0"/>
                <a:ea typeface="Arial" pitchFamily="34" charset="-122"/>
                <a:cs typeface="Arial" pitchFamily="34" charset="-120"/>
              </a:rPr>
              <a:t> donor aid only. No recipient co-financing, no non-OECD donors.</a:t>
            </a:r>
            <a:endParaRPr lang="en-US" sz="1300"/>
          </a:p>
        </p:txBody>
      </p:sp>
    </p:spTree>
    <p:extLst>
      <p:ext uri="{BB962C8B-B14F-4D97-AF65-F5344CB8AC3E}">
        <p14:creationId xmlns:p14="http://schemas.microsoft.com/office/powerpoint/2010/main" val="793393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2F52A4"/>
            </a:gs>
            <a:gs pos="23000">
              <a:srgbClr val="0E245F"/>
            </a:gs>
          </a:gsLst>
          <a:lin ang="2700000" scaled="1"/>
          <a:tileRect/>
        </a:gradFill>
        <a:effectLst/>
      </p:bgPr>
    </p:bg>
    <p:spTree>
      <p:nvGrpSpPr>
        <p:cNvPr id="1" name="">
          <a:extLst>
            <a:ext uri="{FF2B5EF4-FFF2-40B4-BE49-F238E27FC236}">
              <a16:creationId xmlns:a16="http://schemas.microsoft.com/office/drawing/2014/main" id="{3F0802C6-3165-3762-AE31-6222ACFF8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572C-9CE6-6236-3754-B0CA61F8245F}"/>
              </a:ext>
            </a:extLst>
          </p:cNvPr>
          <p:cNvSpPr>
            <a:spLocks noGrp="1"/>
          </p:cNvSpPr>
          <p:nvPr>
            <p:ph type="ctrTitle"/>
          </p:nvPr>
        </p:nvSpPr>
        <p:spPr>
          <a:xfrm>
            <a:off x="548640" y="3429000"/>
            <a:ext cx="9444908" cy="712432"/>
          </a:xfrm>
          <a:noFill/>
          <a:ln w="28575">
            <a:noFill/>
          </a:ln>
        </p:spPr>
        <p:txBody>
          <a:bodyPr vert="horz" lIns="91440" tIns="45720" rIns="91440" bIns="45720" rtlCol="0" anchor="b">
            <a:noAutofit/>
          </a:bodyPr>
          <a:lstStyle/>
          <a:p>
            <a:pPr algn="l"/>
            <a:r>
              <a:rPr lang="en-US">
                <a:solidFill>
                  <a:schemeClr val="bg1"/>
                </a:solidFill>
                <a:latin typeface="Franklin Gothic"/>
                <a:ea typeface="+mj-lt"/>
                <a:cs typeface="+mj-lt"/>
              </a:rPr>
              <a:t>Dashboard</a:t>
            </a:r>
          </a:p>
        </p:txBody>
      </p:sp>
      <p:sp>
        <p:nvSpPr>
          <p:cNvPr id="3" name="Text 4">
            <a:extLst>
              <a:ext uri="{FF2B5EF4-FFF2-40B4-BE49-F238E27FC236}">
                <a16:creationId xmlns:a16="http://schemas.microsoft.com/office/drawing/2014/main" id="{95DA4538-3AF9-742C-D58A-92C50D7C9652}"/>
              </a:ext>
            </a:extLst>
          </p:cNvPr>
          <p:cNvSpPr txBox="1"/>
          <p:nvPr/>
        </p:nvSpPr>
        <p:spPr>
          <a:xfrm>
            <a:off x="548640" y="2266121"/>
            <a:ext cx="795130" cy="1003853"/>
          </a:xfrm>
          <a:prstGeom prst="rect">
            <a:avLst/>
          </a:prstGeom>
          <a:noFill/>
          <a:ln/>
        </p:spPr>
        <p:txBody>
          <a:bodyPr wrap="square" lIns="0" tIns="0" rIns="0" bIns="0" rtlCol="0" anchor="ctr"/>
          <a:lstStyle/>
          <a:p>
            <a:pPr marL="0" indent="0" algn="r">
              <a:buNone/>
            </a:pPr>
            <a:r>
              <a:rPr lang="en-US" sz="5400">
                <a:solidFill>
                  <a:srgbClr val="8FA8E0"/>
                </a:solidFill>
                <a:latin typeface="Arial"/>
                <a:cs typeface="Arial"/>
              </a:rPr>
              <a:t>03</a:t>
            </a:r>
            <a:endParaRPr lang="en-US" sz="5400">
              <a:solidFill>
                <a:srgbClr val="8FA8E0"/>
              </a:solidFill>
            </a:endParaRPr>
          </a:p>
        </p:txBody>
      </p:sp>
      <p:pic>
        <p:nvPicPr>
          <p:cNvPr id="4" name="Image 1" descr="logo_white.png">
            <a:extLst>
              <a:ext uri="{FF2B5EF4-FFF2-40B4-BE49-F238E27FC236}">
                <a16:creationId xmlns:a16="http://schemas.microsoft.com/office/drawing/2014/main" id="{D262E644-BC6B-ECE9-5CD7-3AEFA3C5618E}"/>
              </a:ext>
            </a:extLst>
          </p:cNvPr>
          <p:cNvPicPr>
            <a:picLocks noChangeAspect="1"/>
          </p:cNvPicPr>
          <p:nvPr/>
        </p:nvPicPr>
        <p:blipFill>
          <a:blip r:embed="rId2"/>
          <a:stretch>
            <a:fillRect/>
          </a:stretch>
        </p:blipFill>
        <p:spPr>
          <a:xfrm>
            <a:off x="548640" y="5943600"/>
            <a:ext cx="2377440" cy="394269"/>
          </a:xfrm>
          <a:prstGeom prst="rect">
            <a:avLst/>
          </a:prstGeom>
        </p:spPr>
      </p:pic>
    </p:spTree>
    <p:extLst>
      <p:ext uri="{BB962C8B-B14F-4D97-AF65-F5344CB8AC3E}">
        <p14:creationId xmlns:p14="http://schemas.microsoft.com/office/powerpoint/2010/main" val="2373779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D20CC-5620-408B-F3E1-CFAA15A3F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66174-1790-6004-BEB0-3B8E5E80F51E}"/>
              </a:ext>
            </a:extLst>
          </p:cNvPr>
          <p:cNvSpPr>
            <a:spLocks noGrp="1"/>
          </p:cNvSpPr>
          <p:nvPr>
            <p:ph type="title"/>
          </p:nvPr>
        </p:nvSpPr>
        <p:spPr>
          <a:xfrm>
            <a:off x="-21988" y="-58259"/>
            <a:ext cx="12444026" cy="1012771"/>
          </a:xfrm>
          <a:solidFill>
            <a:srgbClr val="1C3073"/>
          </a:solidFill>
          <a:ln w="57150">
            <a:solidFill>
              <a:srgbClr val="1B2F73"/>
            </a:solidFill>
          </a:ln>
        </p:spPr>
        <p:txBody>
          <a:bodyPr vert="horz" lIns="91440" tIns="45720" rIns="91440" bIns="45720" rtlCol="0" anchor="ctr">
            <a:normAutofit/>
          </a:bodyPr>
          <a:lstStyle/>
          <a:p>
            <a:r>
              <a:rPr lang="en-US" sz="2800">
                <a:solidFill>
                  <a:schemeClr val="bg1"/>
                </a:solidFill>
                <a:latin typeface="Franklin Gothic Medium"/>
                <a:ea typeface="+mj-lt"/>
                <a:cs typeface="+mj-lt"/>
              </a:rPr>
              <a:t> The Dashboard Links Aid, Budgets And Health Data To Show Coverage At Risk From Aid Cuts</a:t>
            </a:r>
            <a:endParaRPr lang="en-US" sz="2800">
              <a:solidFill>
                <a:schemeClr val="bg1"/>
              </a:solidFill>
            </a:endParaRPr>
          </a:p>
        </p:txBody>
      </p:sp>
      <p:sp>
        <p:nvSpPr>
          <p:cNvPr id="4" name="Slide Number Placeholder 3">
            <a:extLst>
              <a:ext uri="{FF2B5EF4-FFF2-40B4-BE49-F238E27FC236}">
                <a16:creationId xmlns:a16="http://schemas.microsoft.com/office/drawing/2014/main" id="{ADD5B881-0544-15FF-BC10-8D0A3FF1604D}"/>
              </a:ext>
            </a:extLst>
          </p:cNvPr>
          <p:cNvSpPr>
            <a:spLocks noGrp="1"/>
          </p:cNvSpPr>
          <p:nvPr>
            <p:ph type="sldNum" sz="quarter" idx="12"/>
          </p:nvPr>
        </p:nvSpPr>
        <p:spPr/>
        <p:txBody>
          <a:bodyPr/>
          <a:lstStyle/>
          <a:p>
            <a:fld id="{330EA680-D336-4FF7-8B7A-9848BB0A1C32}" type="slidenum">
              <a:rPr lang="en-US" smtClean="0"/>
              <a:t>12</a:t>
            </a:fld>
            <a:endParaRPr lang="en-US"/>
          </a:p>
        </p:txBody>
      </p:sp>
      <p:pic>
        <p:nvPicPr>
          <p:cNvPr id="8" name="Picture 7" descr="Yale Jackson School of Global Affairs - Wikipedia">
            <a:extLst>
              <a:ext uri="{FF2B5EF4-FFF2-40B4-BE49-F238E27FC236}">
                <a16:creationId xmlns:a16="http://schemas.microsoft.com/office/drawing/2014/main" id="{4B81DE5F-27F1-538B-FCB5-2E97DF2041F4}"/>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B3ABA309-5C7B-56B0-CA08-78CE801A0E6D}"/>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sp>
        <p:nvSpPr>
          <p:cNvPr id="3" name="TextBox 19">
            <a:extLst>
              <a:ext uri="{FF2B5EF4-FFF2-40B4-BE49-F238E27FC236}">
                <a16:creationId xmlns:a16="http://schemas.microsoft.com/office/drawing/2014/main" id="{0728517C-22F3-B356-39BF-56F6AF6F03A2}"/>
              </a:ext>
            </a:extLst>
          </p:cNvPr>
          <p:cNvSpPr txBox="1"/>
          <p:nvPr/>
        </p:nvSpPr>
        <p:spPr>
          <a:xfrm>
            <a:off x="822960" y="3969657"/>
            <a:ext cx="10972800" cy="320040"/>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600" b="1">
                <a:solidFill>
                  <a:srgbClr val="555B6E"/>
                </a:solidFill>
                <a:latin typeface="Franklin Gothic Medium"/>
              </a:rPr>
              <a:t>AIM 2: MODEL HOW CUTS TO DEVELOPMENT AID AFFECT COVERAGE FOR EACH SERVICE</a:t>
            </a:r>
          </a:p>
        </p:txBody>
      </p:sp>
      <p:sp>
        <p:nvSpPr>
          <p:cNvPr id="5" name="Rectangle 4">
            <a:extLst>
              <a:ext uri="{FF2B5EF4-FFF2-40B4-BE49-F238E27FC236}">
                <a16:creationId xmlns:a16="http://schemas.microsoft.com/office/drawing/2014/main" id="{9A179B87-41FF-F7BD-6721-9A7C23DA3278}"/>
              </a:ext>
            </a:extLst>
          </p:cNvPr>
          <p:cNvSpPr/>
          <p:nvPr/>
        </p:nvSpPr>
        <p:spPr>
          <a:xfrm>
            <a:off x="914400" y="4426857"/>
            <a:ext cx="3108960" cy="777240"/>
          </a:xfrm>
          <a:prstGeom prst="rect">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45720" rIns="109728"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500" b="1">
                <a:solidFill>
                  <a:srgbClr val="FFFFFF"/>
                </a:solidFill>
                <a:latin typeface="Franklin Gothic Medium"/>
              </a:rPr>
              <a:t>Expected</a:t>
            </a:r>
            <a:r>
              <a:rPr sz="1500" b="1">
                <a:solidFill>
                  <a:srgbClr val="FFFFFF"/>
                </a:solidFill>
                <a:latin typeface="Franklin Gothic Medium"/>
              </a:rPr>
              <a:t> aid retreat</a:t>
            </a:r>
            <a:endParaRPr sz="1150">
              <a:solidFill>
                <a:srgbClr val="E3E8F5"/>
              </a:solidFill>
              <a:latin typeface="Franklin Gothic Book"/>
            </a:endParaRPr>
          </a:p>
        </p:txBody>
      </p:sp>
      <p:sp>
        <p:nvSpPr>
          <p:cNvPr id="6" name="Rectangle 5">
            <a:extLst>
              <a:ext uri="{FF2B5EF4-FFF2-40B4-BE49-F238E27FC236}">
                <a16:creationId xmlns:a16="http://schemas.microsoft.com/office/drawing/2014/main" id="{98D94A93-6143-15A7-2F0D-CBF7A33ED43C}"/>
              </a:ext>
            </a:extLst>
          </p:cNvPr>
          <p:cNvSpPr/>
          <p:nvPr/>
        </p:nvSpPr>
        <p:spPr>
          <a:xfrm>
            <a:off x="4526280" y="4426857"/>
            <a:ext cx="3108960" cy="777240"/>
          </a:xfrm>
          <a:prstGeom prst="rect">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45720" rIns="109728"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500" b="1">
                <a:solidFill>
                  <a:srgbClr val="FFFFFF"/>
                </a:solidFill>
                <a:latin typeface="Franklin Gothic Medium"/>
              </a:rPr>
              <a:t>Coverage</a:t>
            </a:r>
            <a:r>
              <a:rPr sz="1500" b="1">
                <a:solidFill>
                  <a:srgbClr val="FFFFFF"/>
                </a:solidFill>
                <a:latin typeface="Franklin Gothic Medium"/>
              </a:rPr>
              <a:t> lost by service</a:t>
            </a:r>
            <a:endParaRPr sz="1150">
              <a:solidFill>
                <a:srgbClr val="E3E8F5"/>
              </a:solidFill>
              <a:latin typeface="Franklin Gothic Book"/>
            </a:endParaRPr>
          </a:p>
        </p:txBody>
      </p:sp>
      <p:sp>
        <p:nvSpPr>
          <p:cNvPr id="7" name="Rectangle 6">
            <a:extLst>
              <a:ext uri="{FF2B5EF4-FFF2-40B4-BE49-F238E27FC236}">
                <a16:creationId xmlns:a16="http://schemas.microsoft.com/office/drawing/2014/main" id="{B08830AB-B2F1-D392-9F26-160D892DD5A5}"/>
              </a:ext>
            </a:extLst>
          </p:cNvPr>
          <p:cNvSpPr/>
          <p:nvPr/>
        </p:nvSpPr>
        <p:spPr>
          <a:xfrm>
            <a:off x="8138160" y="4426857"/>
            <a:ext cx="3108960" cy="777240"/>
          </a:xfrm>
          <a:prstGeom prst="rect">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45720" rIns="109728"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500" b="1">
                <a:solidFill>
                  <a:srgbClr val="FFFFFF"/>
                </a:solidFill>
                <a:latin typeface="Franklin Gothic Medium"/>
              </a:rPr>
              <a:t>Coverage</a:t>
            </a:r>
            <a:r>
              <a:rPr sz="1500" b="1">
                <a:solidFill>
                  <a:srgbClr val="FFFFFF"/>
                </a:solidFill>
                <a:latin typeface="Franklin Gothic Medium"/>
              </a:rPr>
              <a:t> gap that remains</a:t>
            </a:r>
            <a:endParaRPr sz="1150">
              <a:solidFill>
                <a:srgbClr val="E3E8F5"/>
              </a:solidFill>
              <a:latin typeface="Franklin Gothic Book"/>
            </a:endParaRPr>
          </a:p>
        </p:txBody>
      </p:sp>
      <p:sp>
        <p:nvSpPr>
          <p:cNvPr id="9" name="Rectangle 8">
            <a:extLst>
              <a:ext uri="{FF2B5EF4-FFF2-40B4-BE49-F238E27FC236}">
                <a16:creationId xmlns:a16="http://schemas.microsoft.com/office/drawing/2014/main" id="{5B8755D4-84B9-1A07-4EC4-92BDF04C2C10}"/>
              </a:ext>
            </a:extLst>
          </p:cNvPr>
          <p:cNvSpPr/>
          <p:nvPr/>
        </p:nvSpPr>
        <p:spPr>
          <a:xfrm>
            <a:off x="4251960" y="5478417"/>
            <a:ext cx="3657600" cy="594360"/>
          </a:xfrm>
          <a:prstGeom prst="rect">
            <a:avLst/>
          </a:prstGeom>
          <a:solidFill>
            <a:srgbClr val="E3E8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45720" rIns="109728"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500" b="1">
                <a:solidFill>
                  <a:srgbClr val="232E6E"/>
                </a:solidFill>
                <a:latin typeface="Franklin Gothic Medium"/>
              </a:rPr>
              <a:t>Can</a:t>
            </a:r>
            <a:r>
              <a:rPr sz="1500" b="1">
                <a:solidFill>
                  <a:srgbClr val="232E6E"/>
                </a:solidFill>
                <a:latin typeface="Franklin Gothic Medium"/>
              </a:rPr>
              <a:t> fiscal space fill the gap?</a:t>
            </a:r>
            <a:endParaRPr lang="en-US" sz="1150">
              <a:solidFill>
                <a:srgbClr val="555B6E"/>
              </a:solidFill>
              <a:latin typeface="Franklin Gothic Book"/>
            </a:endParaRPr>
          </a:p>
        </p:txBody>
      </p:sp>
      <p:cxnSp>
        <p:nvCxnSpPr>
          <p:cNvPr id="16" name="Connector 24">
            <a:extLst>
              <a:ext uri="{FF2B5EF4-FFF2-40B4-BE49-F238E27FC236}">
                <a16:creationId xmlns:a16="http://schemas.microsoft.com/office/drawing/2014/main" id="{53ECAEC6-F620-894B-B2E1-CA37614BF5AC}"/>
              </a:ext>
            </a:extLst>
          </p:cNvPr>
          <p:cNvCxnSpPr/>
          <p:nvPr/>
        </p:nvCxnSpPr>
        <p:spPr>
          <a:xfrm>
            <a:off x="4023360" y="4815477"/>
            <a:ext cx="502920" cy="0"/>
          </a:xfrm>
          <a:prstGeom prst="line">
            <a:avLst/>
          </a:prstGeom>
          <a:ln w="19050">
            <a:solidFill>
              <a:srgbClr val="2B3044"/>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25">
            <a:extLst>
              <a:ext uri="{FF2B5EF4-FFF2-40B4-BE49-F238E27FC236}">
                <a16:creationId xmlns:a16="http://schemas.microsoft.com/office/drawing/2014/main" id="{992CED43-CD5E-6921-B223-62C32DF308DB}"/>
              </a:ext>
            </a:extLst>
          </p:cNvPr>
          <p:cNvCxnSpPr/>
          <p:nvPr/>
        </p:nvCxnSpPr>
        <p:spPr>
          <a:xfrm>
            <a:off x="7635240" y="4815477"/>
            <a:ext cx="502920" cy="0"/>
          </a:xfrm>
          <a:prstGeom prst="line">
            <a:avLst/>
          </a:prstGeom>
          <a:ln w="19050">
            <a:solidFill>
              <a:srgbClr val="2B3044"/>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26">
            <a:extLst>
              <a:ext uri="{FF2B5EF4-FFF2-40B4-BE49-F238E27FC236}">
                <a16:creationId xmlns:a16="http://schemas.microsoft.com/office/drawing/2014/main" id="{48CE62C2-CACA-07B5-1A5B-2280C3AFD96A}"/>
              </a:ext>
            </a:extLst>
          </p:cNvPr>
          <p:cNvCxnSpPr/>
          <p:nvPr/>
        </p:nvCxnSpPr>
        <p:spPr>
          <a:xfrm flipV="1">
            <a:off x="6080760" y="5204096"/>
            <a:ext cx="0" cy="274321"/>
          </a:xfrm>
          <a:prstGeom prst="line">
            <a:avLst/>
          </a:prstGeom>
          <a:ln w="19050">
            <a:solidFill>
              <a:srgbClr val="A85A32"/>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4">
            <a:extLst>
              <a:ext uri="{FF2B5EF4-FFF2-40B4-BE49-F238E27FC236}">
                <a16:creationId xmlns:a16="http://schemas.microsoft.com/office/drawing/2014/main" id="{7A7915B4-A059-F700-7829-0AB4EA8022DF}"/>
              </a:ext>
            </a:extLst>
          </p:cNvPr>
          <p:cNvSpPr txBox="1"/>
          <p:nvPr/>
        </p:nvSpPr>
        <p:spPr>
          <a:xfrm>
            <a:off x="822960" y="1482489"/>
            <a:ext cx="7315200" cy="320040"/>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600" b="1">
                <a:solidFill>
                  <a:srgbClr val="555B6E"/>
                </a:solidFill>
                <a:latin typeface="Franklin Gothic Medium"/>
              </a:rPr>
              <a:t>AIM 1: AGGREGATE DATA</a:t>
            </a:r>
          </a:p>
        </p:txBody>
      </p:sp>
      <p:sp>
        <p:nvSpPr>
          <p:cNvPr id="12" name="TextBox 5">
            <a:extLst>
              <a:ext uri="{FF2B5EF4-FFF2-40B4-BE49-F238E27FC236}">
                <a16:creationId xmlns:a16="http://schemas.microsoft.com/office/drawing/2014/main" id="{C74B4088-B8CD-1AE7-DF74-4AFF2E7D8B88}"/>
              </a:ext>
            </a:extLst>
          </p:cNvPr>
          <p:cNvSpPr txBox="1"/>
          <p:nvPr/>
        </p:nvSpPr>
        <p:spPr>
          <a:xfrm rot="16200000">
            <a:off x="274320" y="2193200"/>
            <a:ext cx="1005840" cy="206210"/>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1D3073"/>
                </a:solidFill>
                <a:latin typeface="Franklin Gothic Medium"/>
              </a:rPr>
              <a:t>FINANCIAL</a:t>
            </a:r>
          </a:p>
        </p:txBody>
      </p:sp>
      <p:cxnSp>
        <p:nvCxnSpPr>
          <p:cNvPr id="13" name="Connector 6">
            <a:extLst>
              <a:ext uri="{FF2B5EF4-FFF2-40B4-BE49-F238E27FC236}">
                <a16:creationId xmlns:a16="http://schemas.microsoft.com/office/drawing/2014/main" id="{7BBE246A-C439-173F-1B03-1F05B959B9A5}"/>
              </a:ext>
            </a:extLst>
          </p:cNvPr>
          <p:cNvCxnSpPr/>
          <p:nvPr/>
        </p:nvCxnSpPr>
        <p:spPr>
          <a:xfrm>
            <a:off x="1188720" y="1866537"/>
            <a:ext cx="0" cy="822960"/>
          </a:xfrm>
          <a:prstGeom prst="line">
            <a:avLst/>
          </a:prstGeom>
          <a:ln w="28575">
            <a:solidFill>
              <a:srgbClr val="232E6E"/>
            </a:solidFill>
          </a:ln>
        </p:spPr>
        <p:style>
          <a:lnRef idx="2">
            <a:schemeClr val="accent1"/>
          </a:lnRef>
          <a:fillRef idx="0">
            <a:schemeClr val="accent1"/>
          </a:fillRef>
          <a:effectRef idx="1">
            <a:schemeClr val="accent1"/>
          </a:effectRef>
          <a:fontRef idx="minor">
            <a:schemeClr val="tx1"/>
          </a:fontRef>
        </p:style>
      </p:cxnSp>
      <p:sp>
        <p:nvSpPr>
          <p:cNvPr id="14" name="TextBox 7">
            <a:extLst>
              <a:ext uri="{FF2B5EF4-FFF2-40B4-BE49-F238E27FC236}">
                <a16:creationId xmlns:a16="http://schemas.microsoft.com/office/drawing/2014/main" id="{1296C276-58F1-2F9B-3F63-E7E111837303}"/>
              </a:ext>
            </a:extLst>
          </p:cNvPr>
          <p:cNvSpPr txBox="1"/>
          <p:nvPr/>
        </p:nvSpPr>
        <p:spPr>
          <a:xfrm>
            <a:off x="1280160" y="1866537"/>
            <a:ext cx="3200400" cy="590931"/>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2B3044"/>
                </a:solidFill>
                <a:latin typeface="Franklin Gothic Medium"/>
              </a:rPr>
              <a:t>Government finances</a:t>
            </a:r>
          </a:p>
          <a:p>
            <a:r>
              <a:rPr lang="en-US" sz="1150" b="0">
                <a:solidFill>
                  <a:srgbClr val="555B6E"/>
                </a:solidFill>
                <a:ea typeface="+mn-lt"/>
                <a:cs typeface="+mn-lt"/>
              </a:rPr>
              <a:t>IMF World Economic Outlook</a:t>
            </a:r>
            <a:r>
              <a:rPr lang="en-US" sz="1150">
                <a:solidFill>
                  <a:srgbClr val="555B6E"/>
                </a:solidFill>
                <a:ea typeface="+mn-lt"/>
                <a:cs typeface="+mn-lt"/>
              </a:rPr>
              <a:t>;</a:t>
            </a:r>
            <a:r>
              <a:rPr lang="en-US" sz="1150" b="0">
                <a:solidFill>
                  <a:srgbClr val="555B6E"/>
                </a:solidFill>
                <a:ea typeface="+mn-lt"/>
                <a:cs typeface="+mn-lt"/>
              </a:rPr>
              <a:t> </a:t>
            </a:r>
            <a:r>
              <a:rPr lang="en-US" sz="1150">
                <a:solidFill>
                  <a:srgbClr val="555B6E"/>
                </a:solidFill>
                <a:ea typeface="+mn-lt"/>
                <a:cs typeface="+mn-lt"/>
              </a:rPr>
              <a:t>World Bank WDI; </a:t>
            </a:r>
            <a:r>
              <a:rPr lang="en-US" sz="1150" b="0">
                <a:solidFill>
                  <a:srgbClr val="555B6E"/>
                </a:solidFill>
                <a:ea typeface="+mn-lt"/>
                <a:cs typeface="+mn-lt"/>
              </a:rPr>
              <a:t>IHME GDP</a:t>
            </a:r>
            <a:endParaRPr lang="en-US">
              <a:ea typeface="+mn-lt"/>
              <a:cs typeface="+mn-lt"/>
            </a:endParaRPr>
          </a:p>
        </p:txBody>
      </p:sp>
      <p:cxnSp>
        <p:nvCxnSpPr>
          <p:cNvPr id="19" name="Connector 8">
            <a:extLst>
              <a:ext uri="{FF2B5EF4-FFF2-40B4-BE49-F238E27FC236}">
                <a16:creationId xmlns:a16="http://schemas.microsoft.com/office/drawing/2014/main" id="{4B74A23A-4D29-B541-883B-5685A9D1D1DE}"/>
              </a:ext>
            </a:extLst>
          </p:cNvPr>
          <p:cNvCxnSpPr/>
          <p:nvPr/>
        </p:nvCxnSpPr>
        <p:spPr>
          <a:xfrm>
            <a:off x="4754880" y="1866537"/>
            <a:ext cx="0" cy="822960"/>
          </a:xfrm>
          <a:prstGeom prst="line">
            <a:avLst/>
          </a:prstGeom>
          <a:ln w="28575">
            <a:solidFill>
              <a:srgbClr val="232E6E"/>
            </a:solidFill>
          </a:ln>
        </p:spPr>
        <p:style>
          <a:lnRef idx="2">
            <a:schemeClr val="accent1"/>
          </a:lnRef>
          <a:fillRef idx="0">
            <a:schemeClr val="accent1"/>
          </a:fillRef>
          <a:effectRef idx="1">
            <a:schemeClr val="accent1"/>
          </a:effectRef>
          <a:fontRef idx="minor">
            <a:schemeClr val="tx1"/>
          </a:fontRef>
        </p:style>
      </p:cxnSp>
      <p:sp>
        <p:nvSpPr>
          <p:cNvPr id="20" name="TextBox 9">
            <a:extLst>
              <a:ext uri="{FF2B5EF4-FFF2-40B4-BE49-F238E27FC236}">
                <a16:creationId xmlns:a16="http://schemas.microsoft.com/office/drawing/2014/main" id="{7A30ABC4-50BF-2974-EA2E-F9D359831959}"/>
              </a:ext>
            </a:extLst>
          </p:cNvPr>
          <p:cNvSpPr txBox="1"/>
          <p:nvPr/>
        </p:nvSpPr>
        <p:spPr>
          <a:xfrm>
            <a:off x="4846320" y="1866537"/>
            <a:ext cx="3200400" cy="590931"/>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2B3044"/>
                </a:solidFill>
                <a:latin typeface="Franklin Gothic Medium"/>
              </a:rPr>
              <a:t>Health spending by source</a:t>
            </a:r>
          </a:p>
          <a:p>
            <a:r>
              <a:rPr lang="en-US" sz="1150">
                <a:solidFill>
                  <a:srgbClr val="555B6E"/>
                </a:solidFill>
                <a:ea typeface="+mn-lt"/>
                <a:cs typeface="+mn-lt"/>
              </a:rPr>
              <a:t>IHME Health Spending 1995-2050; WHO Global Health Expenditure Database</a:t>
            </a:r>
            <a:endParaRPr lang="en-US"/>
          </a:p>
        </p:txBody>
      </p:sp>
      <p:cxnSp>
        <p:nvCxnSpPr>
          <p:cNvPr id="21" name="Connector 10">
            <a:extLst>
              <a:ext uri="{FF2B5EF4-FFF2-40B4-BE49-F238E27FC236}">
                <a16:creationId xmlns:a16="http://schemas.microsoft.com/office/drawing/2014/main" id="{29AA2530-64A4-9E39-3D3A-A1799637BA7A}"/>
              </a:ext>
            </a:extLst>
          </p:cNvPr>
          <p:cNvCxnSpPr/>
          <p:nvPr/>
        </p:nvCxnSpPr>
        <p:spPr>
          <a:xfrm>
            <a:off x="8321040" y="1866537"/>
            <a:ext cx="0" cy="822960"/>
          </a:xfrm>
          <a:prstGeom prst="line">
            <a:avLst/>
          </a:prstGeom>
          <a:ln w="28575">
            <a:solidFill>
              <a:srgbClr val="232E6E"/>
            </a:solidFill>
          </a:ln>
        </p:spPr>
        <p:style>
          <a:lnRef idx="2">
            <a:schemeClr val="accent1"/>
          </a:lnRef>
          <a:fillRef idx="0">
            <a:schemeClr val="accent1"/>
          </a:fillRef>
          <a:effectRef idx="1">
            <a:schemeClr val="accent1"/>
          </a:effectRef>
          <a:fontRef idx="minor">
            <a:schemeClr val="tx1"/>
          </a:fontRef>
        </p:style>
      </p:cxnSp>
      <p:sp>
        <p:nvSpPr>
          <p:cNvPr id="22" name="TextBox 11">
            <a:extLst>
              <a:ext uri="{FF2B5EF4-FFF2-40B4-BE49-F238E27FC236}">
                <a16:creationId xmlns:a16="http://schemas.microsoft.com/office/drawing/2014/main" id="{42241E47-88E2-A8B9-3736-3AF380A3ED47}"/>
              </a:ext>
            </a:extLst>
          </p:cNvPr>
          <p:cNvSpPr txBox="1"/>
          <p:nvPr/>
        </p:nvSpPr>
        <p:spPr>
          <a:xfrm>
            <a:off x="8412480" y="1866537"/>
            <a:ext cx="3200400" cy="767903"/>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2B3044"/>
                </a:solidFill>
                <a:latin typeface="Franklin Gothic Medium"/>
              </a:rPr>
              <a:t>Health aid by channel</a:t>
            </a:r>
          </a:p>
          <a:p>
            <a:r>
              <a:rPr lang="en-US" sz="1150">
                <a:solidFill>
                  <a:srgbClr val="555B6E"/>
                </a:solidFill>
                <a:ea typeface="+mn-lt"/>
                <a:cs typeface="+mn-lt"/>
              </a:rPr>
              <a:t>IHME Development Assistance for Health 1990-2026; KFF MOU tracker; OECD 2025 aid; Gavi and Global Fund replenishments</a:t>
            </a:r>
            <a:endParaRPr lang="en-US"/>
          </a:p>
        </p:txBody>
      </p:sp>
      <p:sp>
        <p:nvSpPr>
          <p:cNvPr id="23" name="TextBox 12">
            <a:extLst>
              <a:ext uri="{FF2B5EF4-FFF2-40B4-BE49-F238E27FC236}">
                <a16:creationId xmlns:a16="http://schemas.microsoft.com/office/drawing/2014/main" id="{52AEF1C5-5546-F540-0959-31239BD679AA}"/>
              </a:ext>
            </a:extLst>
          </p:cNvPr>
          <p:cNvSpPr txBox="1"/>
          <p:nvPr/>
        </p:nvSpPr>
        <p:spPr>
          <a:xfrm rot="16200000">
            <a:off x="274320" y="3153320"/>
            <a:ext cx="1005840" cy="206210"/>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1D3073"/>
                </a:solidFill>
                <a:latin typeface="Franklin Gothic Medium"/>
              </a:rPr>
              <a:t>HEALTH</a:t>
            </a:r>
          </a:p>
        </p:txBody>
      </p:sp>
      <p:cxnSp>
        <p:nvCxnSpPr>
          <p:cNvPr id="24" name="Connector 13">
            <a:extLst>
              <a:ext uri="{FF2B5EF4-FFF2-40B4-BE49-F238E27FC236}">
                <a16:creationId xmlns:a16="http://schemas.microsoft.com/office/drawing/2014/main" id="{EA424606-E0FD-513D-B731-24430B0EB160}"/>
              </a:ext>
            </a:extLst>
          </p:cNvPr>
          <p:cNvCxnSpPr/>
          <p:nvPr/>
        </p:nvCxnSpPr>
        <p:spPr>
          <a:xfrm>
            <a:off x="1188720" y="2826657"/>
            <a:ext cx="0" cy="822959"/>
          </a:xfrm>
          <a:prstGeom prst="line">
            <a:avLst/>
          </a:prstGeom>
          <a:ln w="28575">
            <a:solidFill>
              <a:srgbClr val="232E6E"/>
            </a:solidFill>
          </a:ln>
        </p:spPr>
        <p:style>
          <a:lnRef idx="2">
            <a:schemeClr val="accent1"/>
          </a:lnRef>
          <a:fillRef idx="0">
            <a:schemeClr val="accent1"/>
          </a:fillRef>
          <a:effectRef idx="1">
            <a:schemeClr val="accent1"/>
          </a:effectRef>
          <a:fontRef idx="minor">
            <a:schemeClr val="tx1"/>
          </a:fontRef>
        </p:style>
      </p:cxnSp>
      <p:sp>
        <p:nvSpPr>
          <p:cNvPr id="25" name="TextBox 14">
            <a:extLst>
              <a:ext uri="{FF2B5EF4-FFF2-40B4-BE49-F238E27FC236}">
                <a16:creationId xmlns:a16="http://schemas.microsoft.com/office/drawing/2014/main" id="{4F38E2EF-1D65-716D-F7C8-EF22F7B910F7}"/>
              </a:ext>
            </a:extLst>
          </p:cNvPr>
          <p:cNvSpPr txBox="1"/>
          <p:nvPr/>
        </p:nvSpPr>
        <p:spPr>
          <a:xfrm>
            <a:off x="1280160" y="2826657"/>
            <a:ext cx="3200400" cy="767903"/>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2B3044"/>
                </a:solidFill>
                <a:latin typeface="Franklin Gothic Medium"/>
              </a:rPr>
              <a:t>Need and current coverage</a:t>
            </a:r>
          </a:p>
          <a:p>
            <a:r>
              <a:rPr lang="en-US" sz="1150" b="0">
                <a:solidFill>
                  <a:srgbClr val="555B6E"/>
                </a:solidFill>
                <a:ea typeface="+mn-lt"/>
                <a:cs typeface="+mn-lt"/>
              </a:rPr>
              <a:t>UNAIDS 2026; WHO TB</a:t>
            </a:r>
            <a:r>
              <a:rPr lang="en-US" sz="1150">
                <a:solidFill>
                  <a:srgbClr val="555B6E"/>
                </a:solidFill>
                <a:ea typeface="+mn-lt"/>
                <a:cs typeface="+mn-lt"/>
              </a:rPr>
              <a:t>, GHO</a:t>
            </a:r>
            <a:r>
              <a:rPr lang="en-US" sz="1150" b="0">
                <a:solidFill>
                  <a:srgbClr val="555B6E"/>
                </a:solidFill>
                <a:ea typeface="+mn-lt"/>
                <a:cs typeface="+mn-lt"/>
              </a:rPr>
              <a:t> and </a:t>
            </a:r>
            <a:r>
              <a:rPr lang="en-US" sz="1150">
                <a:solidFill>
                  <a:srgbClr val="555B6E"/>
                </a:solidFill>
                <a:ea typeface="+mn-lt"/>
                <a:cs typeface="+mn-lt"/>
              </a:rPr>
              <a:t>World Malaria Report</a:t>
            </a:r>
            <a:r>
              <a:rPr lang="en-US" sz="1150" b="0">
                <a:solidFill>
                  <a:srgbClr val="555B6E"/>
                </a:solidFill>
                <a:ea typeface="+mn-lt"/>
                <a:cs typeface="+mn-lt"/>
              </a:rPr>
              <a:t>; Malaria Atlas Project; WHO/UNICEF </a:t>
            </a:r>
            <a:r>
              <a:rPr lang="en-US" sz="1150">
                <a:solidFill>
                  <a:srgbClr val="555B6E"/>
                </a:solidFill>
                <a:ea typeface="+mn-lt"/>
                <a:cs typeface="+mn-lt"/>
              </a:rPr>
              <a:t>vaccine coverage</a:t>
            </a:r>
            <a:r>
              <a:rPr lang="en-US" sz="1150" b="0">
                <a:solidFill>
                  <a:srgbClr val="555B6E"/>
                </a:solidFill>
                <a:ea typeface="+mn-lt"/>
                <a:cs typeface="+mn-lt"/>
              </a:rPr>
              <a:t>; UN population</a:t>
            </a:r>
            <a:endParaRPr lang="en-US">
              <a:ea typeface="+mn-lt"/>
              <a:cs typeface="+mn-lt"/>
            </a:endParaRPr>
          </a:p>
        </p:txBody>
      </p:sp>
      <p:cxnSp>
        <p:nvCxnSpPr>
          <p:cNvPr id="26" name="Connector 15">
            <a:extLst>
              <a:ext uri="{FF2B5EF4-FFF2-40B4-BE49-F238E27FC236}">
                <a16:creationId xmlns:a16="http://schemas.microsoft.com/office/drawing/2014/main" id="{D8D38737-1EB3-CA61-79AB-883BF2EFB972}"/>
              </a:ext>
            </a:extLst>
          </p:cNvPr>
          <p:cNvCxnSpPr/>
          <p:nvPr/>
        </p:nvCxnSpPr>
        <p:spPr>
          <a:xfrm>
            <a:off x="4754880" y="2826657"/>
            <a:ext cx="0" cy="822959"/>
          </a:xfrm>
          <a:prstGeom prst="line">
            <a:avLst/>
          </a:prstGeom>
          <a:ln w="28575">
            <a:solidFill>
              <a:srgbClr val="232E6E"/>
            </a:solidFill>
          </a:ln>
        </p:spPr>
        <p:style>
          <a:lnRef idx="2">
            <a:schemeClr val="accent1"/>
          </a:lnRef>
          <a:fillRef idx="0">
            <a:schemeClr val="accent1"/>
          </a:fillRef>
          <a:effectRef idx="1">
            <a:schemeClr val="accent1"/>
          </a:effectRef>
          <a:fontRef idx="minor">
            <a:schemeClr val="tx1"/>
          </a:fontRef>
        </p:style>
      </p:cxnSp>
      <p:sp>
        <p:nvSpPr>
          <p:cNvPr id="27" name="TextBox 16">
            <a:extLst>
              <a:ext uri="{FF2B5EF4-FFF2-40B4-BE49-F238E27FC236}">
                <a16:creationId xmlns:a16="http://schemas.microsoft.com/office/drawing/2014/main" id="{296D136A-9F11-1682-5FD2-F88459921773}"/>
              </a:ext>
            </a:extLst>
          </p:cNvPr>
          <p:cNvSpPr txBox="1"/>
          <p:nvPr/>
        </p:nvSpPr>
        <p:spPr>
          <a:xfrm>
            <a:off x="4846320" y="2826657"/>
            <a:ext cx="3200400" cy="767903"/>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2B3044"/>
                </a:solidFill>
                <a:latin typeface="Franklin Gothic Medium"/>
              </a:rPr>
              <a:t>Cost per person served</a:t>
            </a:r>
          </a:p>
          <a:p>
            <a:r>
              <a:rPr lang="en-US" sz="1150" b="0">
                <a:solidFill>
                  <a:srgbClr val="555B6E"/>
                </a:solidFill>
                <a:ea typeface="+mn-lt"/>
                <a:cs typeface="+mn-lt"/>
              </a:rPr>
              <a:t>GHCC unit costs; Value TB; </a:t>
            </a:r>
            <a:r>
              <a:rPr lang="en-US" sz="1150">
                <a:solidFill>
                  <a:srgbClr val="555B6E"/>
                </a:solidFill>
                <a:ea typeface="+mn-lt"/>
                <a:cs typeface="+mn-lt"/>
              </a:rPr>
              <a:t>Rosen 2021; Optima HIV and WHO GHED spending; </a:t>
            </a:r>
            <a:r>
              <a:rPr lang="en-US" sz="1150" b="0">
                <a:solidFill>
                  <a:srgbClr val="555B6E"/>
                </a:solidFill>
                <a:ea typeface="+mn-lt"/>
                <a:cs typeface="+mn-lt"/>
              </a:rPr>
              <a:t>Global Fund budgets; </a:t>
            </a:r>
            <a:r>
              <a:rPr lang="en-US" sz="1150">
                <a:solidFill>
                  <a:srgbClr val="555B6E"/>
                </a:solidFill>
                <a:ea typeface="+mn-lt"/>
                <a:cs typeface="+mn-lt"/>
              </a:rPr>
              <a:t>published cost studies</a:t>
            </a:r>
            <a:endParaRPr lang="en-US"/>
          </a:p>
        </p:txBody>
      </p:sp>
      <p:cxnSp>
        <p:nvCxnSpPr>
          <p:cNvPr id="28" name="Connector 17">
            <a:extLst>
              <a:ext uri="{FF2B5EF4-FFF2-40B4-BE49-F238E27FC236}">
                <a16:creationId xmlns:a16="http://schemas.microsoft.com/office/drawing/2014/main" id="{9FB63D19-1F3F-8AF0-BFD4-CABE8F75183C}"/>
              </a:ext>
            </a:extLst>
          </p:cNvPr>
          <p:cNvCxnSpPr/>
          <p:nvPr/>
        </p:nvCxnSpPr>
        <p:spPr>
          <a:xfrm>
            <a:off x="8321040" y="2826657"/>
            <a:ext cx="0" cy="822959"/>
          </a:xfrm>
          <a:prstGeom prst="line">
            <a:avLst/>
          </a:prstGeom>
          <a:ln w="28575">
            <a:solidFill>
              <a:srgbClr val="232E6E"/>
            </a:solidFill>
          </a:ln>
        </p:spPr>
        <p:style>
          <a:lnRef idx="2">
            <a:schemeClr val="accent1"/>
          </a:lnRef>
          <a:fillRef idx="0">
            <a:schemeClr val="accent1"/>
          </a:fillRef>
          <a:effectRef idx="1">
            <a:schemeClr val="accent1"/>
          </a:effectRef>
          <a:fontRef idx="minor">
            <a:schemeClr val="tx1"/>
          </a:fontRef>
        </p:style>
      </p:cxnSp>
      <p:sp>
        <p:nvSpPr>
          <p:cNvPr id="29" name="TextBox 18">
            <a:extLst>
              <a:ext uri="{FF2B5EF4-FFF2-40B4-BE49-F238E27FC236}">
                <a16:creationId xmlns:a16="http://schemas.microsoft.com/office/drawing/2014/main" id="{8810BF4B-78FB-8742-B139-C381D0B774F7}"/>
              </a:ext>
            </a:extLst>
          </p:cNvPr>
          <p:cNvSpPr txBox="1"/>
          <p:nvPr/>
        </p:nvSpPr>
        <p:spPr>
          <a:xfrm>
            <a:off x="8412480" y="2826657"/>
            <a:ext cx="3200400" cy="868680"/>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2B3044"/>
                </a:solidFill>
                <a:latin typeface="Franklin Gothic Medium"/>
              </a:rPr>
              <a:t>Effect of losing care</a:t>
            </a:r>
          </a:p>
          <a:p>
            <a:pPr algn="l"/>
            <a:r>
              <a:rPr sz="1150" b="0">
                <a:solidFill>
                  <a:srgbClr val="555B6E"/>
                </a:solidFill>
                <a:latin typeface="Franklin Gothic Book"/>
              </a:rPr>
              <a:t>Optima HIV (ten Brink 2025); WHO TB; Lives Saved Tool; Vaccine Impact Modelling Consortium</a:t>
            </a:r>
          </a:p>
        </p:txBody>
      </p:sp>
      <p:sp>
        <p:nvSpPr>
          <p:cNvPr id="30" name="TextBox 3">
            <a:extLst>
              <a:ext uri="{FF2B5EF4-FFF2-40B4-BE49-F238E27FC236}">
                <a16:creationId xmlns:a16="http://schemas.microsoft.com/office/drawing/2014/main" id="{5BD6F135-3ED4-ACD1-C98F-7B7A4AA4657E}"/>
              </a:ext>
            </a:extLst>
          </p:cNvPr>
          <p:cNvSpPr txBox="1"/>
          <p:nvPr/>
        </p:nvSpPr>
        <p:spPr>
          <a:xfrm>
            <a:off x="640080" y="1160272"/>
            <a:ext cx="10607040" cy="320040"/>
          </a:xfrm>
          <a:prstGeom prst="rect">
            <a:avLst/>
          </a:prstGeom>
          <a:noFill/>
        </p:spPr>
        <p:txBody>
          <a:bodyPr wrap="square" lIns="45720" tIns="18288" rIns="45720" bIns="18288"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300" b="1">
                <a:solidFill>
                  <a:srgbClr val="A85A32"/>
                </a:solidFill>
                <a:latin typeface="Franklin Gothic Medium"/>
              </a:rPr>
              <a:t>26 DATASETS   |   16 ORGANIZATIONS   |   32 PUBLISHED STUDIES   |   70 COUNTRIES</a:t>
            </a:r>
          </a:p>
        </p:txBody>
      </p:sp>
    </p:spTree>
    <p:extLst>
      <p:ext uri="{BB962C8B-B14F-4D97-AF65-F5344CB8AC3E}">
        <p14:creationId xmlns:p14="http://schemas.microsoft.com/office/powerpoint/2010/main" val="3140781773"/>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300FB14B-2B1F-F825-2E9C-2FB9266587B8}"/>
              </a:ext>
            </a:extLst>
          </p:cNvPr>
          <p:cNvGrpSpPr/>
          <p:nvPr/>
        </p:nvGrpSpPr>
        <p:grpSpPr>
          <a:xfrm>
            <a:off x="624439" y="1889040"/>
            <a:ext cx="7082878" cy="2959975"/>
            <a:chOff x="958405" y="2114223"/>
            <a:chExt cx="6242050" cy="2552700"/>
          </a:xfrm>
        </p:grpSpPr>
        <p:pic>
          <p:nvPicPr>
            <p:cNvPr id="5" name="Image 0" descr="Kenya health spending by source, 2015-2023: foreign aid, government, prepaid private, out of pocket"/>
            <p:cNvPicPr>
              <a:picLocks noChangeAspect="1"/>
            </p:cNvPicPr>
            <p:nvPr/>
          </p:nvPicPr>
          <p:blipFill>
            <a:blip r:embed="rId3"/>
            <a:srcRect l="-83" r="-83"/>
            <a:stretch/>
          </p:blipFill>
          <p:spPr>
            <a:xfrm>
              <a:off x="961580" y="2117398"/>
              <a:ext cx="3060700" cy="2546350"/>
            </a:xfrm>
            <a:prstGeom prst="roundRect">
              <a:avLst>
                <a:gd name="adj" fmla="val 1746"/>
              </a:avLst>
            </a:prstGeom>
          </p:spPr>
        </p:pic>
        <p:sp>
          <p:nvSpPr>
            <p:cNvPr id="6" name="Shape 3"/>
            <p:cNvSpPr/>
            <p:nvPr/>
          </p:nvSpPr>
          <p:spPr>
            <a:xfrm>
              <a:off x="958405" y="2114223"/>
              <a:ext cx="3067050" cy="2552700"/>
            </a:xfrm>
            <a:prstGeom prst="roundRect">
              <a:avLst>
                <a:gd name="adj" fmla="val 1866"/>
              </a:avLst>
            </a:prstGeom>
            <a:noFill/>
            <a:ln w="6350">
              <a:solidFill>
                <a:srgbClr val="DDD7CA"/>
              </a:solidFill>
              <a:prstDash val="solid"/>
            </a:ln>
          </p:spPr>
          <p:txBody>
            <a:bodyPr/>
            <a:lstStyle/>
            <a:p>
              <a:endParaRPr lang="en-US"/>
            </a:p>
          </p:txBody>
        </p:sp>
        <p:pic>
          <p:nvPicPr>
            <p:cNvPr id="8" name="Image 1" descr="Kenya 2023 government revenue and spending treemap with revenue, spending, deficit and debt cards"/>
            <p:cNvPicPr>
              <a:picLocks noChangeAspect="1"/>
            </p:cNvPicPr>
            <p:nvPr/>
          </p:nvPicPr>
          <p:blipFill>
            <a:blip r:embed="rId4"/>
            <a:srcRect l="-83" r="-83"/>
            <a:stretch/>
          </p:blipFill>
          <p:spPr>
            <a:xfrm>
              <a:off x="4136580" y="2117398"/>
              <a:ext cx="3060700" cy="2546350"/>
            </a:xfrm>
            <a:prstGeom prst="roundRect">
              <a:avLst>
                <a:gd name="adj" fmla="val 1746"/>
              </a:avLst>
            </a:prstGeom>
          </p:spPr>
        </p:pic>
        <p:sp>
          <p:nvSpPr>
            <p:cNvPr id="9" name="Shape 5"/>
            <p:cNvSpPr/>
            <p:nvPr/>
          </p:nvSpPr>
          <p:spPr>
            <a:xfrm>
              <a:off x="4133405" y="2114223"/>
              <a:ext cx="3067050" cy="2552700"/>
            </a:xfrm>
            <a:prstGeom prst="roundRect">
              <a:avLst>
                <a:gd name="adj" fmla="val 1866"/>
              </a:avLst>
            </a:prstGeom>
            <a:noFill/>
            <a:ln w="6350">
              <a:solidFill>
                <a:srgbClr val="DDD7CA"/>
              </a:solidFill>
              <a:prstDash val="solid"/>
            </a:ln>
          </p:spPr>
          <p:txBody>
            <a:bodyPr/>
            <a:lstStyle/>
            <a:p>
              <a:endParaRPr lang="en-US"/>
            </a:p>
          </p:txBody>
        </p:sp>
      </p:grpSp>
      <p:pic>
        <p:nvPicPr>
          <p:cNvPr id="10" name="Image 2" descr="THE_c = GHES_c + DAH_c + PPS_c + OOP_c; phi_c = DAH_c / THE_c; G_c = R_c + B_c; h_c = GHES_c / G_c"/>
          <p:cNvPicPr>
            <a:picLocks noChangeAspect="1"/>
          </p:cNvPicPr>
          <p:nvPr/>
        </p:nvPicPr>
        <p:blipFill>
          <a:blip r:embed="rId5"/>
          <a:srcRect l="-350" r="-350"/>
          <a:stretch/>
        </p:blipFill>
        <p:spPr>
          <a:xfrm>
            <a:off x="7852600" y="1827838"/>
            <a:ext cx="3060700" cy="1136650"/>
          </a:xfrm>
          <a:prstGeom prst="roundRect">
            <a:avLst>
              <a:gd name="adj" fmla="val 3911"/>
            </a:avLst>
          </a:prstGeom>
        </p:spPr>
      </p:pic>
      <p:sp>
        <p:nvSpPr>
          <p:cNvPr id="11" name="Shape 6"/>
          <p:cNvSpPr/>
          <p:nvPr/>
        </p:nvSpPr>
        <p:spPr>
          <a:xfrm>
            <a:off x="7849425" y="1824663"/>
            <a:ext cx="3067050" cy="1143000"/>
          </a:xfrm>
          <a:prstGeom prst="roundRect">
            <a:avLst>
              <a:gd name="adj" fmla="val 4167"/>
            </a:avLst>
          </a:prstGeom>
          <a:noFill/>
          <a:ln w="6350">
            <a:solidFill>
              <a:srgbClr val="DDD7CA"/>
            </a:solidFill>
            <a:prstDash val="solid"/>
          </a:ln>
        </p:spPr>
        <p:txBody>
          <a:bodyPr/>
          <a:lstStyle/>
          <a:p>
            <a:endParaRPr lang="en-US"/>
          </a:p>
        </p:txBody>
      </p:sp>
      <p:pic>
        <p:nvPicPr>
          <p:cNvPr id="12" name="Image 3" descr="Key: THE total health expenditure in country c; GHES government health spending; DAH development assistance for health; PPS prepaid private spending; OOP out-of-pocket spending; phi aid dependence; G, R, B government spending, revenue, borrowing; h health share of government spending"/>
          <p:cNvPicPr>
            <a:picLocks noChangeAspect="1"/>
          </p:cNvPicPr>
          <p:nvPr/>
        </p:nvPicPr>
        <p:blipFill>
          <a:blip r:embed="rId6"/>
          <a:srcRect l="-202" r="-202"/>
          <a:stretch/>
        </p:blipFill>
        <p:spPr>
          <a:xfrm>
            <a:off x="7852600" y="3129588"/>
            <a:ext cx="4051300" cy="2095500"/>
          </a:xfrm>
          <a:prstGeom prst="roundRect">
            <a:avLst>
              <a:gd name="adj" fmla="val 2121"/>
            </a:avLst>
          </a:prstGeom>
        </p:spPr>
      </p:pic>
      <p:sp>
        <p:nvSpPr>
          <p:cNvPr id="13" name="Shape 7"/>
          <p:cNvSpPr/>
          <p:nvPr/>
        </p:nvSpPr>
        <p:spPr>
          <a:xfrm>
            <a:off x="7849425" y="3126413"/>
            <a:ext cx="4057650" cy="2101850"/>
          </a:xfrm>
          <a:prstGeom prst="roundRect">
            <a:avLst>
              <a:gd name="adj" fmla="val 2266"/>
            </a:avLst>
          </a:prstGeom>
          <a:noFill/>
          <a:ln w="6350">
            <a:solidFill>
              <a:srgbClr val="DDD7CA"/>
            </a:solidFill>
            <a:prstDash val="solid"/>
          </a:ln>
        </p:spPr>
        <p:txBody>
          <a:bodyPr/>
          <a:lstStyle/>
          <a:p>
            <a:endParaRPr lang="en-US"/>
          </a:p>
        </p:txBody>
      </p:sp>
      <p:sp>
        <p:nvSpPr>
          <p:cNvPr id="18" name="Title 1">
            <a:extLst>
              <a:ext uri="{FF2B5EF4-FFF2-40B4-BE49-F238E27FC236}">
                <a16:creationId xmlns:a16="http://schemas.microsoft.com/office/drawing/2014/main" id="{CC7601D9-0E64-EC3A-25B3-010C47831362}"/>
              </a:ext>
            </a:extLst>
          </p:cNvPr>
          <p:cNvSpPr>
            <a:spLocks noGrp="1"/>
          </p:cNvSpPr>
          <p:nvPr>
            <p:ph type="title"/>
          </p:nvPr>
        </p:nvSpPr>
        <p:spPr>
          <a:xfrm>
            <a:off x="-21988" y="-58259"/>
            <a:ext cx="12444026" cy="1012771"/>
          </a:xfrm>
          <a:solidFill>
            <a:srgbClr val="1C3073"/>
          </a:solidFill>
          <a:ln w="57150">
            <a:solidFill>
              <a:srgbClr val="1B2F73"/>
            </a:solidFill>
          </a:ln>
        </p:spPr>
        <p:txBody>
          <a:bodyPr vert="horz" lIns="91440" tIns="45720" rIns="91440" bIns="45720" rtlCol="0" anchor="ctr">
            <a:normAutofit/>
          </a:bodyPr>
          <a:lstStyle/>
          <a:p>
            <a:pPr>
              <a:lnSpc>
                <a:spcPct val="90000"/>
              </a:lnSpc>
            </a:pPr>
            <a:r>
              <a:rPr lang="en-US" sz="2800">
                <a:solidFill>
                  <a:schemeClr val="bg1"/>
                </a:solidFill>
                <a:latin typeface="Franklin Gothic Medium"/>
                <a:ea typeface="+mj-lt"/>
                <a:cs typeface="+mj-lt"/>
              </a:rPr>
              <a:t>Dashboard – Domestic government and international aid contribute to health spending</a:t>
            </a:r>
          </a:p>
        </p:txBody>
      </p:sp>
      <p:pic>
        <p:nvPicPr>
          <p:cNvPr id="3" name="Picture 2" descr="Yale Jackson School of Global Affairs - Wikipedia">
            <a:extLst>
              <a:ext uri="{FF2B5EF4-FFF2-40B4-BE49-F238E27FC236}">
                <a16:creationId xmlns:a16="http://schemas.microsoft.com/office/drawing/2014/main" id="{2E0AF153-9BC6-3BF7-6F6B-6B1EDD0FBB77}"/>
              </a:ext>
            </a:extLst>
          </p:cNvPr>
          <p:cNvPicPr>
            <a:picLocks noChangeAspect="1"/>
          </p:cNvPicPr>
          <p:nvPr/>
        </p:nvPicPr>
        <p:blipFill>
          <a:blip r:embed="rId7"/>
          <a:srcRect/>
          <a:stretch>
            <a:fillRect/>
          </a:stretch>
        </p:blipFill>
        <p:spPr>
          <a:xfrm>
            <a:off x="338944" y="6257970"/>
            <a:ext cx="491134" cy="465099"/>
          </a:xfrm>
          <a:prstGeom prst="rect">
            <a:avLst/>
          </a:prstGeom>
        </p:spPr>
      </p:pic>
      <p:pic>
        <p:nvPicPr>
          <p:cNvPr id="7" name="Picture 6" descr="Yale Jackson School of Global Affairs - National Peace Corps Association">
            <a:extLst>
              <a:ext uri="{FF2B5EF4-FFF2-40B4-BE49-F238E27FC236}">
                <a16:creationId xmlns:a16="http://schemas.microsoft.com/office/drawing/2014/main" id="{888A05BD-1852-6E58-09C1-A59760C2FB46}"/>
              </a:ext>
            </a:extLst>
          </p:cNvPr>
          <p:cNvPicPr>
            <a:picLocks noChangeAspect="1"/>
          </p:cNvPicPr>
          <p:nvPr/>
        </p:nvPicPr>
        <p:blipFill>
          <a:blip r:embed="rId8"/>
          <a:srcRect l="-3079" t="-13043" r="-4016" b="-14493"/>
          <a:stretch>
            <a:fillRect/>
          </a:stretch>
        </p:blipFill>
        <p:spPr>
          <a:xfrm>
            <a:off x="826286" y="6258187"/>
            <a:ext cx="2419332" cy="564644"/>
          </a:xfrm>
          <a:prstGeom prst="rect">
            <a:avLst/>
          </a:prstGeom>
        </p:spPr>
      </p:pic>
      <p:sp>
        <p:nvSpPr>
          <p:cNvPr id="4" name="Slide Number Placeholder 3">
            <a:extLst>
              <a:ext uri="{FF2B5EF4-FFF2-40B4-BE49-F238E27FC236}">
                <a16:creationId xmlns:a16="http://schemas.microsoft.com/office/drawing/2014/main" id="{B8F6959A-B050-84A9-66D1-7C940EFAF6D0}"/>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13</a:t>
            </a:fld>
            <a:endParaRPr lang="en-US" sz="1400">
              <a:latin typeface="Georgia"/>
            </a:endParaRPr>
          </a:p>
        </p:txBody>
      </p:sp>
    </p:spTree>
    <p:extLst>
      <p:ext uri="{BB962C8B-B14F-4D97-AF65-F5344CB8AC3E}">
        <p14:creationId xmlns:p14="http://schemas.microsoft.com/office/powerpoint/2010/main" val="2599088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5" name="Image 0" descr="Health aid to Kenya by funder, all focus areas, 2015-2023; lighter shades are NGO and foundation channels"/>
          <p:cNvPicPr>
            <a:picLocks noChangeAspect="1"/>
          </p:cNvPicPr>
          <p:nvPr/>
        </p:nvPicPr>
        <p:blipFill>
          <a:blip r:embed="rId3"/>
          <a:srcRect t="-7" b="-7"/>
          <a:stretch/>
        </p:blipFill>
        <p:spPr>
          <a:xfrm>
            <a:off x="819150" y="1177361"/>
            <a:ext cx="4990625" cy="4130407"/>
          </a:xfrm>
          <a:prstGeom prst="roundRect">
            <a:avLst>
              <a:gd name="adj" fmla="val 1763"/>
            </a:avLst>
          </a:prstGeom>
        </p:spPr>
      </p:pic>
      <p:sp>
        <p:nvSpPr>
          <p:cNvPr id="6" name="Shape 3"/>
          <p:cNvSpPr/>
          <p:nvPr/>
        </p:nvSpPr>
        <p:spPr>
          <a:xfrm>
            <a:off x="815975" y="1174186"/>
            <a:ext cx="5139405" cy="4136757"/>
          </a:xfrm>
          <a:prstGeom prst="roundRect">
            <a:avLst>
              <a:gd name="adj" fmla="val 1884"/>
            </a:avLst>
          </a:prstGeom>
          <a:noFill/>
          <a:ln w="6350">
            <a:solidFill>
              <a:srgbClr val="DDD7CA"/>
            </a:solidFill>
            <a:prstDash val="solid"/>
          </a:ln>
        </p:spPr>
        <p:txBody>
          <a:bodyPr/>
          <a:lstStyle/>
          <a:p>
            <a:endParaRPr lang="en-US"/>
          </a:p>
        </p:txBody>
      </p:sp>
      <p:pic>
        <p:nvPicPr>
          <p:cNvPr id="8" name="Image 1" descr="Health aid to Kenya by funder with Health Category set to HIV/AIDS; the US gives 74% of 2023 HIV aid"/>
          <p:cNvPicPr>
            <a:picLocks noChangeAspect="1"/>
          </p:cNvPicPr>
          <p:nvPr/>
        </p:nvPicPr>
        <p:blipFill>
          <a:blip r:embed="rId4"/>
          <a:srcRect t="-7" b="-7"/>
          <a:stretch/>
        </p:blipFill>
        <p:spPr>
          <a:xfrm>
            <a:off x="6208936" y="1177361"/>
            <a:ext cx="4962138" cy="4109043"/>
          </a:xfrm>
          <a:prstGeom prst="roundRect">
            <a:avLst>
              <a:gd name="adj" fmla="val 1763"/>
            </a:avLst>
          </a:prstGeom>
        </p:spPr>
      </p:pic>
      <p:sp>
        <p:nvSpPr>
          <p:cNvPr id="9" name="Shape 5"/>
          <p:cNvSpPr/>
          <p:nvPr/>
        </p:nvSpPr>
        <p:spPr>
          <a:xfrm>
            <a:off x="6205760" y="1174186"/>
            <a:ext cx="4861666" cy="4136757"/>
          </a:xfrm>
          <a:prstGeom prst="roundRect">
            <a:avLst>
              <a:gd name="adj" fmla="val 1884"/>
            </a:avLst>
          </a:prstGeom>
          <a:noFill/>
          <a:ln w="6350">
            <a:solidFill>
              <a:srgbClr val="DDD7CA"/>
            </a:solidFill>
            <a:prstDash val="solid"/>
          </a:ln>
        </p:spPr>
        <p:txBody>
          <a:bodyPr/>
          <a:lstStyle/>
          <a:p>
            <a:endParaRPr lang="en-US"/>
          </a:p>
        </p:txBody>
      </p:sp>
      <p:pic>
        <p:nvPicPr>
          <p:cNvPr id="10" name="Image 2" descr="DAH_c = sum over donors s and channels k of A_c,s,k; nu_c = share of DAH through NGO channels"/>
          <p:cNvPicPr>
            <a:picLocks noChangeAspect="1"/>
          </p:cNvPicPr>
          <p:nvPr/>
        </p:nvPicPr>
        <p:blipFill>
          <a:blip r:embed="rId5"/>
          <a:srcRect l="-313" r="-313"/>
          <a:stretch/>
        </p:blipFill>
        <p:spPr>
          <a:xfrm>
            <a:off x="3034409" y="5449546"/>
            <a:ext cx="2381250" cy="1092200"/>
          </a:xfrm>
          <a:prstGeom prst="roundRect">
            <a:avLst>
              <a:gd name="adj" fmla="val 4070"/>
            </a:avLst>
          </a:prstGeom>
        </p:spPr>
      </p:pic>
      <p:sp>
        <p:nvSpPr>
          <p:cNvPr id="11" name="Shape 6"/>
          <p:cNvSpPr/>
          <p:nvPr/>
        </p:nvSpPr>
        <p:spPr>
          <a:xfrm>
            <a:off x="3024113" y="5446371"/>
            <a:ext cx="2387600" cy="1098550"/>
          </a:xfrm>
          <a:prstGeom prst="roundRect">
            <a:avLst>
              <a:gd name="adj" fmla="val 4335"/>
            </a:avLst>
          </a:prstGeom>
          <a:noFill/>
          <a:ln w="6350">
            <a:solidFill>
              <a:srgbClr val="DDD7CA"/>
            </a:solidFill>
            <a:prstDash val="solid"/>
          </a:ln>
        </p:spPr>
        <p:txBody>
          <a:bodyPr/>
          <a:lstStyle/>
          <a:p>
            <a:endParaRPr lang="en-US"/>
          </a:p>
        </p:txBody>
      </p:sp>
      <p:pic>
        <p:nvPicPr>
          <p:cNvPr id="12" name="Image 3" descr="Key: A_c,s,k aid from donor s through channel k; s donor; k channel; nu_c share delivered through NGOs and foundations"/>
          <p:cNvPicPr>
            <a:picLocks noChangeAspect="1"/>
          </p:cNvPicPr>
          <p:nvPr/>
        </p:nvPicPr>
        <p:blipFill>
          <a:blip r:embed="rId6"/>
          <a:srcRect l="-463" r="-463"/>
          <a:stretch/>
        </p:blipFill>
        <p:spPr>
          <a:xfrm>
            <a:off x="5726335" y="5581650"/>
            <a:ext cx="4051300" cy="965200"/>
          </a:xfrm>
          <a:prstGeom prst="roundRect">
            <a:avLst>
              <a:gd name="adj" fmla="val 4605"/>
            </a:avLst>
          </a:prstGeom>
        </p:spPr>
      </p:pic>
      <p:sp>
        <p:nvSpPr>
          <p:cNvPr id="13" name="Shape 7"/>
          <p:cNvSpPr/>
          <p:nvPr/>
        </p:nvSpPr>
        <p:spPr>
          <a:xfrm>
            <a:off x="5723160" y="5578475"/>
            <a:ext cx="4057650" cy="971550"/>
          </a:xfrm>
          <a:prstGeom prst="roundRect">
            <a:avLst>
              <a:gd name="adj" fmla="val 4902"/>
            </a:avLst>
          </a:prstGeom>
          <a:noFill/>
          <a:ln w="6350">
            <a:solidFill>
              <a:srgbClr val="DDD7CA"/>
            </a:solidFill>
            <a:prstDash val="solid"/>
          </a:ln>
        </p:spPr>
        <p:txBody>
          <a:bodyPr/>
          <a:lstStyle/>
          <a:p>
            <a:endParaRPr lang="en-US"/>
          </a:p>
        </p:txBody>
      </p:sp>
      <p:sp>
        <p:nvSpPr>
          <p:cNvPr id="20" name="Title 1">
            <a:extLst>
              <a:ext uri="{FF2B5EF4-FFF2-40B4-BE49-F238E27FC236}">
                <a16:creationId xmlns:a16="http://schemas.microsoft.com/office/drawing/2014/main" id="{7DBA374F-5A25-6146-2A8C-073BFC0D701C}"/>
              </a:ext>
            </a:extLst>
          </p:cNvPr>
          <p:cNvSpPr txBox="1">
            <a:spLocks/>
          </p:cNvSpPr>
          <p:nvPr/>
        </p:nvSpPr>
        <p:spPr>
          <a:xfrm>
            <a:off x="-21988" y="-58259"/>
            <a:ext cx="12444026" cy="1012771"/>
          </a:xfrm>
          <a:prstGeom prst="rect">
            <a:avLst/>
          </a:prstGeom>
          <a:solidFill>
            <a:srgbClr val="1C3073"/>
          </a:solidFill>
          <a:ln w="57150">
            <a:solidFill>
              <a:srgbClr val="1B2F73"/>
            </a:solidFill>
          </a:ln>
        </p:spPr>
        <p:txBody>
          <a:bodyPr vert="horz" wrap="square" lIns="91440" tIns="45720" rIns="91440" bIns="45720" rtlCol="0" anchor="ctr">
            <a:normAutofit/>
          </a:bodyPr>
          <a:lstStyle>
            <a:lvl1pPr marL="0" indent="0" algn="l" defTabSz="914400" rtl="0" eaLnBrk="1" latinLnBrk="0" hangingPunct="1">
              <a:lnSpc>
                <a:spcPct val="115000"/>
              </a:lnSpc>
              <a:spcBef>
                <a:spcPct val="0"/>
              </a:spcBef>
              <a:buNone/>
              <a:defRPr lang="en-US" sz="3200" kern="1200" dirty="0">
                <a:solidFill>
                  <a:srgbClr val="14213D"/>
                </a:solidFill>
                <a:latin typeface="Source Serif 4" pitchFamily="34" charset="0"/>
                <a:ea typeface="Source Serif 4" pitchFamily="34" charset="-122"/>
                <a:cs typeface="Source Serif 4" pitchFamily="34" charset="-120"/>
              </a:defRPr>
            </a:lvl1pPr>
          </a:lstStyle>
          <a:p>
            <a:pPr>
              <a:lnSpc>
                <a:spcPct val="90000"/>
              </a:lnSpc>
            </a:pPr>
            <a:r>
              <a:rPr lang="en-US" sz="2800">
                <a:solidFill>
                  <a:schemeClr val="bg1"/>
                </a:solidFill>
                <a:latin typeface="Franklin Gothic Medium"/>
                <a:ea typeface="+mj-lt"/>
                <a:cs typeface="+mj-lt"/>
              </a:rPr>
              <a:t>Dashboard – Resolving how development assistance for health funds different services</a:t>
            </a:r>
          </a:p>
        </p:txBody>
      </p:sp>
      <p:pic>
        <p:nvPicPr>
          <p:cNvPr id="3" name="Picture 2" descr="Yale Jackson School of Global Affairs - Wikipedia">
            <a:extLst>
              <a:ext uri="{FF2B5EF4-FFF2-40B4-BE49-F238E27FC236}">
                <a16:creationId xmlns:a16="http://schemas.microsoft.com/office/drawing/2014/main" id="{55DBCF1B-8C9C-B6AE-C8DB-9D8FBF4E5237}"/>
              </a:ext>
            </a:extLst>
          </p:cNvPr>
          <p:cNvPicPr>
            <a:picLocks noChangeAspect="1"/>
          </p:cNvPicPr>
          <p:nvPr/>
        </p:nvPicPr>
        <p:blipFill>
          <a:blip r:embed="rId7"/>
          <a:srcRect/>
          <a:stretch>
            <a:fillRect/>
          </a:stretch>
        </p:blipFill>
        <p:spPr>
          <a:xfrm>
            <a:off x="338944" y="6257970"/>
            <a:ext cx="491134" cy="465099"/>
          </a:xfrm>
          <a:prstGeom prst="rect">
            <a:avLst/>
          </a:prstGeom>
        </p:spPr>
      </p:pic>
      <p:pic>
        <p:nvPicPr>
          <p:cNvPr id="7" name="Picture 6" descr="Yale Jackson School of Global Affairs - National Peace Corps Association">
            <a:extLst>
              <a:ext uri="{FF2B5EF4-FFF2-40B4-BE49-F238E27FC236}">
                <a16:creationId xmlns:a16="http://schemas.microsoft.com/office/drawing/2014/main" id="{1451DB87-6E4C-72A6-45F7-C9201DBD0052}"/>
              </a:ext>
            </a:extLst>
          </p:cNvPr>
          <p:cNvPicPr>
            <a:picLocks noChangeAspect="1"/>
          </p:cNvPicPr>
          <p:nvPr/>
        </p:nvPicPr>
        <p:blipFill>
          <a:blip r:embed="rId8"/>
          <a:srcRect l="-3079" t="-13043" r="-4016" b="-14493"/>
          <a:stretch>
            <a:fillRect/>
          </a:stretch>
        </p:blipFill>
        <p:spPr>
          <a:xfrm>
            <a:off x="826286" y="6258187"/>
            <a:ext cx="2419332" cy="564644"/>
          </a:xfrm>
          <a:prstGeom prst="rect">
            <a:avLst/>
          </a:prstGeom>
        </p:spPr>
      </p:pic>
      <p:sp>
        <p:nvSpPr>
          <p:cNvPr id="4" name="Slide Number Placeholder 3">
            <a:extLst>
              <a:ext uri="{FF2B5EF4-FFF2-40B4-BE49-F238E27FC236}">
                <a16:creationId xmlns:a16="http://schemas.microsoft.com/office/drawing/2014/main" id="{BFD6ECB6-6169-73DF-DD8D-0F4C87B8A15A}"/>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14</a:t>
            </a:fld>
            <a:endParaRPr lang="en-US" sz="1400">
              <a:latin typeface="Georgia"/>
            </a:endParaRPr>
          </a:p>
        </p:txBody>
      </p:sp>
    </p:spTree>
    <p:extLst>
      <p:ext uri="{BB962C8B-B14F-4D97-AF65-F5344CB8AC3E}">
        <p14:creationId xmlns:p14="http://schemas.microsoft.com/office/powerpoint/2010/main" val="1420551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5" name="Image 0" descr="Where the Aid Is Spent with the Break Down dropdown open, listing focus areas"/>
          <p:cNvPicPr>
            <a:picLocks noChangeAspect="1"/>
          </p:cNvPicPr>
          <p:nvPr/>
        </p:nvPicPr>
        <p:blipFill>
          <a:blip r:embed="rId3"/>
          <a:srcRect l="-35" r="-35"/>
          <a:stretch/>
        </p:blipFill>
        <p:spPr>
          <a:xfrm>
            <a:off x="819150" y="1504950"/>
            <a:ext cx="6473134" cy="4551017"/>
          </a:xfrm>
          <a:prstGeom prst="roundRect">
            <a:avLst>
              <a:gd name="adj" fmla="val 2059"/>
            </a:avLst>
          </a:prstGeom>
        </p:spPr>
      </p:pic>
      <p:pic>
        <p:nvPicPr>
          <p:cNvPr id="8" name="Image 1" descr="HIV/AIDS aid to Kenya split by program area: treatment, care and support, prevention, counseling and testing, HSS and other"/>
          <p:cNvPicPr>
            <a:picLocks noChangeAspect="1"/>
          </p:cNvPicPr>
          <p:nvPr/>
        </p:nvPicPr>
        <p:blipFill>
          <a:blip r:embed="rId4"/>
          <a:srcRect l="-35" r="-35"/>
          <a:stretch/>
        </p:blipFill>
        <p:spPr>
          <a:xfrm>
            <a:off x="7466220" y="3777698"/>
            <a:ext cx="3458265" cy="2410791"/>
          </a:xfrm>
          <a:prstGeom prst="roundRect">
            <a:avLst>
              <a:gd name="adj" fmla="val 2059"/>
            </a:avLst>
          </a:prstGeom>
        </p:spPr>
      </p:pic>
      <p:pic>
        <p:nvPicPr>
          <p:cNvPr id="10" name="Image 2" descr="DAH_c = sum over focus areas d and program areas p of A_c,d,p; A_HIV = treatment + PMTCT + prevention + care + testing + OVC + HSS + other"/>
          <p:cNvPicPr>
            <a:picLocks noChangeAspect="1"/>
          </p:cNvPicPr>
          <p:nvPr/>
        </p:nvPicPr>
        <p:blipFill>
          <a:blip r:embed="rId5"/>
          <a:srcRect l="-358" r="-358"/>
          <a:stretch/>
        </p:blipFill>
        <p:spPr>
          <a:xfrm>
            <a:off x="7321550" y="1276350"/>
            <a:ext cx="2997200" cy="1111250"/>
          </a:xfrm>
          <a:prstGeom prst="roundRect">
            <a:avLst>
              <a:gd name="adj" fmla="val 4000"/>
            </a:avLst>
          </a:prstGeom>
        </p:spPr>
      </p:pic>
      <p:sp>
        <p:nvSpPr>
          <p:cNvPr id="11" name="Shape 6"/>
          <p:cNvSpPr/>
          <p:nvPr/>
        </p:nvSpPr>
        <p:spPr>
          <a:xfrm>
            <a:off x="7318375" y="1273175"/>
            <a:ext cx="3003550" cy="1117600"/>
          </a:xfrm>
          <a:prstGeom prst="roundRect">
            <a:avLst>
              <a:gd name="adj" fmla="val 4261"/>
            </a:avLst>
          </a:prstGeom>
          <a:noFill/>
          <a:ln w="6350">
            <a:solidFill>
              <a:srgbClr val="DDD7CA"/>
            </a:solidFill>
            <a:prstDash val="solid"/>
          </a:ln>
        </p:spPr>
        <p:txBody>
          <a:bodyPr/>
          <a:lstStyle/>
          <a:p>
            <a:endParaRPr lang="en-US"/>
          </a:p>
        </p:txBody>
      </p:sp>
      <p:pic>
        <p:nvPicPr>
          <p:cNvPr id="12" name="Image 3" descr="Key: d focus area; p program area within d; A_c,d,p aid to program p of focus area d"/>
          <p:cNvPicPr>
            <a:picLocks noChangeAspect="1"/>
          </p:cNvPicPr>
          <p:nvPr/>
        </p:nvPicPr>
        <p:blipFill>
          <a:blip r:embed="rId6"/>
          <a:stretch>
            <a:fillRect/>
          </a:stretch>
        </p:blipFill>
        <p:spPr>
          <a:xfrm>
            <a:off x="7347731" y="2552700"/>
            <a:ext cx="3998938" cy="946150"/>
          </a:xfrm>
          <a:custGeom>
            <a:avLst/>
            <a:gdLst/>
            <a:ahLst/>
            <a:cxnLst/>
            <a:rect l="l" t="t" r="r" b="b"/>
            <a:pathLst>
              <a:path w="3998938" h="946150">
                <a:moveTo>
                  <a:pt x="0" y="3928"/>
                </a:moveTo>
                <a:arcTo wR="44450" hR="44450" stAng="14743928" swAng="1456072"/>
                <a:lnTo>
                  <a:pt x="3980669" y="0"/>
                </a:lnTo>
                <a:arcTo wR="44450" hR="44450" stAng="16200000" swAng="1456072"/>
                <a:lnTo>
                  <a:pt x="3998938" y="942222"/>
                </a:lnTo>
                <a:arcTo wR="44450" hR="44450" stAng="3943928" swAng="1456072"/>
                <a:lnTo>
                  <a:pt x="18269" y="946150"/>
                </a:lnTo>
                <a:arcTo wR="44450" hR="44450" stAng="5400000" swAng="1456072"/>
                <a:close/>
              </a:path>
            </a:pathLst>
          </a:custGeom>
        </p:spPr>
      </p:pic>
      <p:sp>
        <p:nvSpPr>
          <p:cNvPr id="13" name="Shape 7"/>
          <p:cNvSpPr/>
          <p:nvPr/>
        </p:nvSpPr>
        <p:spPr>
          <a:xfrm>
            <a:off x="7318375" y="2549525"/>
            <a:ext cx="4057650" cy="952500"/>
          </a:xfrm>
          <a:prstGeom prst="roundRect">
            <a:avLst>
              <a:gd name="adj" fmla="val 5000"/>
            </a:avLst>
          </a:prstGeom>
          <a:noFill/>
          <a:ln w="6350">
            <a:solidFill>
              <a:srgbClr val="DDD7CA"/>
            </a:solidFill>
            <a:prstDash val="solid"/>
          </a:ln>
        </p:spPr>
        <p:txBody>
          <a:bodyPr/>
          <a:lstStyle/>
          <a:p>
            <a:endParaRPr lang="en-US"/>
          </a:p>
        </p:txBody>
      </p:sp>
      <p:sp>
        <p:nvSpPr>
          <p:cNvPr id="16" name="Title 1">
            <a:extLst>
              <a:ext uri="{FF2B5EF4-FFF2-40B4-BE49-F238E27FC236}">
                <a16:creationId xmlns:a16="http://schemas.microsoft.com/office/drawing/2014/main" id="{F5F72FDE-3212-4B99-62DC-D830EDAB1ED6}"/>
              </a:ext>
            </a:extLst>
          </p:cNvPr>
          <p:cNvSpPr txBox="1">
            <a:spLocks/>
          </p:cNvSpPr>
          <p:nvPr/>
        </p:nvSpPr>
        <p:spPr>
          <a:xfrm>
            <a:off x="-21988" y="-58259"/>
            <a:ext cx="12444026" cy="1012771"/>
          </a:xfrm>
          <a:prstGeom prst="rect">
            <a:avLst/>
          </a:prstGeom>
          <a:solidFill>
            <a:srgbClr val="1C3073"/>
          </a:solidFill>
          <a:ln w="57150">
            <a:solidFill>
              <a:srgbClr val="1B2F73"/>
            </a:solidFill>
          </a:ln>
        </p:spPr>
        <p:txBody>
          <a:bodyPr vert="horz" wrap="square" lIns="91440" tIns="45720" rIns="91440" bIns="45720" rtlCol="0" anchor="ctr">
            <a:normAutofit/>
          </a:bodyPr>
          <a:lstStyle>
            <a:lvl1pPr marL="0" indent="0" algn="l" defTabSz="914400" rtl="0" eaLnBrk="1" latinLnBrk="0" hangingPunct="1">
              <a:lnSpc>
                <a:spcPct val="115000"/>
              </a:lnSpc>
              <a:spcBef>
                <a:spcPct val="0"/>
              </a:spcBef>
              <a:buNone/>
              <a:defRPr lang="en-US" sz="3200" kern="1200" dirty="0">
                <a:solidFill>
                  <a:srgbClr val="14213D"/>
                </a:solidFill>
                <a:latin typeface="Source Serif 4" pitchFamily="34" charset="0"/>
                <a:ea typeface="Source Serif 4" pitchFamily="34" charset="-122"/>
                <a:cs typeface="Source Serif 4" pitchFamily="34" charset="-120"/>
              </a:defRPr>
            </a:lvl1pPr>
          </a:lstStyle>
          <a:p>
            <a:pPr>
              <a:lnSpc>
                <a:spcPct val="90000"/>
              </a:lnSpc>
            </a:pPr>
            <a:r>
              <a:rPr lang="en-US" sz="2800">
                <a:solidFill>
                  <a:schemeClr val="bg1"/>
                </a:solidFill>
                <a:latin typeface="Franklin Gothic Medium"/>
                <a:ea typeface="+mj-lt"/>
                <a:cs typeface="+mj-lt"/>
              </a:rPr>
              <a:t>Dashboard – Resolving what program areas are funded by development assistance for each focus area</a:t>
            </a:r>
          </a:p>
        </p:txBody>
      </p:sp>
      <p:pic>
        <p:nvPicPr>
          <p:cNvPr id="3" name="Picture 2" descr="Yale Jackson School of Global Affairs - Wikipedia">
            <a:extLst>
              <a:ext uri="{FF2B5EF4-FFF2-40B4-BE49-F238E27FC236}">
                <a16:creationId xmlns:a16="http://schemas.microsoft.com/office/drawing/2014/main" id="{59744633-D966-B246-10A8-D2A0552D8AB0}"/>
              </a:ext>
            </a:extLst>
          </p:cNvPr>
          <p:cNvPicPr>
            <a:picLocks noChangeAspect="1"/>
          </p:cNvPicPr>
          <p:nvPr/>
        </p:nvPicPr>
        <p:blipFill>
          <a:blip r:embed="rId7"/>
          <a:srcRect/>
          <a:stretch>
            <a:fillRect/>
          </a:stretch>
        </p:blipFill>
        <p:spPr>
          <a:xfrm>
            <a:off x="338944" y="6257970"/>
            <a:ext cx="491134" cy="465099"/>
          </a:xfrm>
          <a:prstGeom prst="rect">
            <a:avLst/>
          </a:prstGeom>
        </p:spPr>
      </p:pic>
      <p:pic>
        <p:nvPicPr>
          <p:cNvPr id="6" name="Picture 5" descr="Yale Jackson School of Global Affairs - National Peace Corps Association">
            <a:extLst>
              <a:ext uri="{FF2B5EF4-FFF2-40B4-BE49-F238E27FC236}">
                <a16:creationId xmlns:a16="http://schemas.microsoft.com/office/drawing/2014/main" id="{9A117EFC-6D9D-8B1F-30ED-813C9FB3FCEA}"/>
              </a:ext>
            </a:extLst>
          </p:cNvPr>
          <p:cNvPicPr>
            <a:picLocks noChangeAspect="1"/>
          </p:cNvPicPr>
          <p:nvPr/>
        </p:nvPicPr>
        <p:blipFill>
          <a:blip r:embed="rId8"/>
          <a:srcRect l="-3079" t="-13043" r="-4016" b="-14493"/>
          <a:stretch>
            <a:fillRect/>
          </a:stretch>
        </p:blipFill>
        <p:spPr>
          <a:xfrm>
            <a:off x="826286" y="6258187"/>
            <a:ext cx="2419332" cy="564644"/>
          </a:xfrm>
          <a:prstGeom prst="rect">
            <a:avLst/>
          </a:prstGeom>
        </p:spPr>
      </p:pic>
      <p:sp>
        <p:nvSpPr>
          <p:cNvPr id="4" name="Slide Number Placeholder 3">
            <a:extLst>
              <a:ext uri="{FF2B5EF4-FFF2-40B4-BE49-F238E27FC236}">
                <a16:creationId xmlns:a16="http://schemas.microsoft.com/office/drawing/2014/main" id="{78E3127F-CE9D-B187-0586-E6E2B939DA65}"/>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15</a:t>
            </a:fld>
            <a:endParaRPr lang="en-US" sz="1400">
              <a:latin typeface="Georgia"/>
            </a:endParaRPr>
          </a:p>
        </p:txBody>
      </p:sp>
    </p:spTree>
    <p:extLst>
      <p:ext uri="{BB962C8B-B14F-4D97-AF65-F5344CB8AC3E}">
        <p14:creationId xmlns:p14="http://schemas.microsoft.com/office/powerpoint/2010/main" val="826763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08CBDB5E-3D98-C7C9-56F2-CC191EB6B8D4}"/>
              </a:ext>
            </a:extLst>
          </p:cNvPr>
          <p:cNvGrpSpPr/>
          <p:nvPr/>
        </p:nvGrpSpPr>
        <p:grpSpPr>
          <a:xfrm>
            <a:off x="597579" y="1524872"/>
            <a:ext cx="10998707" cy="4399213"/>
            <a:chOff x="812800" y="1257300"/>
            <a:chExt cx="10207625" cy="4003675"/>
          </a:xfrm>
        </p:grpSpPr>
        <p:sp>
          <p:nvSpPr>
            <p:cNvPr id="4" name="Text 2"/>
            <p:cNvSpPr/>
            <p:nvPr/>
          </p:nvSpPr>
          <p:spPr>
            <a:xfrm>
              <a:off x="812800" y="1257300"/>
              <a:ext cx="313944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Funding path, year by year</a:t>
              </a:r>
              <a:endParaRPr lang="en-US" sz="1200"/>
            </a:p>
          </p:txBody>
        </p:sp>
        <p:pic>
          <p:nvPicPr>
            <p:cNvPr id="5" name="Image 0" descr="Scenario box with a linear phase-out: chart of the cut in force and extra health share, with per-year sliders and outcome cards"/>
            <p:cNvPicPr>
              <a:picLocks noChangeAspect="1"/>
            </p:cNvPicPr>
            <p:nvPr/>
          </p:nvPicPr>
          <p:blipFill>
            <a:blip r:embed="rId3"/>
            <a:srcRect l="-38" r="-38"/>
            <a:stretch/>
          </p:blipFill>
          <p:spPr>
            <a:xfrm>
              <a:off x="819150" y="1504950"/>
              <a:ext cx="3035300" cy="3092450"/>
            </a:xfrm>
            <a:prstGeom prst="roundRect">
              <a:avLst>
                <a:gd name="adj" fmla="val 1464"/>
              </a:avLst>
            </a:prstGeom>
          </p:spPr>
        </p:pic>
        <p:sp>
          <p:nvSpPr>
            <p:cNvPr id="6" name="Shape 3"/>
            <p:cNvSpPr/>
            <p:nvPr/>
          </p:nvSpPr>
          <p:spPr>
            <a:xfrm>
              <a:off x="815975" y="1501775"/>
              <a:ext cx="3041650" cy="3098800"/>
            </a:xfrm>
            <a:prstGeom prst="roundRect">
              <a:avLst>
                <a:gd name="adj" fmla="val 1566"/>
              </a:avLst>
            </a:prstGeom>
            <a:noFill/>
            <a:ln w="6350">
              <a:solidFill>
                <a:srgbClr val="DDD7CA"/>
              </a:solidFill>
              <a:prstDash val="solid"/>
            </a:ln>
          </p:spPr>
          <p:txBody>
            <a:bodyPr/>
            <a:lstStyle/>
            <a:p>
              <a:endParaRPr lang="en-US"/>
            </a:p>
          </p:txBody>
        </p:sp>
        <p:sp>
          <p:nvSpPr>
            <p:cNvPr id="7" name="Text 4"/>
            <p:cNvSpPr/>
            <p:nvPr/>
          </p:nvSpPr>
          <p:spPr>
            <a:xfrm>
              <a:off x="3987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Scenario choices</a:t>
              </a:r>
              <a:endParaRPr lang="en-US" sz="1200"/>
            </a:p>
          </p:txBody>
        </p:sp>
        <p:pic>
          <p:nvPicPr>
            <p:cNvPr id="8" name="Image 1" descr="Donor scenario, how funding changes, and government response dropdowns"/>
            <p:cNvPicPr>
              <a:picLocks noChangeAspect="1"/>
            </p:cNvPicPr>
            <p:nvPr/>
          </p:nvPicPr>
          <p:blipFill>
            <a:blip r:embed="rId4"/>
            <a:stretch>
              <a:fillRect/>
            </a:stretch>
          </p:blipFill>
          <p:spPr>
            <a:xfrm>
              <a:off x="4017893" y="1504950"/>
              <a:ext cx="3013213" cy="679450"/>
            </a:xfrm>
            <a:custGeom>
              <a:avLst/>
              <a:gdLst/>
              <a:ahLst/>
              <a:cxnLst/>
              <a:rect l="l" t="t" r="r" b="b"/>
              <a:pathLst>
                <a:path w="3013213" h="679450">
                  <a:moveTo>
                    <a:pt x="0" y="5118"/>
                  </a:moveTo>
                  <a:arcTo wR="44450" hR="44450" stAng="14534130" swAng="1665870"/>
                  <a:lnTo>
                    <a:pt x="2992507" y="0"/>
                  </a:lnTo>
                  <a:arcTo wR="44450" hR="44450" stAng="16200000" swAng="1665870"/>
                  <a:lnTo>
                    <a:pt x="3013213" y="674332"/>
                  </a:lnTo>
                  <a:arcTo wR="44450" hR="44450" stAng="3734130" swAng="1665870"/>
                  <a:lnTo>
                    <a:pt x="20707" y="679450"/>
                  </a:lnTo>
                  <a:arcTo wR="44450" hR="44450" stAng="5400000" swAng="1665870"/>
                  <a:close/>
                </a:path>
              </a:pathLst>
            </a:custGeom>
          </p:spPr>
        </p:pic>
        <p:sp>
          <p:nvSpPr>
            <p:cNvPr id="9" name="Shape 5"/>
            <p:cNvSpPr/>
            <p:nvPr/>
          </p:nvSpPr>
          <p:spPr>
            <a:xfrm>
              <a:off x="3990975" y="1501775"/>
              <a:ext cx="3067050" cy="685800"/>
            </a:xfrm>
            <a:prstGeom prst="roundRect">
              <a:avLst>
                <a:gd name="adj" fmla="val 6944"/>
              </a:avLst>
            </a:prstGeom>
            <a:noFill/>
            <a:ln w="6350">
              <a:solidFill>
                <a:srgbClr val="DDD7CA"/>
              </a:solidFill>
              <a:prstDash val="solid"/>
            </a:ln>
          </p:spPr>
          <p:txBody>
            <a:bodyPr/>
            <a:lstStyle/>
            <a:p>
              <a:endParaRPr lang="en-US"/>
            </a:p>
          </p:txBody>
        </p:sp>
        <p:sp>
          <p:nvSpPr>
            <p:cNvPr id="10" name="Text 6"/>
            <p:cNvSpPr/>
            <p:nvPr/>
          </p:nvSpPr>
          <p:spPr>
            <a:xfrm>
              <a:off x="3987800" y="234315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Aid at risk</a:t>
              </a:r>
              <a:endParaRPr lang="en-US" sz="1200"/>
            </a:p>
          </p:txBody>
        </p:sp>
        <p:pic>
          <p:nvPicPr>
            <p:cNvPr id="11" name="Image 2" descr="Cards: aid at risk per year, replaced by government, net aid lost, further deaths, extra deaths, new HIV infections"/>
            <p:cNvPicPr>
              <a:picLocks noChangeAspect="1"/>
            </p:cNvPicPr>
            <p:nvPr/>
          </p:nvPicPr>
          <p:blipFill>
            <a:blip r:embed="rId5"/>
            <a:stretch>
              <a:fillRect/>
            </a:stretch>
          </p:blipFill>
          <p:spPr>
            <a:xfrm>
              <a:off x="4010025" y="2590800"/>
              <a:ext cx="3028950" cy="1009650"/>
            </a:xfrm>
            <a:custGeom>
              <a:avLst/>
              <a:gdLst/>
              <a:ahLst/>
              <a:cxnLst/>
              <a:rect l="l" t="t" r="r" b="b"/>
              <a:pathLst>
                <a:path w="3028950" h="1009650">
                  <a:moveTo>
                    <a:pt x="0" y="10402"/>
                  </a:moveTo>
                  <a:arcTo wR="44450" hR="44450" stAng="13799688" swAng="2400312"/>
                  <a:lnTo>
                    <a:pt x="3000375" y="0"/>
                  </a:lnTo>
                  <a:arcTo wR="44450" hR="44450" stAng="16200000" swAng="2400312"/>
                  <a:lnTo>
                    <a:pt x="3028950" y="999248"/>
                  </a:lnTo>
                  <a:arcTo wR="44450" hR="44450" stAng="2999688" swAng="2400312"/>
                  <a:lnTo>
                    <a:pt x="28575" y="1009650"/>
                  </a:lnTo>
                  <a:arcTo wR="44450" hR="44450" stAng="5400000" swAng="2400312"/>
                  <a:close/>
                </a:path>
              </a:pathLst>
            </a:custGeom>
          </p:spPr>
        </p:pic>
        <p:sp>
          <p:nvSpPr>
            <p:cNvPr id="12" name="Shape 7"/>
            <p:cNvSpPr/>
            <p:nvPr/>
          </p:nvSpPr>
          <p:spPr>
            <a:xfrm>
              <a:off x="3990975" y="2587625"/>
              <a:ext cx="3067050" cy="1016000"/>
            </a:xfrm>
            <a:prstGeom prst="roundRect">
              <a:avLst>
                <a:gd name="adj" fmla="val 4688"/>
              </a:avLst>
            </a:prstGeom>
            <a:noFill/>
            <a:ln w="6350">
              <a:solidFill>
                <a:srgbClr val="DDD7CA"/>
              </a:solidFill>
              <a:prstDash val="solid"/>
            </a:ln>
          </p:spPr>
          <p:txBody>
            <a:bodyPr/>
            <a:lstStyle/>
            <a:p>
              <a:endParaRPr lang="en-US"/>
            </a:p>
          </p:txBody>
        </p:sp>
        <p:sp>
          <p:nvSpPr>
            <p:cNvPr id="13" name="Text 8"/>
            <p:cNvSpPr/>
            <p:nvPr/>
          </p:nvSpPr>
          <p:spPr>
            <a:xfrm>
              <a:off x="3987800" y="37592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Where the money is lost</a:t>
              </a:r>
              <a:endParaRPr lang="en-US" sz="1200"/>
            </a:p>
          </p:txBody>
        </p:sp>
        <p:pic>
          <p:nvPicPr>
            <p:cNvPr id="14" name="Image 3" descr="Bar charts: aid lost per year by disease, and by donor and channel"/>
            <p:cNvPicPr>
              <a:picLocks noChangeAspect="1"/>
            </p:cNvPicPr>
            <p:nvPr/>
          </p:nvPicPr>
          <p:blipFill>
            <a:blip r:embed="rId6"/>
            <a:srcRect l="-373" r="-373"/>
            <a:stretch/>
          </p:blipFill>
          <p:spPr>
            <a:xfrm>
              <a:off x="3994150" y="4006850"/>
              <a:ext cx="3060700" cy="1250950"/>
            </a:xfrm>
            <a:prstGeom prst="roundRect">
              <a:avLst>
                <a:gd name="adj" fmla="val 3553"/>
              </a:avLst>
            </a:prstGeom>
          </p:spPr>
        </p:pic>
        <p:sp>
          <p:nvSpPr>
            <p:cNvPr id="15" name="Shape 9"/>
            <p:cNvSpPr/>
            <p:nvPr/>
          </p:nvSpPr>
          <p:spPr>
            <a:xfrm>
              <a:off x="3990975" y="4003675"/>
              <a:ext cx="3067050" cy="1257300"/>
            </a:xfrm>
            <a:prstGeom prst="roundRect">
              <a:avLst>
                <a:gd name="adj" fmla="val 3788"/>
              </a:avLst>
            </a:prstGeom>
            <a:noFill/>
            <a:ln w="6350">
              <a:solidFill>
                <a:srgbClr val="DDD7CA"/>
              </a:solidFill>
              <a:prstDash val="solid"/>
            </a:ln>
          </p:spPr>
          <p:txBody>
            <a:bodyPr/>
            <a:lstStyle/>
            <a:p>
              <a:endParaRPr lang="en-US"/>
            </a:p>
          </p:txBody>
        </p:sp>
        <p:pic>
          <p:nvPicPr>
            <p:cNvPr id="16" name="Image 4" descr="kappa_s,k = 1 - (1 - x_s)(1 - y_k); L_t = p_t times sum of A-bar_s,k,l kappa_s,k; A-bar = 2021-2023 average"/>
            <p:cNvPicPr>
              <a:picLocks noChangeAspect="1"/>
            </p:cNvPicPr>
            <p:nvPr/>
          </p:nvPicPr>
          <p:blipFill>
            <a:blip r:embed="rId7"/>
            <a:srcRect l="-225" r="-225"/>
            <a:stretch/>
          </p:blipFill>
          <p:spPr>
            <a:xfrm>
              <a:off x="7321550" y="1276350"/>
              <a:ext cx="2139950" cy="1416050"/>
            </a:xfrm>
            <a:prstGeom prst="roundRect">
              <a:avLst>
                <a:gd name="adj" fmla="val 3139"/>
              </a:avLst>
            </a:prstGeom>
          </p:spPr>
        </p:pic>
        <p:sp>
          <p:nvSpPr>
            <p:cNvPr id="17" name="Shape 10"/>
            <p:cNvSpPr/>
            <p:nvPr/>
          </p:nvSpPr>
          <p:spPr>
            <a:xfrm>
              <a:off x="7318375" y="1273175"/>
              <a:ext cx="2146300" cy="1422400"/>
            </a:xfrm>
            <a:prstGeom prst="roundRect">
              <a:avLst>
                <a:gd name="adj" fmla="val 3348"/>
              </a:avLst>
            </a:prstGeom>
            <a:noFill/>
            <a:ln w="6350">
              <a:solidFill>
                <a:srgbClr val="DDD7CA"/>
              </a:solidFill>
              <a:prstDash val="solid"/>
            </a:ln>
          </p:spPr>
          <p:txBody>
            <a:bodyPr/>
            <a:lstStyle/>
            <a:p>
              <a:endParaRPr lang="en-US"/>
            </a:p>
          </p:txBody>
        </p:sp>
        <p:pic>
          <p:nvPicPr>
            <p:cNvPr id="18" name="Image 5" descr="Key: x_s cut by donor s; y_k cut through channel k; kappa combined cut; A-bar 2021-23 average aid on line l; p_t share of cut in force in year t; L_t aid at risk in year t"/>
            <p:cNvPicPr>
              <a:picLocks noChangeAspect="1"/>
            </p:cNvPicPr>
            <p:nvPr/>
          </p:nvPicPr>
          <p:blipFill>
            <a:blip r:embed="rId8"/>
            <a:srcRect l="-153" r="-153"/>
            <a:stretch/>
          </p:blipFill>
          <p:spPr>
            <a:xfrm>
              <a:off x="7321550" y="2857500"/>
              <a:ext cx="3695700" cy="1689100"/>
            </a:xfrm>
            <a:prstGeom prst="roundRect">
              <a:avLst>
                <a:gd name="adj" fmla="val 2632"/>
              </a:avLst>
            </a:prstGeom>
          </p:spPr>
        </p:pic>
        <p:sp>
          <p:nvSpPr>
            <p:cNvPr id="19" name="Shape 11"/>
            <p:cNvSpPr/>
            <p:nvPr/>
          </p:nvSpPr>
          <p:spPr>
            <a:xfrm>
              <a:off x="7318375" y="2854325"/>
              <a:ext cx="3702050" cy="1695450"/>
            </a:xfrm>
            <a:prstGeom prst="roundRect">
              <a:avLst>
                <a:gd name="adj" fmla="val 2809"/>
              </a:avLst>
            </a:prstGeom>
            <a:noFill/>
            <a:ln w="6350">
              <a:solidFill>
                <a:srgbClr val="DDD7CA"/>
              </a:solidFill>
              <a:prstDash val="solid"/>
            </a:ln>
          </p:spPr>
          <p:txBody>
            <a:bodyPr/>
            <a:lstStyle/>
            <a:p>
              <a:endParaRPr lang="en-US"/>
            </a:p>
          </p:txBody>
        </p:sp>
      </p:grpSp>
      <p:sp>
        <p:nvSpPr>
          <p:cNvPr id="24" name="Title 1">
            <a:extLst>
              <a:ext uri="{FF2B5EF4-FFF2-40B4-BE49-F238E27FC236}">
                <a16:creationId xmlns:a16="http://schemas.microsoft.com/office/drawing/2014/main" id="{8C33C214-FA2D-9DEF-7DDF-BD0D22CD9E3D}"/>
              </a:ext>
            </a:extLst>
          </p:cNvPr>
          <p:cNvSpPr txBox="1">
            <a:spLocks/>
          </p:cNvSpPr>
          <p:nvPr/>
        </p:nvSpPr>
        <p:spPr>
          <a:xfrm>
            <a:off x="-21988" y="-58259"/>
            <a:ext cx="12444026" cy="1012771"/>
          </a:xfrm>
          <a:prstGeom prst="rect">
            <a:avLst/>
          </a:prstGeom>
          <a:solidFill>
            <a:srgbClr val="1C3073"/>
          </a:solidFill>
          <a:ln w="57150">
            <a:solidFill>
              <a:srgbClr val="1B2F73"/>
            </a:solidFill>
          </a:ln>
        </p:spPr>
        <p:txBody>
          <a:bodyPr vert="horz" wrap="square" lIns="91440" tIns="45720" rIns="91440" bIns="45720" rtlCol="0" anchor="ctr">
            <a:normAutofit/>
          </a:bodyPr>
          <a:lstStyle>
            <a:lvl1pPr marL="0" indent="0" algn="l" defTabSz="914400" rtl="0" eaLnBrk="1" latinLnBrk="0" hangingPunct="1">
              <a:lnSpc>
                <a:spcPct val="115000"/>
              </a:lnSpc>
              <a:spcBef>
                <a:spcPct val="0"/>
              </a:spcBef>
              <a:buNone/>
              <a:defRPr lang="en-US" sz="3200" kern="1200" dirty="0">
                <a:solidFill>
                  <a:srgbClr val="14213D"/>
                </a:solidFill>
                <a:latin typeface="Source Serif 4" pitchFamily="34" charset="0"/>
                <a:ea typeface="Source Serif 4" pitchFamily="34" charset="-122"/>
                <a:cs typeface="Source Serif 4" pitchFamily="34" charset="-120"/>
              </a:defRPr>
            </a:lvl1pPr>
          </a:lstStyle>
          <a:p>
            <a:pPr>
              <a:lnSpc>
                <a:spcPct val="90000"/>
              </a:lnSpc>
            </a:pPr>
            <a:r>
              <a:rPr lang="en-US" sz="2800">
                <a:solidFill>
                  <a:schemeClr val="bg1"/>
                </a:solidFill>
                <a:latin typeface="Franklin Gothic Medium"/>
                <a:ea typeface="+mj-lt"/>
                <a:cs typeface="+mj-lt"/>
              </a:rPr>
              <a:t>Dashboard – Modeling the aid retreat</a:t>
            </a:r>
          </a:p>
        </p:txBody>
      </p:sp>
      <p:pic>
        <p:nvPicPr>
          <p:cNvPr id="3" name="Picture 2" descr="Yale Jackson School of Global Affairs - Wikipedia">
            <a:extLst>
              <a:ext uri="{FF2B5EF4-FFF2-40B4-BE49-F238E27FC236}">
                <a16:creationId xmlns:a16="http://schemas.microsoft.com/office/drawing/2014/main" id="{6D4B390E-60DB-C7D7-206E-750CA954EE88}"/>
              </a:ext>
            </a:extLst>
          </p:cNvPr>
          <p:cNvPicPr>
            <a:picLocks noChangeAspect="1"/>
          </p:cNvPicPr>
          <p:nvPr/>
        </p:nvPicPr>
        <p:blipFill>
          <a:blip r:embed="rId9"/>
          <a:srcRect/>
          <a:stretch>
            <a:fillRect/>
          </a:stretch>
        </p:blipFill>
        <p:spPr>
          <a:xfrm>
            <a:off x="338944" y="6257970"/>
            <a:ext cx="491134" cy="465099"/>
          </a:xfrm>
          <a:prstGeom prst="rect">
            <a:avLst/>
          </a:prstGeom>
        </p:spPr>
      </p:pic>
      <p:pic>
        <p:nvPicPr>
          <p:cNvPr id="21" name="Picture 20" descr="Yale Jackson School of Global Affairs - National Peace Corps Association">
            <a:extLst>
              <a:ext uri="{FF2B5EF4-FFF2-40B4-BE49-F238E27FC236}">
                <a16:creationId xmlns:a16="http://schemas.microsoft.com/office/drawing/2014/main" id="{639C9D3A-92C5-433E-36F1-9B8FBD7AD953}"/>
              </a:ext>
            </a:extLst>
          </p:cNvPr>
          <p:cNvPicPr>
            <a:picLocks noChangeAspect="1"/>
          </p:cNvPicPr>
          <p:nvPr/>
        </p:nvPicPr>
        <p:blipFill>
          <a:blip r:embed="rId10"/>
          <a:srcRect l="-3079" t="-13043" r="-4016" b="-14493"/>
          <a:stretch>
            <a:fillRect/>
          </a:stretch>
        </p:blipFill>
        <p:spPr>
          <a:xfrm>
            <a:off x="826286" y="6258187"/>
            <a:ext cx="2419332" cy="564644"/>
          </a:xfrm>
          <a:prstGeom prst="rect">
            <a:avLst/>
          </a:prstGeom>
        </p:spPr>
      </p:pic>
      <p:sp>
        <p:nvSpPr>
          <p:cNvPr id="20" name="Slide Number Placeholder 3">
            <a:extLst>
              <a:ext uri="{FF2B5EF4-FFF2-40B4-BE49-F238E27FC236}">
                <a16:creationId xmlns:a16="http://schemas.microsoft.com/office/drawing/2014/main" id="{D93F04E0-6308-CF31-2312-AD24D9C01AAF}"/>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16</a:t>
            </a:fld>
            <a:endParaRPr lang="en-US" sz="1400">
              <a:latin typeface="Georgia"/>
            </a:endParaRPr>
          </a:p>
        </p:txBody>
      </p:sp>
    </p:spTree>
    <p:extLst>
      <p:ext uri="{BB962C8B-B14F-4D97-AF65-F5344CB8AC3E}">
        <p14:creationId xmlns:p14="http://schemas.microsoft.com/office/powerpoint/2010/main" val="2140629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12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What each service loses</a:t>
            </a:r>
            <a:endParaRPr lang="en-US" sz="1200"/>
          </a:p>
        </p:txBody>
      </p:sp>
      <p:pic>
        <p:nvPicPr>
          <p:cNvPr id="5" name="Image 0" descr="Table: per service line, donor aid now, aid lost, cost per person, people losing service, coverage before and after, extra deaths"/>
          <p:cNvPicPr>
            <a:picLocks noChangeAspect="1"/>
          </p:cNvPicPr>
          <p:nvPr/>
        </p:nvPicPr>
        <p:blipFill>
          <a:blip r:embed="rId3"/>
          <a:srcRect t="-37" b="-37"/>
          <a:stretch/>
        </p:blipFill>
        <p:spPr>
          <a:xfrm>
            <a:off x="819150" y="1504950"/>
            <a:ext cx="3060700" cy="3213100"/>
          </a:xfrm>
          <a:prstGeom prst="roundRect">
            <a:avLst>
              <a:gd name="adj" fmla="val 1452"/>
            </a:avLst>
          </a:prstGeom>
        </p:spPr>
      </p:pic>
      <p:sp>
        <p:nvSpPr>
          <p:cNvPr id="6" name="Shape 3"/>
          <p:cNvSpPr/>
          <p:nvPr/>
        </p:nvSpPr>
        <p:spPr>
          <a:xfrm>
            <a:off x="815975" y="1501775"/>
            <a:ext cx="3067050" cy="3219450"/>
          </a:xfrm>
          <a:prstGeom prst="roundRect">
            <a:avLst>
              <a:gd name="adj" fmla="val 1553"/>
            </a:avLst>
          </a:prstGeom>
          <a:noFill/>
          <a:ln w="6350">
            <a:solidFill>
              <a:srgbClr val="DDD7CA"/>
            </a:solidFill>
            <a:prstDash val="solid"/>
          </a:ln>
        </p:spPr>
        <p:txBody>
          <a:bodyPr/>
          <a:lstStyle/>
          <a:p>
            <a:endParaRPr lang="en-US"/>
          </a:p>
        </p:txBody>
      </p:sp>
      <p:sp>
        <p:nvSpPr>
          <p:cNvPr id="7" name="Text 4"/>
          <p:cNvSpPr/>
          <p:nvPr/>
        </p:nvSpPr>
        <p:spPr>
          <a:xfrm>
            <a:off x="3987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Coverage lost, by service</a:t>
            </a:r>
            <a:endParaRPr lang="en-US" sz="1200"/>
          </a:p>
        </p:txBody>
      </p:sp>
      <p:pic>
        <p:nvPicPr>
          <p:cNvPr id="8" name="Image 1" descr="Bar chart of coverage lost by service in percentage points, before and after"/>
          <p:cNvPicPr>
            <a:picLocks noChangeAspect="1"/>
          </p:cNvPicPr>
          <p:nvPr/>
        </p:nvPicPr>
        <p:blipFill>
          <a:blip r:embed="rId4"/>
          <a:srcRect l="-271" r="-271"/>
          <a:stretch/>
        </p:blipFill>
        <p:spPr>
          <a:xfrm>
            <a:off x="3994150" y="1504950"/>
            <a:ext cx="3060700" cy="1492250"/>
          </a:xfrm>
          <a:prstGeom prst="roundRect">
            <a:avLst>
              <a:gd name="adj" fmla="val 2979"/>
            </a:avLst>
          </a:prstGeom>
        </p:spPr>
      </p:pic>
      <p:sp>
        <p:nvSpPr>
          <p:cNvPr id="9" name="Shape 5"/>
          <p:cNvSpPr/>
          <p:nvPr/>
        </p:nvSpPr>
        <p:spPr>
          <a:xfrm>
            <a:off x="3990975" y="1501775"/>
            <a:ext cx="3067050" cy="1498600"/>
          </a:xfrm>
          <a:prstGeom prst="roundRect">
            <a:avLst>
              <a:gd name="adj" fmla="val 3178"/>
            </a:avLst>
          </a:prstGeom>
          <a:noFill/>
          <a:ln w="6350">
            <a:solidFill>
              <a:srgbClr val="DDD7CA"/>
            </a:solidFill>
            <a:prstDash val="solid"/>
          </a:ln>
        </p:spPr>
        <p:txBody>
          <a:bodyPr/>
          <a:lstStyle/>
          <a:p>
            <a:endParaRPr lang="en-US"/>
          </a:p>
        </p:txBody>
      </p:sp>
      <p:pic>
        <p:nvPicPr>
          <p:cNvPr id="10" name="Image 2" descr="Delta U_l,t = (1 - rho) min(N_l,t / u_l, delta_l C_l P_l); Delta C_l,t = Delta U_l,t / P_l"/>
          <p:cNvPicPr>
            <a:picLocks noChangeAspect="1"/>
          </p:cNvPicPr>
          <p:nvPr/>
        </p:nvPicPr>
        <p:blipFill>
          <a:blip r:embed="rId5"/>
          <a:stretch>
            <a:fillRect/>
          </a:stretch>
        </p:blipFill>
        <p:spPr>
          <a:xfrm>
            <a:off x="7336661" y="1276350"/>
            <a:ext cx="2643129" cy="844550"/>
          </a:xfrm>
          <a:custGeom>
            <a:avLst/>
            <a:gdLst/>
            <a:ahLst/>
            <a:cxnLst/>
            <a:rect l="l" t="t" r="r" b="b"/>
            <a:pathLst>
              <a:path w="2643129" h="844550">
                <a:moveTo>
                  <a:pt x="0" y="11058"/>
                </a:moveTo>
                <a:arcTo wR="44450" hR="44450" stAng="13721766" swAng="2478234"/>
                <a:lnTo>
                  <a:pt x="2613789" y="0"/>
                </a:lnTo>
                <a:arcTo wR="44450" hR="44450" stAng="16200000" swAng="2478234"/>
                <a:lnTo>
                  <a:pt x="2643129" y="833492"/>
                </a:lnTo>
                <a:arcTo wR="44450" hR="44450" stAng="2921766" swAng="2478234"/>
                <a:lnTo>
                  <a:pt x="29339" y="844550"/>
                </a:lnTo>
                <a:arcTo wR="44450" hR="44450" stAng="5400000" swAng="2478234"/>
                <a:close/>
              </a:path>
            </a:pathLst>
          </a:custGeom>
        </p:spPr>
      </p:pic>
      <p:sp>
        <p:nvSpPr>
          <p:cNvPr id="11" name="Shape 6"/>
          <p:cNvSpPr/>
          <p:nvPr/>
        </p:nvSpPr>
        <p:spPr>
          <a:xfrm>
            <a:off x="7318375" y="1273175"/>
            <a:ext cx="2679700" cy="850900"/>
          </a:xfrm>
          <a:prstGeom prst="roundRect">
            <a:avLst>
              <a:gd name="adj" fmla="val 5597"/>
            </a:avLst>
          </a:prstGeom>
          <a:noFill/>
          <a:ln w="6350">
            <a:solidFill>
              <a:srgbClr val="DDD7CA"/>
            </a:solidFill>
            <a:prstDash val="solid"/>
          </a:ln>
        </p:spPr>
        <p:txBody>
          <a:bodyPr/>
          <a:lstStyle/>
          <a:p>
            <a:endParaRPr lang="en-US"/>
          </a:p>
        </p:txBody>
      </p:sp>
      <p:pic>
        <p:nvPicPr>
          <p:cNvPr id="12" name="Image 3" descr="Key: N net aid lost on line l; u full cost per person; P people in need; C coverage today; delta donor share of spending; rho share keeping care another way; Delta U people losing the service; Delta C coverage drop"/>
          <p:cNvPicPr>
            <a:picLocks noChangeAspect="1"/>
          </p:cNvPicPr>
          <p:nvPr/>
        </p:nvPicPr>
        <p:blipFill>
          <a:blip r:embed="rId6"/>
          <a:srcRect l="-45" r="-45"/>
          <a:stretch/>
        </p:blipFill>
        <p:spPr>
          <a:xfrm>
            <a:off x="7321550" y="2286000"/>
            <a:ext cx="3638550" cy="2165350"/>
          </a:xfrm>
          <a:prstGeom prst="roundRect">
            <a:avLst>
              <a:gd name="adj" fmla="val 2053"/>
            </a:avLst>
          </a:prstGeom>
        </p:spPr>
      </p:pic>
      <p:sp>
        <p:nvSpPr>
          <p:cNvPr id="13" name="Shape 7"/>
          <p:cNvSpPr/>
          <p:nvPr/>
        </p:nvSpPr>
        <p:spPr>
          <a:xfrm>
            <a:off x="7318375" y="2282825"/>
            <a:ext cx="3644900" cy="2171700"/>
          </a:xfrm>
          <a:prstGeom prst="roundRect">
            <a:avLst>
              <a:gd name="adj" fmla="val 2193"/>
            </a:avLst>
          </a:prstGeom>
          <a:noFill/>
          <a:ln w="6350">
            <a:solidFill>
              <a:srgbClr val="DDD7CA"/>
            </a:solidFill>
            <a:prstDash val="solid"/>
          </a:ln>
        </p:spPr>
        <p:txBody>
          <a:bodyPr/>
          <a:lstStyle/>
          <a:p>
            <a:endParaRPr lang="en-US"/>
          </a:p>
        </p:txBody>
      </p:sp>
      <p:sp>
        <p:nvSpPr>
          <p:cNvPr id="18" name="Title 1">
            <a:extLst>
              <a:ext uri="{FF2B5EF4-FFF2-40B4-BE49-F238E27FC236}">
                <a16:creationId xmlns:a16="http://schemas.microsoft.com/office/drawing/2014/main" id="{1DCD5A00-E822-A64C-2882-14861468AAD9}"/>
              </a:ext>
            </a:extLst>
          </p:cNvPr>
          <p:cNvSpPr txBox="1">
            <a:spLocks/>
          </p:cNvSpPr>
          <p:nvPr/>
        </p:nvSpPr>
        <p:spPr>
          <a:xfrm>
            <a:off x="-21988" y="-58259"/>
            <a:ext cx="12444026" cy="1012771"/>
          </a:xfrm>
          <a:prstGeom prst="rect">
            <a:avLst/>
          </a:prstGeom>
          <a:solidFill>
            <a:srgbClr val="1C3073"/>
          </a:solidFill>
          <a:ln w="57150">
            <a:solidFill>
              <a:srgbClr val="1B2F73"/>
            </a:solidFill>
          </a:ln>
        </p:spPr>
        <p:txBody>
          <a:bodyPr vert="horz" wrap="square" lIns="91440" tIns="45720" rIns="91440" bIns="45720" rtlCol="0" anchor="ctr">
            <a:normAutofit/>
          </a:bodyPr>
          <a:lstStyle>
            <a:lvl1pPr marL="0" indent="0" algn="l" defTabSz="914400" rtl="0" eaLnBrk="1" latinLnBrk="0" hangingPunct="1">
              <a:lnSpc>
                <a:spcPct val="115000"/>
              </a:lnSpc>
              <a:spcBef>
                <a:spcPct val="0"/>
              </a:spcBef>
              <a:buNone/>
              <a:defRPr lang="en-US" sz="3200" kern="1200" dirty="0">
                <a:solidFill>
                  <a:srgbClr val="14213D"/>
                </a:solidFill>
                <a:latin typeface="Source Serif 4" pitchFamily="34" charset="0"/>
                <a:ea typeface="Source Serif 4" pitchFamily="34" charset="-122"/>
                <a:cs typeface="Source Serif 4" pitchFamily="34" charset="-120"/>
              </a:defRPr>
            </a:lvl1pPr>
          </a:lstStyle>
          <a:p>
            <a:pPr>
              <a:lnSpc>
                <a:spcPct val="90000"/>
              </a:lnSpc>
            </a:pPr>
            <a:r>
              <a:rPr lang="en-US" sz="2800">
                <a:solidFill>
                  <a:schemeClr val="bg1"/>
                </a:solidFill>
                <a:latin typeface="Franklin Gothic Medium"/>
                <a:ea typeface="+mj-lt"/>
                <a:cs typeface="+mj-lt"/>
              </a:rPr>
              <a:t>Dashboard – Modeling health coverage loss</a:t>
            </a:r>
          </a:p>
        </p:txBody>
      </p:sp>
      <p:pic>
        <p:nvPicPr>
          <p:cNvPr id="3" name="Picture 2" descr="Yale Jackson School of Global Affairs - Wikipedia">
            <a:extLst>
              <a:ext uri="{FF2B5EF4-FFF2-40B4-BE49-F238E27FC236}">
                <a16:creationId xmlns:a16="http://schemas.microsoft.com/office/drawing/2014/main" id="{4A644D4D-0502-6FA5-9675-0BC0B35D095F}"/>
              </a:ext>
            </a:extLst>
          </p:cNvPr>
          <p:cNvPicPr>
            <a:picLocks noChangeAspect="1"/>
          </p:cNvPicPr>
          <p:nvPr/>
        </p:nvPicPr>
        <p:blipFill>
          <a:blip r:embed="rId7"/>
          <a:srcRect/>
          <a:stretch>
            <a:fillRect/>
          </a:stretch>
        </p:blipFill>
        <p:spPr>
          <a:xfrm>
            <a:off x="338944" y="6257970"/>
            <a:ext cx="491134" cy="465099"/>
          </a:xfrm>
          <a:prstGeom prst="rect">
            <a:avLst/>
          </a:prstGeom>
        </p:spPr>
      </p:pic>
      <p:pic>
        <p:nvPicPr>
          <p:cNvPr id="15" name="Picture 14" descr="Yale Jackson School of Global Affairs - National Peace Corps Association">
            <a:extLst>
              <a:ext uri="{FF2B5EF4-FFF2-40B4-BE49-F238E27FC236}">
                <a16:creationId xmlns:a16="http://schemas.microsoft.com/office/drawing/2014/main" id="{8D4395E6-9E09-1C6B-4021-DA6E91C54058}"/>
              </a:ext>
            </a:extLst>
          </p:cNvPr>
          <p:cNvPicPr>
            <a:picLocks noChangeAspect="1"/>
          </p:cNvPicPr>
          <p:nvPr/>
        </p:nvPicPr>
        <p:blipFill>
          <a:blip r:embed="rId8"/>
          <a:srcRect l="-3079" t="-13043" r="-4016" b="-14493"/>
          <a:stretch>
            <a:fillRect/>
          </a:stretch>
        </p:blipFill>
        <p:spPr>
          <a:xfrm>
            <a:off x="826286" y="6258187"/>
            <a:ext cx="2419332" cy="564644"/>
          </a:xfrm>
          <a:prstGeom prst="rect">
            <a:avLst/>
          </a:prstGeom>
        </p:spPr>
      </p:pic>
      <p:sp>
        <p:nvSpPr>
          <p:cNvPr id="14" name="Slide Number Placeholder 3">
            <a:extLst>
              <a:ext uri="{FF2B5EF4-FFF2-40B4-BE49-F238E27FC236}">
                <a16:creationId xmlns:a16="http://schemas.microsoft.com/office/drawing/2014/main" id="{B92FD527-B04D-F35F-1A2F-C26B99902B29}"/>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17</a:t>
            </a:fld>
            <a:endParaRPr lang="en-US" sz="1400">
              <a:latin typeface="Georgia"/>
            </a:endParaRPr>
          </a:p>
        </p:txBody>
      </p:sp>
    </p:spTree>
    <p:extLst>
      <p:ext uri="{BB962C8B-B14F-4D97-AF65-F5344CB8AC3E}">
        <p14:creationId xmlns:p14="http://schemas.microsoft.com/office/powerpoint/2010/main" val="2756052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12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a:ea typeface="IBM Plex Sans" pitchFamily="34" charset="-122"/>
                <a:cs typeface="IBM Plex Sans" pitchFamily="34" charset="-120"/>
              </a:rPr>
              <a:t>Response settings</a:t>
            </a:r>
            <a:endParaRPr lang="en-US" sz="1200">
              <a:latin typeface="IBM Plex Sans"/>
            </a:endParaRPr>
          </a:p>
        </p:txBody>
      </p:sp>
      <p:pic>
        <p:nvPicPr>
          <p:cNvPr id="5" name="Image 0" descr="Scenario controls with the Advanced panel open: fiscal-space ceiling, where replacement money goes, cap at fiscal space, death-rate switch, compare scenarios, model parameters"/>
          <p:cNvPicPr>
            <a:picLocks noChangeAspect="1"/>
          </p:cNvPicPr>
          <p:nvPr/>
        </p:nvPicPr>
        <p:blipFill>
          <a:blip r:embed="rId3"/>
          <a:srcRect l="-163" r="-163"/>
          <a:stretch/>
        </p:blipFill>
        <p:spPr>
          <a:xfrm>
            <a:off x="819150" y="1504950"/>
            <a:ext cx="3060700" cy="2063750"/>
          </a:xfrm>
          <a:prstGeom prst="roundRect">
            <a:avLst>
              <a:gd name="adj" fmla="val 2154"/>
            </a:avLst>
          </a:prstGeom>
        </p:spPr>
      </p:pic>
      <p:sp>
        <p:nvSpPr>
          <p:cNvPr id="6" name="Shape 3"/>
          <p:cNvSpPr/>
          <p:nvPr/>
        </p:nvSpPr>
        <p:spPr>
          <a:xfrm>
            <a:off x="815975" y="1501775"/>
            <a:ext cx="3067050" cy="2070100"/>
          </a:xfrm>
          <a:prstGeom prst="roundRect">
            <a:avLst>
              <a:gd name="adj" fmla="val 2301"/>
            </a:avLst>
          </a:prstGeom>
          <a:noFill/>
          <a:ln w="6350">
            <a:solidFill>
              <a:srgbClr val="DDD7CA"/>
            </a:solidFill>
            <a:prstDash val="solid"/>
          </a:ln>
        </p:spPr>
        <p:txBody>
          <a:bodyPr/>
          <a:lstStyle/>
          <a:p>
            <a:endParaRPr lang="en-US"/>
          </a:p>
        </p:txBody>
      </p:sp>
      <p:sp>
        <p:nvSpPr>
          <p:cNvPr id="7" name="Text 4"/>
          <p:cNvSpPr/>
          <p:nvPr/>
        </p:nvSpPr>
        <p:spPr>
          <a:xfrm>
            <a:off x="3987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Can the country fill the gap?</a:t>
            </a:r>
            <a:endParaRPr lang="en-US" sz="1200"/>
          </a:p>
        </p:txBody>
      </p:sp>
      <p:pic>
        <p:nvPicPr>
          <p:cNvPr id="8" name="Image 1" descr="Cards for government health spending, aid lost as share of spending and revenue, health share vs Abuja target, gap before and after response, and a bar showing the gap against fiscal space"/>
          <p:cNvPicPr>
            <a:picLocks noChangeAspect="1"/>
          </p:cNvPicPr>
          <p:nvPr/>
        </p:nvPicPr>
        <p:blipFill>
          <a:blip r:embed="rId4"/>
          <a:srcRect l="-142" r="-142"/>
          <a:stretch/>
        </p:blipFill>
        <p:spPr>
          <a:xfrm>
            <a:off x="3994150" y="1504950"/>
            <a:ext cx="3060700" cy="1974850"/>
          </a:xfrm>
          <a:prstGeom prst="roundRect">
            <a:avLst>
              <a:gd name="adj" fmla="val 2251"/>
            </a:avLst>
          </a:prstGeom>
        </p:spPr>
      </p:pic>
      <p:sp>
        <p:nvSpPr>
          <p:cNvPr id="9" name="Shape 5"/>
          <p:cNvSpPr/>
          <p:nvPr/>
        </p:nvSpPr>
        <p:spPr>
          <a:xfrm>
            <a:off x="3990975" y="1501775"/>
            <a:ext cx="3067050" cy="1981200"/>
          </a:xfrm>
          <a:prstGeom prst="roundRect">
            <a:avLst>
              <a:gd name="adj" fmla="val 2404"/>
            </a:avLst>
          </a:prstGeom>
          <a:noFill/>
          <a:ln w="6350">
            <a:solidFill>
              <a:srgbClr val="DDD7CA"/>
            </a:solidFill>
            <a:prstDash val="solid"/>
          </a:ln>
        </p:spPr>
        <p:txBody>
          <a:bodyPr/>
          <a:lstStyle/>
          <a:p>
            <a:endParaRPr lang="en-US"/>
          </a:p>
        </p:txBody>
      </p:sp>
      <p:pic>
        <p:nvPicPr>
          <p:cNvPr id="10" name="Image 2" descr="K = GHES_2023 (g p75 - g median) sigma(i); sigma(i) = min(max(1 - (i - 10)/40, 0.25), 1); R_t = min(theta L_t, K); N_t = L_t - R_t"/>
          <p:cNvPicPr>
            <a:picLocks noChangeAspect="1"/>
          </p:cNvPicPr>
          <p:nvPr/>
        </p:nvPicPr>
        <p:blipFill>
          <a:blip r:embed="rId5"/>
          <a:srcRect l="-329" r="-329"/>
          <a:stretch/>
        </p:blipFill>
        <p:spPr>
          <a:xfrm>
            <a:off x="7321550" y="1276350"/>
            <a:ext cx="2965450" cy="1295400"/>
          </a:xfrm>
          <a:prstGeom prst="roundRect">
            <a:avLst>
              <a:gd name="adj" fmla="val 3431"/>
            </a:avLst>
          </a:prstGeom>
        </p:spPr>
      </p:pic>
      <p:sp>
        <p:nvSpPr>
          <p:cNvPr id="11" name="Shape 6"/>
          <p:cNvSpPr/>
          <p:nvPr/>
        </p:nvSpPr>
        <p:spPr>
          <a:xfrm>
            <a:off x="7318375" y="1273175"/>
            <a:ext cx="2971800" cy="1301750"/>
          </a:xfrm>
          <a:prstGeom prst="roundRect">
            <a:avLst>
              <a:gd name="adj" fmla="val 3659"/>
            </a:avLst>
          </a:prstGeom>
          <a:noFill/>
          <a:ln w="6350">
            <a:solidFill>
              <a:srgbClr val="DDD7CA"/>
            </a:solidFill>
            <a:prstDash val="solid"/>
          </a:ln>
        </p:spPr>
        <p:txBody>
          <a:bodyPr/>
          <a:lstStyle/>
          <a:p>
            <a:endParaRPr lang="en-US"/>
          </a:p>
        </p:txBody>
      </p:sp>
      <p:pic>
        <p:nvPicPr>
          <p:cNvPr id="12" name="Image 3" descr="Key: K fiscal space per year; g p75 and g median strong-year and median real growth in GHES 2001-23; i interest as % of revenue; sigma debt-stress factor; theta share chosen to replace; R_t aid replaced; N_t net loss passed to step 2"/>
          <p:cNvPicPr>
            <a:picLocks noChangeAspect="1"/>
          </p:cNvPicPr>
          <p:nvPr/>
        </p:nvPicPr>
        <p:blipFill>
          <a:blip r:embed="rId6"/>
          <a:srcRect l="-255" r="-255"/>
          <a:stretch/>
        </p:blipFill>
        <p:spPr>
          <a:xfrm>
            <a:off x="7321550" y="2736850"/>
            <a:ext cx="4051300" cy="1562100"/>
          </a:xfrm>
          <a:prstGeom prst="roundRect">
            <a:avLst>
              <a:gd name="adj" fmla="val 2846"/>
            </a:avLst>
          </a:prstGeom>
        </p:spPr>
      </p:pic>
      <p:sp>
        <p:nvSpPr>
          <p:cNvPr id="13" name="Shape 7"/>
          <p:cNvSpPr/>
          <p:nvPr/>
        </p:nvSpPr>
        <p:spPr>
          <a:xfrm>
            <a:off x="7318375" y="2733675"/>
            <a:ext cx="4057650" cy="1568450"/>
          </a:xfrm>
          <a:prstGeom prst="roundRect">
            <a:avLst>
              <a:gd name="adj" fmla="val 3036"/>
            </a:avLst>
          </a:prstGeom>
          <a:noFill/>
          <a:ln w="6350">
            <a:solidFill>
              <a:srgbClr val="DDD7CA"/>
            </a:solidFill>
            <a:prstDash val="solid"/>
          </a:ln>
        </p:spPr>
        <p:txBody>
          <a:bodyPr/>
          <a:lstStyle/>
          <a:p>
            <a:endParaRPr lang="en-US"/>
          </a:p>
        </p:txBody>
      </p:sp>
      <p:sp>
        <p:nvSpPr>
          <p:cNvPr id="18" name="Title 1">
            <a:extLst>
              <a:ext uri="{FF2B5EF4-FFF2-40B4-BE49-F238E27FC236}">
                <a16:creationId xmlns:a16="http://schemas.microsoft.com/office/drawing/2014/main" id="{B43B1FFF-8818-E358-169F-A4EBC0A6CAEA}"/>
              </a:ext>
            </a:extLst>
          </p:cNvPr>
          <p:cNvSpPr txBox="1">
            <a:spLocks/>
          </p:cNvSpPr>
          <p:nvPr/>
        </p:nvSpPr>
        <p:spPr>
          <a:xfrm>
            <a:off x="-21988" y="-58259"/>
            <a:ext cx="12444026" cy="1012771"/>
          </a:xfrm>
          <a:prstGeom prst="rect">
            <a:avLst/>
          </a:prstGeom>
          <a:solidFill>
            <a:srgbClr val="1C3073"/>
          </a:solidFill>
          <a:ln w="57150">
            <a:solidFill>
              <a:srgbClr val="1B2F73"/>
            </a:solidFill>
          </a:ln>
        </p:spPr>
        <p:txBody>
          <a:bodyPr vert="horz" wrap="square" lIns="91440" tIns="45720" rIns="91440" bIns="45720" rtlCol="0" anchor="ctr">
            <a:normAutofit/>
          </a:bodyPr>
          <a:lstStyle>
            <a:lvl1pPr marL="0" indent="0" algn="l" defTabSz="914400" rtl="0" eaLnBrk="1" latinLnBrk="0" hangingPunct="1">
              <a:lnSpc>
                <a:spcPct val="115000"/>
              </a:lnSpc>
              <a:spcBef>
                <a:spcPct val="0"/>
              </a:spcBef>
              <a:buNone/>
              <a:defRPr lang="en-US" sz="3200" kern="1200" dirty="0">
                <a:solidFill>
                  <a:srgbClr val="14213D"/>
                </a:solidFill>
                <a:latin typeface="Source Serif 4" pitchFamily="34" charset="0"/>
                <a:ea typeface="Source Serif 4" pitchFamily="34" charset="-122"/>
                <a:cs typeface="Source Serif 4" pitchFamily="34" charset="-120"/>
              </a:defRPr>
            </a:lvl1pPr>
          </a:lstStyle>
          <a:p>
            <a:pPr>
              <a:lnSpc>
                <a:spcPct val="90000"/>
              </a:lnSpc>
            </a:pPr>
            <a:r>
              <a:rPr lang="en-US" sz="2800">
                <a:solidFill>
                  <a:schemeClr val="bg1"/>
                </a:solidFill>
                <a:latin typeface="Franklin Gothic Medium"/>
                <a:ea typeface="+mj-lt"/>
                <a:cs typeface="+mj-lt"/>
              </a:rPr>
              <a:t>Dashboard – Modeling how fiscal space within country budgets can be used to buffer cuts</a:t>
            </a:r>
          </a:p>
        </p:txBody>
      </p:sp>
      <p:pic>
        <p:nvPicPr>
          <p:cNvPr id="3" name="Picture 2" descr="Yale Jackson School of Global Affairs - Wikipedia">
            <a:extLst>
              <a:ext uri="{FF2B5EF4-FFF2-40B4-BE49-F238E27FC236}">
                <a16:creationId xmlns:a16="http://schemas.microsoft.com/office/drawing/2014/main" id="{68577EE1-B8C8-7C60-A945-14BDB817609F}"/>
              </a:ext>
            </a:extLst>
          </p:cNvPr>
          <p:cNvPicPr>
            <a:picLocks noChangeAspect="1"/>
          </p:cNvPicPr>
          <p:nvPr/>
        </p:nvPicPr>
        <p:blipFill>
          <a:blip r:embed="rId7"/>
          <a:srcRect/>
          <a:stretch>
            <a:fillRect/>
          </a:stretch>
        </p:blipFill>
        <p:spPr>
          <a:xfrm>
            <a:off x="338944" y="6257970"/>
            <a:ext cx="491134" cy="465099"/>
          </a:xfrm>
          <a:prstGeom prst="rect">
            <a:avLst/>
          </a:prstGeom>
        </p:spPr>
      </p:pic>
      <p:pic>
        <p:nvPicPr>
          <p:cNvPr id="15" name="Picture 14" descr="Yale Jackson School of Global Affairs - National Peace Corps Association">
            <a:extLst>
              <a:ext uri="{FF2B5EF4-FFF2-40B4-BE49-F238E27FC236}">
                <a16:creationId xmlns:a16="http://schemas.microsoft.com/office/drawing/2014/main" id="{D011B53A-31BC-C932-FF05-66D336DA8261}"/>
              </a:ext>
            </a:extLst>
          </p:cNvPr>
          <p:cNvPicPr>
            <a:picLocks noChangeAspect="1"/>
          </p:cNvPicPr>
          <p:nvPr/>
        </p:nvPicPr>
        <p:blipFill>
          <a:blip r:embed="rId8"/>
          <a:srcRect l="-3079" t="-13043" r="-4016" b="-14493"/>
          <a:stretch>
            <a:fillRect/>
          </a:stretch>
        </p:blipFill>
        <p:spPr>
          <a:xfrm>
            <a:off x="826286" y="6258187"/>
            <a:ext cx="2419332" cy="564644"/>
          </a:xfrm>
          <a:prstGeom prst="rect">
            <a:avLst/>
          </a:prstGeom>
        </p:spPr>
      </p:pic>
      <p:sp>
        <p:nvSpPr>
          <p:cNvPr id="14" name="Slide Number Placeholder 3">
            <a:extLst>
              <a:ext uri="{FF2B5EF4-FFF2-40B4-BE49-F238E27FC236}">
                <a16:creationId xmlns:a16="http://schemas.microsoft.com/office/drawing/2014/main" id="{9CBA5686-C865-42AE-CF76-DE9101BE2D39}"/>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18</a:t>
            </a:fld>
            <a:endParaRPr lang="en-US" sz="1400">
              <a:latin typeface="Georgia"/>
            </a:endParaRPr>
          </a:p>
        </p:txBody>
      </p:sp>
    </p:spTree>
    <p:extLst>
      <p:ext uri="{BB962C8B-B14F-4D97-AF65-F5344CB8AC3E}">
        <p14:creationId xmlns:p14="http://schemas.microsoft.com/office/powerpoint/2010/main" val="2058010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12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Deaths and US$1 million cards</a:t>
            </a:r>
            <a:endParaRPr lang="en-US" sz="1200"/>
          </a:p>
        </p:txBody>
      </p:sp>
      <p:pic>
        <p:nvPicPr>
          <p:cNvPr id="5" name="Image 0" descr="The Numbers cards and What Every US$1 Million Cut Does cards for HIV, TB, malaria and immunization"/>
          <p:cNvPicPr>
            <a:picLocks noChangeAspect="1"/>
          </p:cNvPicPr>
          <p:nvPr/>
        </p:nvPicPr>
        <p:blipFill>
          <a:blip r:embed="rId4"/>
          <a:srcRect l="-22" r="-22"/>
          <a:stretch/>
        </p:blipFill>
        <p:spPr>
          <a:xfrm>
            <a:off x="819150" y="1504950"/>
            <a:ext cx="3060700" cy="2819400"/>
          </a:xfrm>
          <a:prstGeom prst="roundRect">
            <a:avLst>
              <a:gd name="adj" fmla="val 1577"/>
            </a:avLst>
          </a:prstGeom>
        </p:spPr>
      </p:pic>
      <p:sp>
        <p:nvSpPr>
          <p:cNvPr id="6" name="Shape 3"/>
          <p:cNvSpPr/>
          <p:nvPr/>
        </p:nvSpPr>
        <p:spPr>
          <a:xfrm>
            <a:off x="815975" y="1501775"/>
            <a:ext cx="3067050" cy="2825750"/>
          </a:xfrm>
          <a:prstGeom prst="roundRect">
            <a:avLst>
              <a:gd name="adj" fmla="val 1685"/>
            </a:avLst>
          </a:prstGeom>
          <a:noFill/>
          <a:ln w="6350">
            <a:solidFill>
              <a:srgbClr val="DDD7CA"/>
            </a:solidFill>
            <a:prstDash val="solid"/>
          </a:ln>
        </p:spPr>
        <p:txBody>
          <a:bodyPr/>
          <a:lstStyle/>
          <a:p>
            <a:endParaRPr lang="en-US"/>
          </a:p>
        </p:txBody>
      </p:sp>
      <p:sp>
        <p:nvSpPr>
          <p:cNvPr id="7" name="Text 4"/>
          <p:cNvSpPr/>
          <p:nvPr/>
        </p:nvSpPr>
        <p:spPr>
          <a:xfrm>
            <a:off x="3987800" y="1257300"/>
            <a:ext cx="3165602"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How the damage scales</a:t>
            </a:r>
            <a:endParaRPr lang="en-US" sz="1200"/>
          </a:p>
        </p:txBody>
      </p:sp>
      <p:pic>
        <p:nvPicPr>
          <p:cNvPr id="8" name="Image 1" descr="Extra deaths as more aid is cut with range band, and extra deaths each year 2026-2030 by disease"/>
          <p:cNvPicPr>
            <a:picLocks noChangeAspect="1"/>
          </p:cNvPicPr>
          <p:nvPr/>
        </p:nvPicPr>
        <p:blipFill>
          <a:blip r:embed="rId5"/>
          <a:srcRect l="-76" r="-76"/>
          <a:stretch/>
        </p:blipFill>
        <p:spPr>
          <a:xfrm>
            <a:off x="3994150" y="1504950"/>
            <a:ext cx="3060700" cy="2127250"/>
          </a:xfrm>
          <a:prstGeom prst="roundRect">
            <a:avLst>
              <a:gd name="adj" fmla="val 2090"/>
            </a:avLst>
          </a:prstGeom>
        </p:spPr>
      </p:pic>
      <p:sp>
        <p:nvSpPr>
          <p:cNvPr id="9" name="Shape 5"/>
          <p:cNvSpPr/>
          <p:nvPr/>
        </p:nvSpPr>
        <p:spPr>
          <a:xfrm>
            <a:off x="3990975" y="1501775"/>
            <a:ext cx="3067050" cy="2133600"/>
          </a:xfrm>
          <a:prstGeom prst="roundRect">
            <a:avLst>
              <a:gd name="adj" fmla="val 2232"/>
            </a:avLst>
          </a:prstGeom>
          <a:noFill/>
          <a:ln w="6350">
            <a:solidFill>
              <a:srgbClr val="DDD7CA"/>
            </a:solidFill>
            <a:prstDash val="solid"/>
          </a:ln>
        </p:spPr>
        <p:txBody>
          <a:bodyPr/>
          <a:lstStyle/>
          <a:p>
            <a:endParaRPr lang="en-US"/>
          </a:p>
        </p:txBody>
      </p:sp>
      <p:pic>
        <p:nvPicPr>
          <p:cNvPr id="10" name="Image 2" descr="D = sum over lines and years 2026-2030 of Delta U times m_l(tau); m_ART = mu h_tau; m_TB = CFR untreated - CFR treated; malaria Lives Saved Tool formula"/>
          <p:cNvPicPr>
            <a:picLocks noChangeAspect="1"/>
          </p:cNvPicPr>
          <p:nvPr/>
        </p:nvPicPr>
        <p:blipFill>
          <a:blip r:embed="rId6"/>
          <a:srcRect l="-238" r="-238"/>
          <a:stretch/>
        </p:blipFill>
        <p:spPr>
          <a:xfrm>
            <a:off x="7321550" y="1276350"/>
            <a:ext cx="3175000" cy="1631950"/>
          </a:xfrm>
          <a:prstGeom prst="roundRect">
            <a:avLst>
              <a:gd name="adj" fmla="val 2724"/>
            </a:avLst>
          </a:prstGeom>
        </p:spPr>
      </p:pic>
      <p:sp>
        <p:nvSpPr>
          <p:cNvPr id="11" name="Shape 6"/>
          <p:cNvSpPr/>
          <p:nvPr/>
        </p:nvSpPr>
        <p:spPr>
          <a:xfrm>
            <a:off x="7318375" y="1273175"/>
            <a:ext cx="3181350" cy="1638300"/>
          </a:xfrm>
          <a:prstGeom prst="roundRect">
            <a:avLst>
              <a:gd name="adj" fmla="val 2907"/>
            </a:avLst>
          </a:prstGeom>
          <a:noFill/>
          <a:ln w="6350">
            <a:solidFill>
              <a:srgbClr val="DDD7CA"/>
            </a:solidFill>
            <a:prstDash val="solid"/>
          </a:ln>
        </p:spPr>
        <p:txBody>
          <a:bodyPr/>
          <a:lstStyle/>
          <a:p>
            <a:endParaRPr lang="en-US"/>
          </a:p>
        </p:txBody>
      </p:sp>
      <p:pic>
        <p:nvPicPr>
          <p:cNvPr id="12" name="Image 3" descr="Key: m_l(tau) deaths per person losing l, tau years after; h_tau excess death rate off ART; mu uncertainty multiplier; CFR untreated and treated; E_v, E_c effects of vector control and case management; C_v, C_c their coverage before and after"/>
          <p:cNvPicPr>
            <a:picLocks noChangeAspect="1"/>
          </p:cNvPicPr>
          <p:nvPr/>
        </p:nvPicPr>
        <p:blipFill>
          <a:blip r:embed="rId7"/>
          <a:srcRect l="-288" r="-288"/>
          <a:stretch/>
        </p:blipFill>
        <p:spPr>
          <a:xfrm>
            <a:off x="7321550" y="3073400"/>
            <a:ext cx="4051300" cy="1568450"/>
          </a:xfrm>
          <a:prstGeom prst="roundRect">
            <a:avLst>
              <a:gd name="adj" fmla="val 2834"/>
            </a:avLst>
          </a:prstGeom>
        </p:spPr>
      </p:pic>
      <p:sp>
        <p:nvSpPr>
          <p:cNvPr id="13" name="Shape 7"/>
          <p:cNvSpPr/>
          <p:nvPr/>
        </p:nvSpPr>
        <p:spPr>
          <a:xfrm>
            <a:off x="7318375" y="3070225"/>
            <a:ext cx="4057650" cy="1574800"/>
          </a:xfrm>
          <a:prstGeom prst="roundRect">
            <a:avLst>
              <a:gd name="adj" fmla="val 3024"/>
            </a:avLst>
          </a:prstGeom>
          <a:noFill/>
          <a:ln w="6350">
            <a:solidFill>
              <a:srgbClr val="DDD7CA"/>
            </a:solidFill>
            <a:prstDash val="solid"/>
          </a:ln>
        </p:spPr>
        <p:txBody>
          <a:bodyPr/>
          <a:lstStyle/>
          <a:p>
            <a:endParaRPr lang="en-US"/>
          </a:p>
        </p:txBody>
      </p:sp>
      <p:sp>
        <p:nvSpPr>
          <p:cNvPr id="18" name="Title 1">
            <a:extLst>
              <a:ext uri="{FF2B5EF4-FFF2-40B4-BE49-F238E27FC236}">
                <a16:creationId xmlns:a16="http://schemas.microsoft.com/office/drawing/2014/main" id="{FEDF2AA4-2C9C-B11A-C205-FF9216995AC9}"/>
              </a:ext>
            </a:extLst>
          </p:cNvPr>
          <p:cNvSpPr txBox="1">
            <a:spLocks/>
          </p:cNvSpPr>
          <p:nvPr/>
        </p:nvSpPr>
        <p:spPr>
          <a:xfrm>
            <a:off x="-21988" y="-58259"/>
            <a:ext cx="12444026" cy="1012771"/>
          </a:xfrm>
          <a:prstGeom prst="rect">
            <a:avLst/>
          </a:prstGeom>
          <a:solidFill>
            <a:srgbClr val="1C3073"/>
          </a:solidFill>
          <a:ln w="57150">
            <a:solidFill>
              <a:srgbClr val="1B2F73"/>
            </a:solidFill>
          </a:ln>
        </p:spPr>
        <p:txBody>
          <a:bodyPr vert="horz" wrap="square" lIns="91440" tIns="45720" rIns="91440" bIns="45720" rtlCol="0" anchor="ctr">
            <a:normAutofit/>
          </a:bodyPr>
          <a:lstStyle>
            <a:lvl1pPr marL="0" indent="0" algn="l" defTabSz="914400" rtl="0" eaLnBrk="1" latinLnBrk="0" hangingPunct="1">
              <a:lnSpc>
                <a:spcPct val="115000"/>
              </a:lnSpc>
              <a:spcBef>
                <a:spcPct val="0"/>
              </a:spcBef>
              <a:buNone/>
              <a:defRPr lang="en-US" sz="3200" kern="1200" dirty="0">
                <a:solidFill>
                  <a:srgbClr val="14213D"/>
                </a:solidFill>
                <a:latin typeface="Source Serif 4" pitchFamily="34" charset="0"/>
                <a:ea typeface="Source Serif 4" pitchFamily="34" charset="-122"/>
                <a:cs typeface="Source Serif 4" pitchFamily="34" charset="-120"/>
              </a:defRPr>
            </a:lvl1pPr>
          </a:lstStyle>
          <a:p>
            <a:pPr>
              <a:lnSpc>
                <a:spcPct val="90000"/>
              </a:lnSpc>
            </a:pPr>
            <a:r>
              <a:rPr lang="en-US" sz="2800">
                <a:solidFill>
                  <a:schemeClr val="bg1"/>
                </a:solidFill>
                <a:latin typeface="Franklin Gothic Medium"/>
                <a:ea typeface="+mj-lt"/>
                <a:cs typeface="+mj-lt"/>
              </a:rPr>
              <a:t>Dashboard – Modeling lives at risk as a result of cuts</a:t>
            </a:r>
          </a:p>
        </p:txBody>
      </p:sp>
      <p:pic>
        <p:nvPicPr>
          <p:cNvPr id="3" name="Picture 2" descr="Yale Jackson School of Global Affairs - Wikipedia">
            <a:extLst>
              <a:ext uri="{FF2B5EF4-FFF2-40B4-BE49-F238E27FC236}">
                <a16:creationId xmlns:a16="http://schemas.microsoft.com/office/drawing/2014/main" id="{1CFE7574-86C0-14A7-C04F-E3DCCAFA447B}"/>
              </a:ext>
            </a:extLst>
          </p:cNvPr>
          <p:cNvPicPr>
            <a:picLocks noChangeAspect="1"/>
          </p:cNvPicPr>
          <p:nvPr/>
        </p:nvPicPr>
        <p:blipFill>
          <a:blip r:embed="rId8"/>
          <a:srcRect/>
          <a:stretch>
            <a:fillRect/>
          </a:stretch>
        </p:blipFill>
        <p:spPr>
          <a:xfrm>
            <a:off x="338944" y="6257970"/>
            <a:ext cx="491134" cy="465099"/>
          </a:xfrm>
          <a:prstGeom prst="rect">
            <a:avLst/>
          </a:prstGeom>
        </p:spPr>
      </p:pic>
      <p:pic>
        <p:nvPicPr>
          <p:cNvPr id="15" name="Picture 14" descr="Yale Jackson School of Global Affairs - National Peace Corps Association">
            <a:extLst>
              <a:ext uri="{FF2B5EF4-FFF2-40B4-BE49-F238E27FC236}">
                <a16:creationId xmlns:a16="http://schemas.microsoft.com/office/drawing/2014/main" id="{20961003-FE1A-B25C-E498-DC8C23F7148E}"/>
              </a:ext>
            </a:extLst>
          </p:cNvPr>
          <p:cNvPicPr>
            <a:picLocks noChangeAspect="1"/>
          </p:cNvPicPr>
          <p:nvPr/>
        </p:nvPicPr>
        <p:blipFill>
          <a:blip r:embed="rId9"/>
          <a:srcRect l="-3079" t="-13043" r="-4016" b="-14493"/>
          <a:stretch>
            <a:fillRect/>
          </a:stretch>
        </p:blipFill>
        <p:spPr>
          <a:xfrm>
            <a:off x="826286" y="6258187"/>
            <a:ext cx="2419332" cy="564644"/>
          </a:xfrm>
          <a:prstGeom prst="rect">
            <a:avLst/>
          </a:prstGeom>
        </p:spPr>
      </p:pic>
      <p:sp>
        <p:nvSpPr>
          <p:cNvPr id="14" name="Slide Number Placeholder 3">
            <a:extLst>
              <a:ext uri="{FF2B5EF4-FFF2-40B4-BE49-F238E27FC236}">
                <a16:creationId xmlns:a16="http://schemas.microsoft.com/office/drawing/2014/main" id="{B43F22A0-55C4-1860-5883-91E2968E4171}"/>
              </a:ext>
            </a:extLst>
          </p:cNvPr>
          <p:cNvSpPr txBox="1">
            <a:spLocks/>
          </p:cNvSpPr>
          <p:nvPr/>
        </p:nvSpPr>
        <p:spPr>
          <a:xfrm>
            <a:off x="8610600" y="6356350"/>
            <a:ext cx="2743200" cy="365125"/>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330EA680-D336-4FF7-8B7A-9848BB0A1C32}" type="slidenum">
              <a:rPr lang="en-US" sz="1400" dirty="0" smtClean="0">
                <a:latin typeface="Georgia"/>
              </a:rPr>
              <a:pPr algn="r"/>
              <a:t>19</a:t>
            </a:fld>
            <a:endParaRPr lang="en-US" sz="1400">
              <a:latin typeface="Georgia"/>
            </a:endParaRPr>
          </a:p>
        </p:txBody>
      </p:sp>
    </p:spTree>
    <p:extLst>
      <p:ext uri="{BB962C8B-B14F-4D97-AF65-F5344CB8AC3E}">
        <p14:creationId xmlns:p14="http://schemas.microsoft.com/office/powerpoint/2010/main" val="4062557614"/>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E68A0-6C86-E604-B7A2-4C8F01D062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1D222F-F0D3-1FE4-4AED-3F0079E91ACD}"/>
              </a:ext>
            </a:extLst>
          </p:cNvPr>
          <p:cNvSpPr>
            <a:spLocks noGrp="1"/>
          </p:cNvSpPr>
          <p:nvPr>
            <p:ph type="sldNum" sz="quarter" idx="12"/>
          </p:nvPr>
        </p:nvSpPr>
        <p:spPr/>
        <p:txBody>
          <a:bodyPr/>
          <a:lstStyle/>
          <a:p>
            <a:fld id="{330EA680-D336-4FF7-8B7A-9848BB0A1C32}" type="slidenum">
              <a:rPr lang="en-US" smtClean="0"/>
              <a:t>20</a:t>
            </a:fld>
            <a:endParaRPr lang="en-US"/>
          </a:p>
        </p:txBody>
      </p:sp>
      <p:pic>
        <p:nvPicPr>
          <p:cNvPr id="8" name="Picture 7" descr="Yale Jackson School of Global Affairs - Wikipedia">
            <a:extLst>
              <a:ext uri="{FF2B5EF4-FFF2-40B4-BE49-F238E27FC236}">
                <a16:creationId xmlns:a16="http://schemas.microsoft.com/office/drawing/2014/main" id="{2F215708-1F1B-E0F7-C3E7-482ED5E86295}"/>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A614CAD0-6BCE-E643-7C74-C84B7DFF4522}"/>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9" name="Title 1">
            <a:extLst>
              <a:ext uri="{FF2B5EF4-FFF2-40B4-BE49-F238E27FC236}">
                <a16:creationId xmlns:a16="http://schemas.microsoft.com/office/drawing/2014/main" id="{0D0116A3-5FF5-1558-8A99-44C4F5BD2D8B}"/>
              </a:ext>
            </a:extLst>
          </p:cNvPr>
          <p:cNvSpPr>
            <a:spLocks noGrp="1"/>
          </p:cNvSpPr>
          <p:nvPr>
            <p:ph type="title"/>
          </p:nvPr>
        </p:nvSpPr>
        <p:spPr>
          <a:xfrm>
            <a:off x="-21988" y="-58259"/>
            <a:ext cx="12444026" cy="1012771"/>
          </a:xfrm>
          <a:solidFill>
            <a:srgbClr val="1C3073"/>
          </a:solidFill>
          <a:ln w="57150">
            <a:solidFill>
              <a:srgbClr val="1B2F73"/>
            </a:solidFill>
          </a:ln>
        </p:spPr>
        <p:txBody>
          <a:bodyPr vert="horz" lIns="91440" tIns="45720" rIns="91440" bIns="45720" rtlCol="0" anchor="ctr">
            <a:normAutofit/>
          </a:bodyPr>
          <a:lstStyle/>
          <a:p>
            <a:r>
              <a:rPr lang="en-US" sz="2800">
                <a:solidFill>
                  <a:schemeClr val="bg1"/>
                </a:solidFill>
                <a:latin typeface="Franklin Gothic Medium"/>
                <a:ea typeface="+mj-lt"/>
                <a:cs typeface="+mj-lt"/>
              </a:rPr>
              <a:t>Live Demo: Choosing A Country And Scenario Reveals Which Services An Aid Cut Puts At Risk</a:t>
            </a:r>
            <a:endParaRPr lang="en-US" sz="2800">
              <a:solidFill>
                <a:schemeClr val="bg1"/>
              </a:solidFill>
              <a:latin typeface="Franklin Gothic Medium" panose="020B0603020102020204" pitchFamily="34" charset="0"/>
              <a:ea typeface="+mj-lt"/>
              <a:cs typeface="+mj-lt"/>
            </a:endParaRPr>
          </a:p>
        </p:txBody>
      </p:sp>
      <p:sp>
        <p:nvSpPr>
          <p:cNvPr id="37" name="Rounded Rectangle 2">
            <a:hlinkClick r:id="rId5"/>
            <a:extLst>
              <a:ext uri="{FF2B5EF4-FFF2-40B4-BE49-F238E27FC236}">
                <a16:creationId xmlns:a16="http://schemas.microsoft.com/office/drawing/2014/main" id="{D39A44AE-A31A-EC79-897F-C4A59A917252}"/>
              </a:ext>
            </a:extLst>
          </p:cNvPr>
          <p:cNvSpPr/>
          <p:nvPr/>
        </p:nvSpPr>
        <p:spPr>
          <a:xfrm>
            <a:off x="3355848" y="1955470"/>
            <a:ext cx="5486400" cy="1051560"/>
          </a:xfrm>
          <a:prstGeom prst="roundRect">
            <a:avLst>
              <a:gd name="adj" fmla="val 50000"/>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45720" rIns="73152"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a:solidFill>
                  <a:schemeClr val="bg1"/>
                </a:solidFill>
                <a:latin typeface="Franklin Gothic Medium"/>
                <a:hlinkClick r:id="rId6">
                  <a:extLst>
                    <a:ext uri="{A12FA001-AC4F-418D-AE19-62706E023703}">
                      <ahyp:hlinkClr xmlns:ahyp="http://schemas.microsoft.com/office/drawing/2018/hyperlinkcolor" val="tx"/>
                    </a:ext>
                  </a:extLst>
                </a:hlinkClick>
              </a:rPr>
              <a:t>Open The Live Dashboard  ›</a:t>
            </a:r>
            <a:endParaRPr lang="en-US" sz="2800" b="1">
              <a:solidFill>
                <a:schemeClr val="bg1"/>
              </a:solidFill>
              <a:latin typeface="Franklin Gothic Medium"/>
            </a:endParaRPr>
          </a:p>
        </p:txBody>
      </p:sp>
      <p:cxnSp>
        <p:nvCxnSpPr>
          <p:cNvPr id="38" name="Connector 3">
            <a:extLst>
              <a:ext uri="{FF2B5EF4-FFF2-40B4-BE49-F238E27FC236}">
                <a16:creationId xmlns:a16="http://schemas.microsoft.com/office/drawing/2014/main" id="{0AF8F498-C0EC-BEC1-EAD3-83C232BC8BC9}"/>
              </a:ext>
            </a:extLst>
          </p:cNvPr>
          <p:cNvCxnSpPr/>
          <p:nvPr/>
        </p:nvCxnSpPr>
        <p:spPr>
          <a:xfrm>
            <a:off x="1889607" y="3829990"/>
            <a:ext cx="8412480" cy="0"/>
          </a:xfrm>
          <a:prstGeom prst="line">
            <a:avLst/>
          </a:prstGeom>
          <a:ln w="38100">
            <a:solidFill>
              <a:srgbClr val="B8C0D6"/>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84E4A3AF-BAC5-B8DB-A3C1-DBC91246C8B7}"/>
              </a:ext>
            </a:extLst>
          </p:cNvPr>
          <p:cNvSpPr/>
          <p:nvPr/>
        </p:nvSpPr>
        <p:spPr>
          <a:xfrm>
            <a:off x="1546707" y="3487090"/>
            <a:ext cx="685800" cy="685800"/>
          </a:xfrm>
          <a:prstGeom prst="ellipse">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2200" b="1" u="none">
                <a:solidFill>
                  <a:srgbClr val="FFFFFF"/>
                </a:solidFill>
                <a:latin typeface="Franklin Gothic Medium"/>
              </a:rPr>
              <a:t>1</a:t>
            </a:r>
          </a:p>
        </p:txBody>
      </p:sp>
      <p:sp>
        <p:nvSpPr>
          <p:cNvPr id="40" name="TextBox 5">
            <a:extLst>
              <a:ext uri="{FF2B5EF4-FFF2-40B4-BE49-F238E27FC236}">
                <a16:creationId xmlns:a16="http://schemas.microsoft.com/office/drawing/2014/main" id="{688CCC98-14EC-8381-5111-6227BC1EC2C6}"/>
              </a:ext>
            </a:extLst>
          </p:cNvPr>
          <p:cNvSpPr txBox="1"/>
          <p:nvPr/>
        </p:nvSpPr>
        <p:spPr>
          <a:xfrm>
            <a:off x="883767" y="4287190"/>
            <a:ext cx="2011679" cy="584775"/>
          </a:xfrm>
          <a:prstGeom prst="rect">
            <a:avLst/>
          </a:prstGeom>
          <a:noFill/>
        </p:spPr>
        <p:txBody>
          <a:bodyPr wrap="square" lIns="73152" rIns="73152"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u="none">
                <a:solidFill>
                  <a:srgbClr val="2B3044"/>
                </a:solidFill>
                <a:latin typeface="Franklin Gothic Medium"/>
              </a:rPr>
              <a:t>Pick A Country And Scenario</a:t>
            </a:r>
          </a:p>
        </p:txBody>
      </p:sp>
      <p:sp>
        <p:nvSpPr>
          <p:cNvPr id="41" name="Oval 40">
            <a:extLst>
              <a:ext uri="{FF2B5EF4-FFF2-40B4-BE49-F238E27FC236}">
                <a16:creationId xmlns:a16="http://schemas.microsoft.com/office/drawing/2014/main" id="{63344AEA-80A2-899A-DB09-15C380B4D9B7}"/>
              </a:ext>
            </a:extLst>
          </p:cNvPr>
          <p:cNvSpPr/>
          <p:nvPr/>
        </p:nvSpPr>
        <p:spPr>
          <a:xfrm>
            <a:off x="3649827" y="3487090"/>
            <a:ext cx="685800" cy="685800"/>
          </a:xfrm>
          <a:prstGeom prst="ellipse">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2200" b="1" u="none">
                <a:solidFill>
                  <a:srgbClr val="FFFFFF"/>
                </a:solidFill>
                <a:latin typeface="Franklin Gothic Medium"/>
              </a:rPr>
              <a:t>2</a:t>
            </a:r>
          </a:p>
        </p:txBody>
      </p:sp>
      <p:sp>
        <p:nvSpPr>
          <p:cNvPr id="42" name="TextBox 7">
            <a:extLst>
              <a:ext uri="{FF2B5EF4-FFF2-40B4-BE49-F238E27FC236}">
                <a16:creationId xmlns:a16="http://schemas.microsoft.com/office/drawing/2014/main" id="{80A9432C-5CEB-8B5C-9D59-6E48D822B421}"/>
              </a:ext>
            </a:extLst>
          </p:cNvPr>
          <p:cNvSpPr txBox="1"/>
          <p:nvPr/>
        </p:nvSpPr>
        <p:spPr>
          <a:xfrm>
            <a:off x="2986887" y="4287190"/>
            <a:ext cx="2011679" cy="338554"/>
          </a:xfrm>
          <a:prstGeom prst="rect">
            <a:avLst/>
          </a:prstGeom>
          <a:noFill/>
        </p:spPr>
        <p:txBody>
          <a:bodyPr wrap="square" lIns="73152" rIns="73152"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u="none">
                <a:solidFill>
                  <a:srgbClr val="2B3044"/>
                </a:solidFill>
                <a:latin typeface="Franklin Gothic Medium"/>
              </a:rPr>
              <a:t>See The Aid At Risk</a:t>
            </a:r>
          </a:p>
        </p:txBody>
      </p:sp>
      <p:sp>
        <p:nvSpPr>
          <p:cNvPr id="43" name="Oval 42">
            <a:extLst>
              <a:ext uri="{FF2B5EF4-FFF2-40B4-BE49-F238E27FC236}">
                <a16:creationId xmlns:a16="http://schemas.microsoft.com/office/drawing/2014/main" id="{3C31051C-02FB-1EC3-E313-B3DDF2427A31}"/>
              </a:ext>
            </a:extLst>
          </p:cNvPr>
          <p:cNvSpPr/>
          <p:nvPr/>
        </p:nvSpPr>
        <p:spPr>
          <a:xfrm>
            <a:off x="5752947" y="3487090"/>
            <a:ext cx="685800" cy="685800"/>
          </a:xfrm>
          <a:prstGeom prst="ellipse">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2200" b="1" u="none">
                <a:solidFill>
                  <a:srgbClr val="FFFFFF"/>
                </a:solidFill>
                <a:latin typeface="Franklin Gothic Medium"/>
              </a:rPr>
              <a:t>3</a:t>
            </a:r>
          </a:p>
        </p:txBody>
      </p:sp>
      <p:sp>
        <p:nvSpPr>
          <p:cNvPr id="44" name="TextBox 9">
            <a:extLst>
              <a:ext uri="{FF2B5EF4-FFF2-40B4-BE49-F238E27FC236}">
                <a16:creationId xmlns:a16="http://schemas.microsoft.com/office/drawing/2014/main" id="{F8EC42DE-A237-7CE6-5C3A-C0122F2A78DA}"/>
              </a:ext>
            </a:extLst>
          </p:cNvPr>
          <p:cNvSpPr txBox="1"/>
          <p:nvPr/>
        </p:nvSpPr>
        <p:spPr>
          <a:xfrm>
            <a:off x="5090007" y="4287190"/>
            <a:ext cx="2011679" cy="584775"/>
          </a:xfrm>
          <a:prstGeom prst="rect">
            <a:avLst/>
          </a:prstGeom>
          <a:noFill/>
        </p:spPr>
        <p:txBody>
          <a:bodyPr wrap="square" lIns="73152" rIns="73152"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u="none">
                <a:solidFill>
                  <a:srgbClr val="2B3044"/>
                </a:solidFill>
                <a:latin typeface="Franklin Gothic Medium"/>
              </a:rPr>
              <a:t>Set The Government Response</a:t>
            </a:r>
          </a:p>
        </p:txBody>
      </p:sp>
      <p:sp>
        <p:nvSpPr>
          <p:cNvPr id="45" name="Oval 44">
            <a:extLst>
              <a:ext uri="{FF2B5EF4-FFF2-40B4-BE49-F238E27FC236}">
                <a16:creationId xmlns:a16="http://schemas.microsoft.com/office/drawing/2014/main" id="{2BBA8FF5-109E-AE64-8900-91D8D7C860B2}"/>
              </a:ext>
            </a:extLst>
          </p:cNvPr>
          <p:cNvSpPr/>
          <p:nvPr/>
        </p:nvSpPr>
        <p:spPr>
          <a:xfrm>
            <a:off x="7856067" y="3487090"/>
            <a:ext cx="685800" cy="685800"/>
          </a:xfrm>
          <a:prstGeom prst="ellipse">
            <a:avLst/>
          </a:prstGeom>
          <a:solidFill>
            <a:srgbClr val="23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2200" b="1" u="none">
                <a:solidFill>
                  <a:srgbClr val="FFFFFF"/>
                </a:solidFill>
                <a:latin typeface="Franklin Gothic Medium"/>
              </a:rPr>
              <a:t>4</a:t>
            </a:r>
          </a:p>
        </p:txBody>
      </p:sp>
      <p:sp>
        <p:nvSpPr>
          <p:cNvPr id="46" name="TextBox 11">
            <a:extLst>
              <a:ext uri="{FF2B5EF4-FFF2-40B4-BE49-F238E27FC236}">
                <a16:creationId xmlns:a16="http://schemas.microsoft.com/office/drawing/2014/main" id="{C9619748-4C06-B5D2-BB59-3FA730E71FCA}"/>
              </a:ext>
            </a:extLst>
          </p:cNvPr>
          <p:cNvSpPr txBox="1"/>
          <p:nvPr/>
        </p:nvSpPr>
        <p:spPr>
          <a:xfrm>
            <a:off x="7193127" y="4287190"/>
            <a:ext cx="2011679" cy="584775"/>
          </a:xfrm>
          <a:prstGeom prst="rect">
            <a:avLst/>
          </a:prstGeom>
          <a:noFill/>
        </p:spPr>
        <p:txBody>
          <a:bodyPr wrap="square" lIns="73152" rIns="73152"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u="none">
                <a:solidFill>
                  <a:srgbClr val="2B3044"/>
                </a:solidFill>
                <a:latin typeface="Franklin Gothic Medium"/>
              </a:rPr>
              <a:t>Count People Losing Services</a:t>
            </a:r>
          </a:p>
        </p:txBody>
      </p:sp>
      <p:sp>
        <p:nvSpPr>
          <p:cNvPr id="47" name="Oval 46">
            <a:extLst>
              <a:ext uri="{FF2B5EF4-FFF2-40B4-BE49-F238E27FC236}">
                <a16:creationId xmlns:a16="http://schemas.microsoft.com/office/drawing/2014/main" id="{4F30FC88-56FB-6A99-D6F3-0ECFF2E60F95}"/>
              </a:ext>
            </a:extLst>
          </p:cNvPr>
          <p:cNvSpPr/>
          <p:nvPr/>
        </p:nvSpPr>
        <p:spPr>
          <a:xfrm>
            <a:off x="9959187" y="3487090"/>
            <a:ext cx="685800" cy="685800"/>
          </a:xfrm>
          <a:prstGeom prst="ellipse">
            <a:avLst/>
          </a:prstGeom>
          <a:solidFill>
            <a:srgbClr val="A85A32"/>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2200" b="1" u="none">
                <a:solidFill>
                  <a:srgbClr val="FFFFFF"/>
                </a:solidFill>
                <a:latin typeface="Franklin Gothic Medium"/>
              </a:rPr>
              <a:t>5</a:t>
            </a:r>
          </a:p>
        </p:txBody>
      </p:sp>
      <p:sp>
        <p:nvSpPr>
          <p:cNvPr id="48" name="TextBox 13">
            <a:extLst>
              <a:ext uri="{FF2B5EF4-FFF2-40B4-BE49-F238E27FC236}">
                <a16:creationId xmlns:a16="http://schemas.microsoft.com/office/drawing/2014/main" id="{4F41C0C7-5136-CCED-1990-2525B6710A2B}"/>
              </a:ext>
            </a:extLst>
          </p:cNvPr>
          <p:cNvSpPr txBox="1"/>
          <p:nvPr/>
        </p:nvSpPr>
        <p:spPr>
          <a:xfrm>
            <a:off x="9296247" y="4287190"/>
            <a:ext cx="2011679" cy="584775"/>
          </a:xfrm>
          <a:prstGeom prst="rect">
            <a:avLst/>
          </a:prstGeom>
          <a:noFill/>
        </p:spPr>
        <p:txBody>
          <a:bodyPr wrap="square" lIns="73152" rIns="73152"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1600" b="1" u="none">
                <a:solidFill>
                  <a:srgbClr val="A85A32"/>
                </a:solidFill>
                <a:latin typeface="Franklin Gothic Medium"/>
              </a:rPr>
              <a:t>Read The Coverage Change</a:t>
            </a:r>
          </a:p>
        </p:txBody>
      </p:sp>
    </p:spTree>
    <p:extLst>
      <p:ext uri="{BB962C8B-B14F-4D97-AF65-F5344CB8AC3E}">
        <p14:creationId xmlns:p14="http://schemas.microsoft.com/office/powerpoint/2010/main" val="1091992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1F5D7-8210-EBD5-FD83-77BCF03A519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AABE3C-0E67-6193-F230-421372478508}"/>
              </a:ext>
            </a:extLst>
          </p:cNvPr>
          <p:cNvSpPr>
            <a:spLocks noGrp="1"/>
          </p:cNvSpPr>
          <p:nvPr>
            <p:ph type="sldNum" sz="quarter" idx="12"/>
          </p:nvPr>
        </p:nvSpPr>
        <p:spPr/>
        <p:txBody>
          <a:bodyPr/>
          <a:lstStyle/>
          <a:p>
            <a:fld id="{330EA680-D336-4FF7-8B7A-9848BB0A1C32}" type="slidenum">
              <a:rPr lang="en-US" smtClean="0"/>
              <a:t>21</a:t>
            </a:fld>
            <a:endParaRPr lang="en-US"/>
          </a:p>
        </p:txBody>
      </p:sp>
      <p:pic>
        <p:nvPicPr>
          <p:cNvPr id="8" name="Picture 7" descr="Yale Jackson School of Global Affairs - Wikipedia">
            <a:extLst>
              <a:ext uri="{FF2B5EF4-FFF2-40B4-BE49-F238E27FC236}">
                <a16:creationId xmlns:a16="http://schemas.microsoft.com/office/drawing/2014/main" id="{370BE646-0361-E947-525B-5470BCA30068}"/>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1C4A7A54-E3CC-7A4E-EAF3-8886DA332CE0}"/>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sp>
        <p:nvSpPr>
          <p:cNvPr id="9" name="Title 1">
            <a:extLst>
              <a:ext uri="{FF2B5EF4-FFF2-40B4-BE49-F238E27FC236}">
                <a16:creationId xmlns:a16="http://schemas.microsoft.com/office/drawing/2014/main" id="{7032BAB4-54A4-0791-D90B-A8E4B95C8983}"/>
              </a:ext>
            </a:extLst>
          </p:cNvPr>
          <p:cNvSpPr>
            <a:spLocks noGrp="1"/>
          </p:cNvSpPr>
          <p:nvPr>
            <p:ph type="title"/>
          </p:nvPr>
        </p:nvSpPr>
        <p:spPr>
          <a:xfrm>
            <a:off x="-21988" y="-58259"/>
            <a:ext cx="12444026" cy="1012771"/>
          </a:xfrm>
          <a:solidFill>
            <a:srgbClr val="1C3073"/>
          </a:solidFill>
          <a:ln w="57150">
            <a:solidFill>
              <a:srgbClr val="1B2F73"/>
            </a:solidFill>
          </a:ln>
        </p:spPr>
        <p:txBody>
          <a:bodyPr vert="horz" lIns="91440" tIns="45720" rIns="91440" bIns="45720" rtlCol="0" anchor="ctr">
            <a:normAutofit/>
          </a:bodyPr>
          <a:lstStyle/>
          <a:p>
            <a:r>
              <a:rPr lang="en-US" sz="2800">
                <a:solidFill>
                  <a:schemeClr val="bg1"/>
                </a:solidFill>
                <a:latin typeface="Franklin Gothic Medium"/>
              </a:rPr>
              <a:t>Historical patterns show that when the US decreases aid, countries decreased domestic government health expenditure by 19 cents</a:t>
            </a:r>
            <a:endParaRPr lang="en-US">
              <a:solidFill>
                <a:schemeClr val="bg1"/>
              </a:solidFill>
            </a:endParaRPr>
          </a:p>
        </p:txBody>
      </p:sp>
      <p:pic>
        <p:nvPicPr>
          <p:cNvPr id="3" name="Picture 2">
            <a:extLst>
              <a:ext uri="{FF2B5EF4-FFF2-40B4-BE49-F238E27FC236}">
                <a16:creationId xmlns:a16="http://schemas.microsoft.com/office/drawing/2014/main" id="{D6880264-9472-CA5D-B846-CEF53EE47728}"/>
              </a:ext>
            </a:extLst>
          </p:cNvPr>
          <p:cNvPicPr>
            <a:picLocks noChangeAspect="1"/>
          </p:cNvPicPr>
          <p:nvPr/>
        </p:nvPicPr>
        <p:blipFill>
          <a:blip r:embed="rId6"/>
          <a:srcRect l="55" t="7457" r="55" b="15723"/>
          <a:stretch>
            <a:fillRect/>
          </a:stretch>
        </p:blipFill>
        <p:spPr>
          <a:xfrm>
            <a:off x="1314412" y="1237626"/>
            <a:ext cx="9761939" cy="4594547"/>
          </a:xfrm>
          <a:prstGeom prst="rect">
            <a:avLst/>
          </a:prstGeom>
        </p:spPr>
      </p:pic>
    </p:spTree>
    <p:extLst>
      <p:ext uri="{BB962C8B-B14F-4D97-AF65-F5344CB8AC3E}">
        <p14:creationId xmlns:p14="http://schemas.microsoft.com/office/powerpoint/2010/main" val="4180347823"/>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2F52A4"/>
            </a:gs>
            <a:gs pos="23000">
              <a:srgbClr val="0E245F"/>
            </a:gs>
          </a:gsLst>
          <a:lin ang="2700000" scaled="1"/>
          <a:tileRect/>
        </a:gradFill>
        <a:effectLst/>
      </p:bgPr>
    </p:bg>
    <p:spTree>
      <p:nvGrpSpPr>
        <p:cNvPr id="1" name="">
          <a:extLst>
            <a:ext uri="{FF2B5EF4-FFF2-40B4-BE49-F238E27FC236}">
              <a16:creationId xmlns:a16="http://schemas.microsoft.com/office/drawing/2014/main" id="{2B8A98F0-3F65-1090-8D7B-6B5F2D41F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A1E27-5A3E-0402-D90B-6D4D4FB5BE07}"/>
              </a:ext>
            </a:extLst>
          </p:cNvPr>
          <p:cNvSpPr>
            <a:spLocks noGrp="1"/>
          </p:cNvSpPr>
          <p:nvPr>
            <p:ph type="ctrTitle"/>
          </p:nvPr>
        </p:nvSpPr>
        <p:spPr>
          <a:xfrm>
            <a:off x="548640" y="3429000"/>
            <a:ext cx="9444908" cy="712432"/>
          </a:xfrm>
          <a:noFill/>
          <a:ln w="28575">
            <a:noFill/>
          </a:ln>
        </p:spPr>
        <p:txBody>
          <a:bodyPr vert="horz" lIns="91440" tIns="45720" rIns="91440" bIns="45720" rtlCol="0" anchor="b">
            <a:noAutofit/>
          </a:bodyPr>
          <a:lstStyle/>
          <a:p>
            <a:pPr algn="l"/>
            <a:r>
              <a:rPr lang="en-US">
                <a:solidFill>
                  <a:schemeClr val="bg1"/>
                </a:solidFill>
                <a:latin typeface="Franklin Gothic"/>
                <a:ea typeface="+mj-lt"/>
                <a:cs typeface="+mj-lt"/>
              </a:rPr>
              <a:t>Findings</a:t>
            </a:r>
          </a:p>
        </p:txBody>
      </p:sp>
      <p:sp>
        <p:nvSpPr>
          <p:cNvPr id="3" name="Text 4">
            <a:extLst>
              <a:ext uri="{FF2B5EF4-FFF2-40B4-BE49-F238E27FC236}">
                <a16:creationId xmlns:a16="http://schemas.microsoft.com/office/drawing/2014/main" id="{57BFBA31-0446-1118-296D-15130E4D126C}"/>
              </a:ext>
            </a:extLst>
          </p:cNvPr>
          <p:cNvSpPr txBox="1"/>
          <p:nvPr/>
        </p:nvSpPr>
        <p:spPr>
          <a:xfrm>
            <a:off x="548640" y="2266121"/>
            <a:ext cx="795130" cy="1003853"/>
          </a:xfrm>
          <a:prstGeom prst="rect">
            <a:avLst/>
          </a:prstGeom>
          <a:noFill/>
          <a:ln/>
        </p:spPr>
        <p:txBody>
          <a:bodyPr wrap="square" lIns="0" tIns="0" rIns="0" bIns="0" rtlCol="0" anchor="ctr"/>
          <a:lstStyle/>
          <a:p>
            <a:pPr marL="0" indent="0" algn="r">
              <a:buNone/>
            </a:pPr>
            <a:r>
              <a:rPr lang="en-US" sz="5400">
                <a:solidFill>
                  <a:srgbClr val="8FA8E0"/>
                </a:solidFill>
                <a:latin typeface="Arial"/>
                <a:cs typeface="Arial"/>
              </a:rPr>
              <a:t>04</a:t>
            </a:r>
            <a:endParaRPr lang="en-US" sz="5400">
              <a:solidFill>
                <a:srgbClr val="8FA8E0"/>
              </a:solidFill>
            </a:endParaRPr>
          </a:p>
        </p:txBody>
      </p:sp>
      <p:pic>
        <p:nvPicPr>
          <p:cNvPr id="4" name="Image 1" descr="logo_white.png">
            <a:extLst>
              <a:ext uri="{FF2B5EF4-FFF2-40B4-BE49-F238E27FC236}">
                <a16:creationId xmlns:a16="http://schemas.microsoft.com/office/drawing/2014/main" id="{CC408B3B-B9DC-2A41-3F9B-F2C94FF966BC}"/>
              </a:ext>
            </a:extLst>
          </p:cNvPr>
          <p:cNvPicPr>
            <a:picLocks noChangeAspect="1"/>
          </p:cNvPicPr>
          <p:nvPr/>
        </p:nvPicPr>
        <p:blipFill>
          <a:blip r:embed="rId2"/>
          <a:stretch>
            <a:fillRect/>
          </a:stretch>
        </p:blipFill>
        <p:spPr>
          <a:xfrm>
            <a:off x="548640" y="5943600"/>
            <a:ext cx="2377440" cy="394269"/>
          </a:xfrm>
          <a:prstGeom prst="rect">
            <a:avLst/>
          </a:prstGeom>
        </p:spPr>
      </p:pic>
    </p:spTree>
    <p:extLst>
      <p:ext uri="{BB962C8B-B14F-4D97-AF65-F5344CB8AC3E}">
        <p14:creationId xmlns:p14="http://schemas.microsoft.com/office/powerpoint/2010/main" val="3531012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2F52A4"/>
            </a:gs>
            <a:gs pos="23000">
              <a:srgbClr val="0E245F"/>
            </a:gs>
          </a:gsLst>
          <a:lin ang="2700000" scaled="1"/>
          <a:tileRect/>
        </a:gradFill>
        <a:effectLst/>
      </p:bgPr>
    </p:bg>
    <p:spTree>
      <p:nvGrpSpPr>
        <p:cNvPr id="1" name="">
          <a:extLst>
            <a:ext uri="{FF2B5EF4-FFF2-40B4-BE49-F238E27FC236}">
              <a16:creationId xmlns:a16="http://schemas.microsoft.com/office/drawing/2014/main" id="{50C4D7FC-C3E1-D0B9-1DF6-CD495467F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70AC4-F8DD-9DB7-B090-65B6850A4017}"/>
              </a:ext>
            </a:extLst>
          </p:cNvPr>
          <p:cNvSpPr>
            <a:spLocks noGrp="1"/>
          </p:cNvSpPr>
          <p:nvPr>
            <p:ph type="ctrTitle"/>
          </p:nvPr>
        </p:nvSpPr>
        <p:spPr>
          <a:xfrm>
            <a:off x="548640" y="1632913"/>
            <a:ext cx="9444908" cy="3381989"/>
          </a:xfrm>
          <a:noFill/>
          <a:ln w="28575">
            <a:noFill/>
          </a:ln>
        </p:spPr>
        <p:txBody>
          <a:bodyPr vert="horz" lIns="91440" tIns="45720" rIns="91440" bIns="45720" rtlCol="0" anchor="b">
            <a:noAutofit/>
          </a:bodyPr>
          <a:lstStyle/>
          <a:p>
            <a:pPr algn="l"/>
            <a:r>
              <a:rPr lang="en-US">
                <a:solidFill>
                  <a:schemeClr val="bg1"/>
                </a:solidFill>
                <a:latin typeface="Franklin Gothic"/>
                <a:ea typeface="+mj-lt"/>
                <a:cs typeface="+mj-lt"/>
              </a:rPr>
              <a:t>Domestic resource mobilization capacity – can countries grow their way out of the problem?</a:t>
            </a:r>
            <a:endParaRPr lang="en-US">
              <a:solidFill>
                <a:schemeClr val="bg1"/>
              </a:solidFill>
            </a:endParaRPr>
          </a:p>
        </p:txBody>
      </p:sp>
      <p:sp>
        <p:nvSpPr>
          <p:cNvPr id="3" name="Text 4">
            <a:extLst>
              <a:ext uri="{FF2B5EF4-FFF2-40B4-BE49-F238E27FC236}">
                <a16:creationId xmlns:a16="http://schemas.microsoft.com/office/drawing/2014/main" id="{2CEC49E4-828C-0F93-2BF4-8A14FF3CB0B7}"/>
              </a:ext>
            </a:extLst>
          </p:cNvPr>
          <p:cNvSpPr txBox="1"/>
          <p:nvPr/>
        </p:nvSpPr>
        <p:spPr>
          <a:xfrm>
            <a:off x="548640" y="703375"/>
            <a:ext cx="1635061" cy="1003853"/>
          </a:xfrm>
          <a:prstGeom prst="rect">
            <a:avLst/>
          </a:prstGeom>
          <a:noFill/>
          <a:ln/>
        </p:spPr>
        <p:txBody>
          <a:bodyPr wrap="square" lIns="0" tIns="0" rIns="0" bIns="0" rtlCol="0" anchor="ctr"/>
          <a:lstStyle/>
          <a:p>
            <a:r>
              <a:rPr lang="en-US" sz="5400">
                <a:solidFill>
                  <a:srgbClr val="8FA8E0"/>
                </a:solidFill>
                <a:latin typeface="Arial"/>
                <a:cs typeface="Arial"/>
              </a:rPr>
              <a:t>04.1</a:t>
            </a:r>
            <a:endParaRPr lang="en-US" sz="5400">
              <a:solidFill>
                <a:srgbClr val="8FA8E0"/>
              </a:solidFill>
            </a:endParaRPr>
          </a:p>
        </p:txBody>
      </p:sp>
      <p:pic>
        <p:nvPicPr>
          <p:cNvPr id="4" name="Image 1" descr="logo_white.png">
            <a:extLst>
              <a:ext uri="{FF2B5EF4-FFF2-40B4-BE49-F238E27FC236}">
                <a16:creationId xmlns:a16="http://schemas.microsoft.com/office/drawing/2014/main" id="{D9F7CA71-86C2-A909-8158-B7BC6D7840D9}"/>
              </a:ext>
            </a:extLst>
          </p:cNvPr>
          <p:cNvPicPr>
            <a:picLocks noChangeAspect="1"/>
          </p:cNvPicPr>
          <p:nvPr/>
        </p:nvPicPr>
        <p:blipFill>
          <a:blip r:embed="rId2"/>
          <a:stretch>
            <a:fillRect/>
          </a:stretch>
        </p:blipFill>
        <p:spPr>
          <a:xfrm>
            <a:off x="548640" y="5943600"/>
            <a:ext cx="2377440" cy="394269"/>
          </a:xfrm>
          <a:prstGeom prst="rect">
            <a:avLst/>
          </a:prstGeom>
        </p:spPr>
      </p:pic>
    </p:spTree>
    <p:extLst>
      <p:ext uri="{BB962C8B-B14F-4D97-AF65-F5344CB8AC3E}">
        <p14:creationId xmlns:p14="http://schemas.microsoft.com/office/powerpoint/2010/main" val="1543006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F0E2-0FB6-A27D-DC82-6A25E81EF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9346C-58E7-DB15-6A64-02F62E171994}"/>
              </a:ext>
            </a:extLst>
          </p:cNvPr>
          <p:cNvSpPr>
            <a:spLocks noGrp="1"/>
          </p:cNvSpPr>
          <p:nvPr>
            <p:ph type="title"/>
          </p:nvPr>
        </p:nvSpPr>
        <p:spPr>
          <a:xfrm>
            <a:off x="-2628" y="2518"/>
            <a:ext cx="12190379" cy="101025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a:ea typeface="+mj-lt"/>
                <a:cs typeface="+mj-lt"/>
              </a:rPr>
              <a:t>Typical OECD cut averages were similar across income groups </a:t>
            </a:r>
            <a:endParaRPr lang="en-US" sz="3200">
              <a:solidFill>
                <a:schemeClr val="bg1"/>
              </a:solidFill>
              <a:latin typeface="Franklin Gothic Medium"/>
            </a:endParaRPr>
          </a:p>
        </p:txBody>
      </p:sp>
      <p:sp>
        <p:nvSpPr>
          <p:cNvPr id="6" name="Slide Number Placeholder 5">
            <a:extLst>
              <a:ext uri="{FF2B5EF4-FFF2-40B4-BE49-F238E27FC236}">
                <a16:creationId xmlns:a16="http://schemas.microsoft.com/office/drawing/2014/main" id="{4CFC5B94-3699-D758-AE53-FC5B31B01D8A}"/>
              </a:ext>
            </a:extLst>
          </p:cNvPr>
          <p:cNvSpPr>
            <a:spLocks noGrp="1"/>
          </p:cNvSpPr>
          <p:nvPr>
            <p:ph type="sldNum" sz="quarter" idx="12"/>
          </p:nvPr>
        </p:nvSpPr>
        <p:spPr/>
        <p:txBody>
          <a:bodyPr/>
          <a:lstStyle/>
          <a:p>
            <a:fld id="{330EA680-D336-4FF7-8B7A-9848BB0A1C32}" type="slidenum">
              <a:rPr lang="en-US" smtClean="0"/>
              <a:t>24</a:t>
            </a:fld>
            <a:endParaRPr lang="en-US"/>
          </a:p>
        </p:txBody>
      </p:sp>
      <p:pic>
        <p:nvPicPr>
          <p:cNvPr id="14" name="Picture 13" descr="Yale Jackson School of Global Affairs - Wikipedia">
            <a:extLst>
              <a:ext uri="{FF2B5EF4-FFF2-40B4-BE49-F238E27FC236}">
                <a16:creationId xmlns:a16="http://schemas.microsoft.com/office/drawing/2014/main" id="{0F61FCE5-82D1-C0D4-2559-D74349DA2611}"/>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16" name="Picture 15" descr="Yale Jackson School of Global Affairs - National Peace Corps Association">
            <a:extLst>
              <a:ext uri="{FF2B5EF4-FFF2-40B4-BE49-F238E27FC236}">
                <a16:creationId xmlns:a16="http://schemas.microsoft.com/office/drawing/2014/main" id="{A2DDD85D-D804-94C5-DE30-C6E702541406}"/>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sp>
        <p:nvSpPr>
          <p:cNvPr id="10" name="TextBox 9">
            <a:extLst>
              <a:ext uri="{FF2B5EF4-FFF2-40B4-BE49-F238E27FC236}">
                <a16:creationId xmlns:a16="http://schemas.microsoft.com/office/drawing/2014/main" id="{184CBF29-1D19-5BC1-6790-B05A91A74B23}"/>
              </a:ext>
            </a:extLst>
          </p:cNvPr>
          <p:cNvSpPr txBox="1"/>
          <p:nvPr/>
        </p:nvSpPr>
        <p:spPr>
          <a:xfrm>
            <a:off x="1533857" y="4943030"/>
            <a:ext cx="904930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bg2">
                    <a:lumMod val="49000"/>
                  </a:schemeClr>
                </a:solidFill>
                <a:latin typeface="Arial Nova"/>
                <a:ea typeface="+mn-lt"/>
                <a:cs typeface="+mn-lt"/>
              </a:rPr>
              <a:t>Sources: Income classification from the World Bank. OECD cuts are projections based on OECD data and official country-level communications.</a:t>
            </a:r>
            <a:endParaRPr lang="en-US" sz="1100">
              <a:solidFill>
                <a:schemeClr val="bg2">
                  <a:lumMod val="49000"/>
                </a:schemeClr>
              </a:solidFill>
              <a:latin typeface="Arial Nova"/>
            </a:endParaRPr>
          </a:p>
        </p:txBody>
      </p:sp>
      <p:sp>
        <p:nvSpPr>
          <p:cNvPr id="3" name="TextBox 9">
            <a:extLst>
              <a:ext uri="{FF2B5EF4-FFF2-40B4-BE49-F238E27FC236}">
                <a16:creationId xmlns:a16="http://schemas.microsoft.com/office/drawing/2014/main" id="{7CA8C54C-9294-A1D4-4543-9C2CFBA90AE7}"/>
              </a:ext>
            </a:extLst>
          </p:cNvPr>
          <p:cNvSpPr txBox="1"/>
          <p:nvPr/>
        </p:nvSpPr>
        <p:spPr>
          <a:xfrm>
            <a:off x="704042" y="5462062"/>
            <a:ext cx="10705985" cy="740491"/>
          </a:xfrm>
          <a:prstGeom prst="rect">
            <a:avLst/>
          </a:prstGeom>
          <a:solidFill>
            <a:srgbClr val="DDE7F8"/>
          </a:solidFill>
          <a:ln w="28575">
            <a:noFill/>
          </a:ln>
        </p:spPr>
        <p:txBody>
          <a:bodyPr vert="horz" lIns="91440" tIns="45720" rIns="91440" bIns="45720" rtlCol="0" anchor="t">
            <a:noAutofit/>
          </a:bodyPr>
          <a:lstStyle>
            <a:defPPr>
              <a:defRPr lang="en-US"/>
            </a:defPPr>
            <a:lvl1pPr indent="0" algn="ctr">
              <a:lnSpc>
                <a:spcPct val="170000"/>
              </a:lnSpc>
              <a:spcBef>
                <a:spcPts val="1000"/>
              </a:spcBef>
              <a:buFont typeface="Arial" panose="020B0604020202020204" pitchFamily="34" charset="0"/>
              <a:buNone/>
              <a:defRPr b="1">
                <a:solidFill>
                  <a:srgbClr val="244B9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atin typeface="Raleway" pitchFamily="2" charset="77"/>
              </a:defRPr>
            </a:lvl2pPr>
            <a:lvl3pPr marL="1143000" indent="-228600">
              <a:lnSpc>
                <a:spcPct val="90000"/>
              </a:lnSpc>
              <a:spcBef>
                <a:spcPts val="500"/>
              </a:spcBef>
              <a:buFont typeface="Arial" panose="020B0604020202020204" pitchFamily="34" charset="0"/>
              <a:buChar char="•"/>
              <a:defRPr sz="2000">
                <a:latin typeface="Raleway" pitchFamily="2" charset="77"/>
              </a:defRPr>
            </a:lvl3pPr>
            <a:lvl4pPr marL="1600200" indent="-228600">
              <a:lnSpc>
                <a:spcPct val="90000"/>
              </a:lnSpc>
              <a:spcBef>
                <a:spcPts val="500"/>
              </a:spcBef>
              <a:buFont typeface="Arial" panose="020B0604020202020204" pitchFamily="34" charset="0"/>
              <a:buChar char="•"/>
              <a:defRPr>
                <a:latin typeface="Raleway" pitchFamily="2" charset="77"/>
              </a:defRPr>
            </a:lvl4pPr>
            <a:lvl5pPr marL="2057400" indent="-228600">
              <a:lnSpc>
                <a:spcPct val="90000"/>
              </a:lnSpc>
              <a:spcBef>
                <a:spcPts val="500"/>
              </a:spcBef>
              <a:buFont typeface="Arial" panose="020B0604020202020204" pitchFamily="34" charset="0"/>
              <a:buChar char="•"/>
              <a:defRPr>
                <a:latin typeface="Raleway"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200" b="0">
                <a:latin typeface="Arial"/>
                <a:cs typeface="Arial"/>
              </a:rPr>
              <a:t>Typical cuts were similar across income groups, at 14% to 16% of 2023 allocations. The spread was not: every low-income country lost 10% to 20%, while middle-income countries ranged from 2% to 43%.</a:t>
            </a:r>
            <a:endParaRPr lang="en-US" sz="1200"/>
          </a:p>
        </p:txBody>
      </p:sp>
      <p:pic>
        <p:nvPicPr>
          <p:cNvPr id="5" name="Picture 4">
            <a:extLst>
              <a:ext uri="{FF2B5EF4-FFF2-40B4-BE49-F238E27FC236}">
                <a16:creationId xmlns:a16="http://schemas.microsoft.com/office/drawing/2014/main" id="{A2FE8E83-59D7-A989-92C9-661F5513971F}"/>
              </a:ext>
            </a:extLst>
          </p:cNvPr>
          <p:cNvPicPr>
            <a:picLocks noChangeAspect="1"/>
          </p:cNvPicPr>
          <p:nvPr/>
        </p:nvPicPr>
        <p:blipFill>
          <a:blip r:embed="rId6"/>
          <a:stretch>
            <a:fillRect/>
          </a:stretch>
        </p:blipFill>
        <p:spPr>
          <a:xfrm>
            <a:off x="2345377" y="1140105"/>
            <a:ext cx="7023760" cy="3803418"/>
          </a:xfrm>
          <a:prstGeom prst="rect">
            <a:avLst/>
          </a:prstGeom>
        </p:spPr>
      </p:pic>
    </p:spTree>
    <p:extLst>
      <p:ext uri="{BB962C8B-B14F-4D97-AF65-F5344CB8AC3E}">
        <p14:creationId xmlns:p14="http://schemas.microsoft.com/office/powerpoint/2010/main" val="3502431990"/>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B914-E4D0-3523-0EA5-2CBCBAE96CD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A2C504D-D68C-47DD-F627-855CD6861AA4}"/>
              </a:ext>
            </a:extLst>
          </p:cNvPr>
          <p:cNvSpPr txBox="1">
            <a:spLocks/>
          </p:cNvSpPr>
          <p:nvPr/>
        </p:nvSpPr>
        <p:spPr>
          <a:xfrm>
            <a:off x="826960" y="4980151"/>
            <a:ext cx="9960598" cy="36960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100">
                <a:solidFill>
                  <a:schemeClr val="bg2">
                    <a:lumMod val="49000"/>
                  </a:schemeClr>
                </a:solidFill>
                <a:latin typeface="Arial Nova"/>
                <a:ea typeface="+mn-lt"/>
                <a:cs typeface="+mn-lt"/>
              </a:rPr>
              <a:t>Sources: Tax revenue set to IMF-estimated tax potential (Benitez et al., 2023); OECD funding cuts are projected using OECD cuts are projections based on OECD data and official country-level communications.</a:t>
            </a:r>
          </a:p>
          <a:p>
            <a:pPr marL="0" indent="0">
              <a:lnSpc>
                <a:spcPct val="100000"/>
              </a:lnSpc>
              <a:buNone/>
            </a:pPr>
            <a:endParaRPr lang="en-US" sz="1100">
              <a:solidFill>
                <a:schemeClr val="bg2">
                  <a:lumMod val="49000"/>
                </a:schemeClr>
              </a:solidFill>
              <a:latin typeface="Arial Nova"/>
            </a:endParaRPr>
          </a:p>
        </p:txBody>
      </p:sp>
      <p:sp>
        <p:nvSpPr>
          <p:cNvPr id="5" name="Slide Number Placeholder 4">
            <a:extLst>
              <a:ext uri="{FF2B5EF4-FFF2-40B4-BE49-F238E27FC236}">
                <a16:creationId xmlns:a16="http://schemas.microsoft.com/office/drawing/2014/main" id="{A25D4BE3-B02F-46E0-C56B-B4995ED183EE}"/>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8" name="Picture 7" descr="Yale Jackson School of Global Affairs - Wikipedia">
            <a:extLst>
              <a:ext uri="{FF2B5EF4-FFF2-40B4-BE49-F238E27FC236}">
                <a16:creationId xmlns:a16="http://schemas.microsoft.com/office/drawing/2014/main" id="{9F574661-7731-2417-1EEF-71AC87A3BB72}"/>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7088E0D3-A49F-1C56-F139-296D3C8C7EAB}"/>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sp>
        <p:nvSpPr>
          <p:cNvPr id="3" name="Title 1">
            <a:extLst>
              <a:ext uri="{FF2B5EF4-FFF2-40B4-BE49-F238E27FC236}">
                <a16:creationId xmlns:a16="http://schemas.microsoft.com/office/drawing/2014/main" id="{D1B5155C-F521-DC7E-8350-D9EC435B7272}"/>
              </a:ext>
            </a:extLst>
          </p:cNvPr>
          <p:cNvSpPr txBox="1">
            <a:spLocks/>
          </p:cNvSpPr>
          <p:nvPr/>
        </p:nvSpPr>
        <p:spPr>
          <a:xfrm>
            <a:off x="0" y="-34506"/>
            <a:ext cx="12473797" cy="1133541"/>
          </a:xfrm>
          <a:prstGeom prst="rect">
            <a:avLst/>
          </a:prstGeom>
          <a:solidFill>
            <a:srgbClr val="1C3073"/>
          </a:solidFill>
          <a:ln w="57150">
            <a:solidFill>
              <a:srgbClr val="1B2F73"/>
            </a:solidFill>
          </a:ln>
        </p:spPr>
        <p:txBody>
          <a:bodyPr vert="horz" lIns="91440" tIns="45720" rIns="91440" bIns="45720" rtlCol="0" anchor="ctr">
            <a:normAutofit/>
          </a:bodyPr>
          <a:lstStyle>
            <a:lvl1pPr>
              <a:lnSpc>
                <a:spcPct val="90000"/>
              </a:lnSpc>
              <a:spcBef>
                <a:spcPct val="0"/>
              </a:spcBef>
              <a:buNone/>
              <a:defRPr sz="3200">
                <a:solidFill>
                  <a:schemeClr val="bg1"/>
                </a:solidFill>
                <a:latin typeface="Franklin Gothic Medium" panose="020B0603020102020204" pitchFamily="34" charset="0"/>
                <a:ea typeface="+mj-lt"/>
                <a:cs typeface="+mj-lt"/>
              </a:defRPr>
            </a:lvl1pPr>
          </a:lstStyle>
          <a:p>
            <a:r>
              <a:rPr lang="en-US">
                <a:latin typeface="Franklin Gothic Medium"/>
              </a:rPr>
              <a:t>All countries that have tax potential to grow could generate enough revenue to cover the gap</a:t>
            </a:r>
            <a:endParaRPr lang="en-US"/>
          </a:p>
        </p:txBody>
      </p:sp>
      <p:pic>
        <p:nvPicPr>
          <p:cNvPr id="2" name="Picture 1">
            <a:extLst>
              <a:ext uri="{FF2B5EF4-FFF2-40B4-BE49-F238E27FC236}">
                <a16:creationId xmlns:a16="http://schemas.microsoft.com/office/drawing/2014/main" id="{0D7BD51F-5089-C061-2CC8-3F304C2D081B}"/>
              </a:ext>
            </a:extLst>
          </p:cNvPr>
          <p:cNvPicPr>
            <a:picLocks noChangeAspect="1"/>
          </p:cNvPicPr>
          <p:nvPr/>
        </p:nvPicPr>
        <p:blipFill>
          <a:blip r:embed="rId6"/>
          <a:stretch>
            <a:fillRect/>
          </a:stretch>
        </p:blipFill>
        <p:spPr>
          <a:xfrm>
            <a:off x="3044793" y="1294481"/>
            <a:ext cx="5726007" cy="3681471"/>
          </a:xfrm>
          <a:prstGeom prst="rect">
            <a:avLst/>
          </a:prstGeom>
        </p:spPr>
      </p:pic>
      <p:sp>
        <p:nvSpPr>
          <p:cNvPr id="6" name="Title 1">
            <a:extLst>
              <a:ext uri="{FF2B5EF4-FFF2-40B4-BE49-F238E27FC236}">
                <a16:creationId xmlns:a16="http://schemas.microsoft.com/office/drawing/2014/main" id="{6774BEF0-F304-C91E-7E9C-13179AFB9ACD}"/>
              </a:ext>
            </a:extLst>
          </p:cNvPr>
          <p:cNvSpPr txBox="1">
            <a:spLocks/>
          </p:cNvSpPr>
          <p:nvPr/>
        </p:nvSpPr>
        <p:spPr>
          <a:xfrm>
            <a:off x="828011" y="5442689"/>
            <a:ext cx="10528241" cy="666263"/>
          </a:xfrm>
          <a:prstGeom prst="rect">
            <a:avLst/>
          </a:prstGeom>
          <a:solidFill>
            <a:srgbClr val="DDE7F8"/>
          </a:solidFill>
          <a:ln w="28575">
            <a:noFill/>
          </a:ln>
        </p:spPr>
        <p:txBody>
          <a:bodyPr vert="horz" lIns="91440" tIns="45720" rIns="91440" bIns="45720" rtlCol="0" anchor="t">
            <a:noAutofit/>
          </a:bodyPr>
          <a:lstStyle>
            <a:lvl1pPr indent="0">
              <a:lnSpc>
                <a:spcPct val="170000"/>
              </a:lnSpc>
              <a:spcBef>
                <a:spcPts val="1000"/>
              </a:spcBef>
              <a:buFont typeface="Arial" panose="020B0604020202020204" pitchFamily="34" charset="0"/>
              <a:buNone/>
              <a:defRPr sz="2400" b="1">
                <a:solidFill>
                  <a:srgbClr val="244B9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atin typeface="Raleway" pitchFamily="2" charset="77"/>
              </a:defRPr>
            </a:lvl2pPr>
            <a:lvl3pPr marL="1143000" indent="-228600">
              <a:lnSpc>
                <a:spcPct val="90000"/>
              </a:lnSpc>
              <a:spcBef>
                <a:spcPts val="500"/>
              </a:spcBef>
              <a:buFont typeface="Arial" panose="020B0604020202020204" pitchFamily="34" charset="0"/>
              <a:buChar char="•"/>
              <a:defRPr sz="2000">
                <a:latin typeface="Raleway" pitchFamily="2" charset="77"/>
              </a:defRPr>
            </a:lvl3pPr>
            <a:lvl4pPr marL="1600200" indent="-228600">
              <a:lnSpc>
                <a:spcPct val="90000"/>
              </a:lnSpc>
              <a:spcBef>
                <a:spcPts val="500"/>
              </a:spcBef>
              <a:buFont typeface="Arial" panose="020B0604020202020204" pitchFamily="34" charset="0"/>
              <a:buChar char="•"/>
              <a:defRPr>
                <a:latin typeface="Raleway" pitchFamily="2" charset="77"/>
              </a:defRPr>
            </a:lvl4pPr>
            <a:lvl5pPr marL="2057400" indent="-228600">
              <a:lnSpc>
                <a:spcPct val="90000"/>
              </a:lnSpc>
              <a:spcBef>
                <a:spcPts val="500"/>
              </a:spcBef>
              <a:buFont typeface="Arial" panose="020B0604020202020204" pitchFamily="34" charset="0"/>
              <a:buChar char="•"/>
              <a:defRPr>
                <a:latin typeface="Raleway"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sz="1200" b="0">
                <a:latin typeface="Arial"/>
                <a:cs typeface="Arial"/>
              </a:rPr>
              <a:t>Assuming all new funds were allocated to health, revenue potential is not the constraint for the potential for countries to cover the gap. However, it is unlikely that countries would allocate all new funds to health. </a:t>
            </a:r>
            <a:endParaRPr lang="en-US" sz="1200"/>
          </a:p>
        </p:txBody>
      </p:sp>
    </p:spTree>
    <p:extLst>
      <p:ext uri="{BB962C8B-B14F-4D97-AF65-F5344CB8AC3E}">
        <p14:creationId xmlns:p14="http://schemas.microsoft.com/office/powerpoint/2010/main" val="962760787"/>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FFFCA-B218-399D-4C89-736F1540967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94FDD67-5434-F723-D79D-D18FDE438B3E}"/>
              </a:ext>
            </a:extLst>
          </p:cNvPr>
          <p:cNvSpPr txBox="1">
            <a:spLocks/>
          </p:cNvSpPr>
          <p:nvPr/>
        </p:nvSpPr>
        <p:spPr>
          <a:xfrm>
            <a:off x="953875" y="4580830"/>
            <a:ext cx="9960598" cy="63584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100">
                <a:solidFill>
                  <a:schemeClr val="bg2">
                    <a:lumMod val="49000"/>
                  </a:schemeClr>
                </a:solidFill>
                <a:latin typeface="Arial Nova"/>
                <a:ea typeface="+mn-lt"/>
                <a:cs typeface="+mn-lt"/>
              </a:rPr>
              <a:t>Sources: Max tax gain = IMF-estimated tax potential (Benitez et al., 2023) minus current tax revenue (IMF), capped at 9% of GDP. Health gain assumes the current health share of the government budget (World Bank) holds on new revenue. 16 countries already at or above their tax potential are not shown. OECD cuts are projections based on OECD data and official country-level communications.</a:t>
            </a:r>
          </a:p>
          <a:p>
            <a:pPr marL="0" indent="0">
              <a:lnSpc>
                <a:spcPct val="100000"/>
              </a:lnSpc>
              <a:buNone/>
            </a:pPr>
            <a:endParaRPr lang="en-US" sz="1100">
              <a:solidFill>
                <a:schemeClr val="bg2">
                  <a:lumMod val="49000"/>
                </a:schemeClr>
              </a:solidFill>
              <a:latin typeface="Arial Nova"/>
              <a:ea typeface="+mn-lt"/>
              <a:cs typeface="+mn-lt"/>
            </a:endParaRPr>
          </a:p>
          <a:p>
            <a:pPr marL="0" indent="0">
              <a:lnSpc>
                <a:spcPct val="100000"/>
              </a:lnSpc>
              <a:buNone/>
            </a:pPr>
            <a:endParaRPr lang="en-US" sz="1100">
              <a:solidFill>
                <a:schemeClr val="bg2">
                  <a:lumMod val="49000"/>
                </a:schemeClr>
              </a:solidFill>
              <a:latin typeface="Arial Nova"/>
            </a:endParaRPr>
          </a:p>
        </p:txBody>
      </p:sp>
      <p:sp>
        <p:nvSpPr>
          <p:cNvPr id="5" name="Slide Number Placeholder 4">
            <a:extLst>
              <a:ext uri="{FF2B5EF4-FFF2-40B4-BE49-F238E27FC236}">
                <a16:creationId xmlns:a16="http://schemas.microsoft.com/office/drawing/2014/main" id="{06E1CDA5-A65F-8D39-7BF7-429501B79A32}"/>
              </a:ext>
            </a:extLst>
          </p:cNvPr>
          <p:cNvSpPr>
            <a:spLocks noGrp="1"/>
          </p:cNvSpPr>
          <p:nvPr>
            <p:ph type="sldNum" sz="quarter" idx="12"/>
          </p:nvPr>
        </p:nvSpPr>
        <p:spPr/>
        <p:txBody>
          <a:bodyPr/>
          <a:lstStyle/>
          <a:p>
            <a:fld id="{330EA680-D336-4FF7-8B7A-9848BB0A1C32}" type="slidenum">
              <a:rPr lang="en-US" smtClean="0"/>
              <a:t>26</a:t>
            </a:fld>
            <a:endParaRPr lang="en-US"/>
          </a:p>
        </p:txBody>
      </p:sp>
      <p:pic>
        <p:nvPicPr>
          <p:cNvPr id="8" name="Picture 7" descr="Yale Jackson School of Global Affairs - Wikipedia">
            <a:extLst>
              <a:ext uri="{FF2B5EF4-FFF2-40B4-BE49-F238E27FC236}">
                <a16:creationId xmlns:a16="http://schemas.microsoft.com/office/drawing/2014/main" id="{79A88158-2FAE-BFDE-59D5-EBE20B195A36}"/>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96557F0D-BF25-8D67-45F5-4EBA889A2B2A}"/>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sp>
        <p:nvSpPr>
          <p:cNvPr id="4" name="Title 1">
            <a:extLst>
              <a:ext uri="{FF2B5EF4-FFF2-40B4-BE49-F238E27FC236}">
                <a16:creationId xmlns:a16="http://schemas.microsoft.com/office/drawing/2014/main" id="{93831DF3-2E61-2404-011A-DAABB187E3A2}"/>
              </a:ext>
            </a:extLst>
          </p:cNvPr>
          <p:cNvSpPr txBox="1">
            <a:spLocks/>
          </p:cNvSpPr>
          <p:nvPr/>
        </p:nvSpPr>
        <p:spPr>
          <a:xfrm>
            <a:off x="823761" y="5217338"/>
            <a:ext cx="10530366" cy="744299"/>
          </a:xfrm>
          <a:prstGeom prst="rect">
            <a:avLst/>
          </a:prstGeom>
          <a:solidFill>
            <a:srgbClr val="DDE7F8"/>
          </a:solidFill>
          <a:ln w="28575">
            <a:noFill/>
          </a:ln>
        </p:spPr>
        <p:txBody>
          <a:bodyPr vert="horz" lIns="91440" tIns="45720" rIns="91440" bIns="45720" rtlCol="0" anchor="t">
            <a:noAutofit/>
          </a:bodyPr>
          <a:lstStyle>
            <a:lvl1pPr indent="0">
              <a:lnSpc>
                <a:spcPct val="170000"/>
              </a:lnSpc>
              <a:spcBef>
                <a:spcPts val="1000"/>
              </a:spcBef>
              <a:buFont typeface="Arial" panose="020B0604020202020204" pitchFamily="34" charset="0"/>
              <a:buNone/>
              <a:defRPr sz="2400" b="1">
                <a:solidFill>
                  <a:srgbClr val="244B9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atin typeface="Raleway" pitchFamily="2" charset="77"/>
              </a:defRPr>
            </a:lvl2pPr>
            <a:lvl3pPr marL="1143000" indent="-228600">
              <a:lnSpc>
                <a:spcPct val="90000"/>
              </a:lnSpc>
              <a:spcBef>
                <a:spcPts val="500"/>
              </a:spcBef>
              <a:buFont typeface="Arial" panose="020B0604020202020204" pitchFamily="34" charset="0"/>
              <a:buChar char="•"/>
              <a:defRPr sz="2000">
                <a:latin typeface="Raleway" pitchFamily="2" charset="77"/>
              </a:defRPr>
            </a:lvl3pPr>
            <a:lvl4pPr marL="1600200" indent="-228600">
              <a:lnSpc>
                <a:spcPct val="90000"/>
              </a:lnSpc>
              <a:spcBef>
                <a:spcPts val="500"/>
              </a:spcBef>
              <a:buFont typeface="Arial" panose="020B0604020202020204" pitchFamily="34" charset="0"/>
              <a:buChar char="•"/>
              <a:defRPr>
                <a:latin typeface="Raleway" pitchFamily="2" charset="77"/>
              </a:defRPr>
            </a:lvl4pPr>
            <a:lvl5pPr marL="2057400" indent="-228600">
              <a:lnSpc>
                <a:spcPct val="90000"/>
              </a:lnSpc>
              <a:spcBef>
                <a:spcPts val="500"/>
              </a:spcBef>
              <a:buFont typeface="Arial" panose="020B0604020202020204" pitchFamily="34" charset="0"/>
              <a:buChar char="•"/>
              <a:defRPr>
                <a:latin typeface="Raleway"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sz="1200" b="0">
                <a:latin typeface="Arial"/>
                <a:cs typeface="Arial"/>
              </a:rPr>
              <a:t>Potential tax revenue growth still covers the decline in 48 of 82 countries if health expenditure as a % of budget is kept constant. Countries with large cuts and low health expenditure % of overall expenditure would need revenue growth beyond what is likely realistic to close the gap through taxes alone.</a:t>
            </a:r>
          </a:p>
        </p:txBody>
      </p:sp>
      <p:sp>
        <p:nvSpPr>
          <p:cNvPr id="3" name="Title 1">
            <a:extLst>
              <a:ext uri="{FF2B5EF4-FFF2-40B4-BE49-F238E27FC236}">
                <a16:creationId xmlns:a16="http://schemas.microsoft.com/office/drawing/2014/main" id="{8CDF33C0-70E0-8977-63A0-C1B1EB66662C}"/>
              </a:ext>
            </a:extLst>
          </p:cNvPr>
          <p:cNvSpPr txBox="1">
            <a:spLocks/>
          </p:cNvSpPr>
          <p:nvPr/>
        </p:nvSpPr>
        <p:spPr>
          <a:xfrm>
            <a:off x="0" y="-34506"/>
            <a:ext cx="12473797" cy="1133541"/>
          </a:xfrm>
          <a:prstGeom prst="rect">
            <a:avLst/>
          </a:prstGeom>
          <a:solidFill>
            <a:srgbClr val="1C3073"/>
          </a:solidFill>
          <a:ln w="57150">
            <a:solidFill>
              <a:srgbClr val="1B2F73"/>
            </a:solidFill>
          </a:ln>
        </p:spPr>
        <p:txBody>
          <a:bodyPr vert="horz" lIns="91440" tIns="45720" rIns="91440" bIns="45720" rtlCol="0" anchor="ctr">
            <a:normAutofit/>
          </a:bodyPr>
          <a:lstStyle>
            <a:lvl1pPr>
              <a:lnSpc>
                <a:spcPct val="90000"/>
              </a:lnSpc>
              <a:spcBef>
                <a:spcPct val="0"/>
              </a:spcBef>
              <a:buNone/>
              <a:defRPr sz="3200">
                <a:solidFill>
                  <a:schemeClr val="bg1"/>
                </a:solidFill>
                <a:latin typeface="Franklin Gothic Medium" panose="020B0603020102020204" pitchFamily="34" charset="0"/>
                <a:ea typeface="+mj-lt"/>
                <a:cs typeface="+mj-lt"/>
              </a:defRPr>
            </a:lvl1pPr>
          </a:lstStyle>
          <a:p>
            <a:r>
              <a:rPr lang="en-US">
                <a:latin typeface="Franklin Gothic Medium"/>
              </a:rPr>
              <a:t>Revenue growth is enough for most, but not for a critical few who additionally require budgetary changes</a:t>
            </a:r>
          </a:p>
        </p:txBody>
      </p:sp>
      <p:pic>
        <p:nvPicPr>
          <p:cNvPr id="11" name="Picture 10">
            <a:extLst>
              <a:ext uri="{FF2B5EF4-FFF2-40B4-BE49-F238E27FC236}">
                <a16:creationId xmlns:a16="http://schemas.microsoft.com/office/drawing/2014/main" id="{F9C6FD64-45B8-A75B-B016-BD042F25DA84}"/>
              </a:ext>
            </a:extLst>
          </p:cNvPr>
          <p:cNvPicPr>
            <a:picLocks noChangeAspect="1"/>
          </p:cNvPicPr>
          <p:nvPr/>
        </p:nvPicPr>
        <p:blipFill>
          <a:blip r:embed="rId6"/>
          <a:stretch>
            <a:fillRect/>
          </a:stretch>
        </p:blipFill>
        <p:spPr>
          <a:xfrm>
            <a:off x="5839569" y="1303161"/>
            <a:ext cx="5084862" cy="3282950"/>
          </a:xfrm>
          <a:prstGeom prst="rect">
            <a:avLst/>
          </a:prstGeom>
        </p:spPr>
      </p:pic>
      <p:pic>
        <p:nvPicPr>
          <p:cNvPr id="2" name="Picture 1">
            <a:extLst>
              <a:ext uri="{FF2B5EF4-FFF2-40B4-BE49-F238E27FC236}">
                <a16:creationId xmlns:a16="http://schemas.microsoft.com/office/drawing/2014/main" id="{CB16E662-6582-5412-EF32-A8F514F05596}"/>
              </a:ext>
            </a:extLst>
          </p:cNvPr>
          <p:cNvPicPr>
            <a:picLocks noChangeAspect="1"/>
          </p:cNvPicPr>
          <p:nvPr/>
        </p:nvPicPr>
        <p:blipFill>
          <a:blip r:embed="rId7"/>
          <a:stretch>
            <a:fillRect/>
          </a:stretch>
        </p:blipFill>
        <p:spPr>
          <a:xfrm>
            <a:off x="701411" y="1298223"/>
            <a:ext cx="4961287" cy="3280832"/>
          </a:xfrm>
          <a:prstGeom prst="rect">
            <a:avLst/>
          </a:prstGeom>
        </p:spPr>
      </p:pic>
    </p:spTree>
    <p:extLst>
      <p:ext uri="{BB962C8B-B14F-4D97-AF65-F5344CB8AC3E}">
        <p14:creationId xmlns:p14="http://schemas.microsoft.com/office/powerpoint/2010/main" val="4123570583"/>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7F542-979A-927A-5A99-DC593BFA8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B441A-A20D-62B2-8DBB-FEA1CA9F08BE}"/>
              </a:ext>
            </a:extLst>
          </p:cNvPr>
          <p:cNvSpPr>
            <a:spLocks noGrp="1"/>
          </p:cNvSpPr>
          <p:nvPr>
            <p:ph type="title"/>
          </p:nvPr>
        </p:nvSpPr>
        <p:spPr>
          <a:xfrm>
            <a:off x="-9202" y="-26274"/>
            <a:ext cx="12201202" cy="126084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a:ea typeface="+mj-lt"/>
                <a:cs typeface="+mj-lt"/>
              </a:rPr>
              <a:t>Most countries need only a modest shift in budget priority, but a few would need to at least double their health share</a:t>
            </a:r>
            <a:endParaRPr lang="en-US">
              <a:solidFill>
                <a:schemeClr val="bg1"/>
              </a:solidFill>
            </a:endParaRPr>
          </a:p>
        </p:txBody>
      </p:sp>
      <p:sp>
        <p:nvSpPr>
          <p:cNvPr id="4" name="Slide Number Placeholder 3">
            <a:extLst>
              <a:ext uri="{FF2B5EF4-FFF2-40B4-BE49-F238E27FC236}">
                <a16:creationId xmlns:a16="http://schemas.microsoft.com/office/drawing/2014/main" id="{3C85CD8D-49AE-E4B0-C31D-6D8FFA65EB87}"/>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7" name="Picture 6" descr="Yale Jackson School of Global Affairs - Wikipedia">
            <a:extLst>
              <a:ext uri="{FF2B5EF4-FFF2-40B4-BE49-F238E27FC236}">
                <a16:creationId xmlns:a16="http://schemas.microsoft.com/office/drawing/2014/main" id="{E4DBEB0D-850F-5179-4E43-F85787F9ADB0}"/>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4D02E586-BD15-22F9-D28B-EB35AD38C367}"/>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5" name="Title 1">
            <a:extLst>
              <a:ext uri="{FF2B5EF4-FFF2-40B4-BE49-F238E27FC236}">
                <a16:creationId xmlns:a16="http://schemas.microsoft.com/office/drawing/2014/main" id="{3BDFD4EA-5480-8018-B783-E11C61B80C1F}"/>
              </a:ext>
            </a:extLst>
          </p:cNvPr>
          <p:cNvSpPr txBox="1">
            <a:spLocks/>
          </p:cNvSpPr>
          <p:nvPr/>
        </p:nvSpPr>
        <p:spPr>
          <a:xfrm>
            <a:off x="827712" y="5458859"/>
            <a:ext cx="10506096" cy="571886"/>
          </a:xfrm>
          <a:prstGeom prst="rect">
            <a:avLst/>
          </a:prstGeom>
          <a:solidFill>
            <a:srgbClr val="DDE7F8"/>
          </a:solidFill>
          <a:ln w="28575">
            <a:noFill/>
          </a:ln>
        </p:spPr>
        <p:txBody>
          <a:bodyPr vert="horz" lIns="91440" tIns="45720" rIns="91440" bIns="45720" rtlCol="0" anchor="t">
            <a:normAutofit fontScale="47500" lnSpcReduction="20000"/>
          </a:bodyPr>
          <a:lstStyle>
            <a:defPPr>
              <a:defRPr lang="en-US"/>
            </a:defPPr>
            <a:lvl1pPr indent="0">
              <a:lnSpc>
                <a:spcPct val="170000"/>
              </a:lnSpc>
              <a:spcBef>
                <a:spcPts val="1000"/>
              </a:spcBef>
              <a:buFont typeface="Arial" panose="020B0604020202020204" pitchFamily="34" charset="0"/>
              <a:buNone/>
              <a:defRPr sz="2400" b="1">
                <a:solidFill>
                  <a:srgbClr val="244B9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atin typeface="Raleway" pitchFamily="2" charset="77"/>
              </a:defRPr>
            </a:lvl2pPr>
            <a:lvl3pPr marL="1143000" indent="-228600">
              <a:lnSpc>
                <a:spcPct val="90000"/>
              </a:lnSpc>
              <a:spcBef>
                <a:spcPts val="500"/>
              </a:spcBef>
              <a:buFont typeface="Arial" panose="020B0604020202020204" pitchFamily="34" charset="0"/>
              <a:buChar char="•"/>
              <a:defRPr sz="2000">
                <a:latin typeface="Raleway" pitchFamily="2" charset="77"/>
              </a:defRPr>
            </a:lvl3pPr>
            <a:lvl4pPr marL="1600200" indent="-228600">
              <a:lnSpc>
                <a:spcPct val="90000"/>
              </a:lnSpc>
              <a:spcBef>
                <a:spcPts val="500"/>
              </a:spcBef>
              <a:buFont typeface="Arial" panose="020B0604020202020204" pitchFamily="34" charset="0"/>
              <a:buChar char="•"/>
              <a:defRPr>
                <a:latin typeface="Raleway" pitchFamily="2" charset="77"/>
              </a:defRPr>
            </a:lvl4pPr>
            <a:lvl5pPr marL="2057400" indent="-228600">
              <a:lnSpc>
                <a:spcPct val="90000"/>
              </a:lnSpc>
              <a:spcBef>
                <a:spcPts val="500"/>
              </a:spcBef>
              <a:buFont typeface="Arial" panose="020B0604020202020204" pitchFamily="34" charset="0"/>
              <a:buChar char="•"/>
              <a:defRPr>
                <a:latin typeface="Raleway"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a:latin typeface="Arial"/>
                <a:cs typeface="Arial"/>
              </a:rPr>
              <a:t>Budget reallocation in absolute terms may be a small shift for the typical country (+0.7 points), but 21 countries start below 5% of their budget and would have to raise health’s share sharply.</a:t>
            </a:r>
            <a:endParaRPr lang="en-US"/>
          </a:p>
        </p:txBody>
      </p:sp>
      <p:sp>
        <p:nvSpPr>
          <p:cNvPr id="6" name="Content Placeholder 2">
            <a:extLst>
              <a:ext uri="{FF2B5EF4-FFF2-40B4-BE49-F238E27FC236}">
                <a16:creationId xmlns:a16="http://schemas.microsoft.com/office/drawing/2014/main" id="{FE42EF21-5BC2-BFDD-4B9E-4A22A19D63C2}"/>
              </a:ext>
            </a:extLst>
          </p:cNvPr>
          <p:cNvSpPr txBox="1">
            <a:spLocks/>
          </p:cNvSpPr>
          <p:nvPr/>
        </p:nvSpPr>
        <p:spPr>
          <a:xfrm>
            <a:off x="777486" y="4935693"/>
            <a:ext cx="9918265" cy="35362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100">
                <a:solidFill>
                  <a:schemeClr val="bg2">
                    <a:lumMod val="49000"/>
                  </a:schemeClr>
                </a:solidFill>
                <a:latin typeface="Arial Nova"/>
                <a:ea typeface="+mn-lt"/>
                <a:cs typeface="+mn-lt"/>
              </a:rPr>
              <a:t>Sources: Health expenditure as a % of government budget is sourced from the World Bank and current tax revenue is sourced from the IMF. OECD cuts are projections based on OECD data and official country-level communications.</a:t>
            </a:r>
          </a:p>
          <a:p>
            <a:pPr marL="0" indent="0">
              <a:lnSpc>
                <a:spcPct val="100000"/>
              </a:lnSpc>
              <a:buNone/>
            </a:pPr>
            <a:endParaRPr lang="en-US" sz="1100">
              <a:solidFill>
                <a:schemeClr val="bg2">
                  <a:lumMod val="49000"/>
                </a:schemeClr>
              </a:solidFill>
              <a:latin typeface="Arial Nova"/>
              <a:ea typeface="+mn-lt"/>
              <a:cs typeface="+mn-lt"/>
            </a:endParaRPr>
          </a:p>
        </p:txBody>
      </p:sp>
      <p:pic>
        <p:nvPicPr>
          <p:cNvPr id="8" name="Picture 7" descr="A graph with lines and numbers&#10;&#10;AI-generated content may be incorrect.">
            <a:extLst>
              <a:ext uri="{FF2B5EF4-FFF2-40B4-BE49-F238E27FC236}">
                <a16:creationId xmlns:a16="http://schemas.microsoft.com/office/drawing/2014/main" id="{8EC0005D-5219-B39F-085B-798AF06B5645}"/>
              </a:ext>
            </a:extLst>
          </p:cNvPr>
          <p:cNvPicPr>
            <a:picLocks noChangeAspect="1"/>
          </p:cNvPicPr>
          <p:nvPr/>
        </p:nvPicPr>
        <p:blipFill>
          <a:blip r:embed="rId5"/>
          <a:stretch>
            <a:fillRect/>
          </a:stretch>
        </p:blipFill>
        <p:spPr>
          <a:xfrm>
            <a:off x="6019196" y="1515139"/>
            <a:ext cx="5895190" cy="3420141"/>
          </a:xfrm>
          <a:prstGeom prst="rect">
            <a:avLst/>
          </a:prstGeom>
        </p:spPr>
      </p:pic>
      <p:pic>
        <p:nvPicPr>
          <p:cNvPr id="11" name="Picture 10" descr="A graph with numbers and text&#10;&#10;AI-generated content may be incorrect.">
            <a:extLst>
              <a:ext uri="{FF2B5EF4-FFF2-40B4-BE49-F238E27FC236}">
                <a16:creationId xmlns:a16="http://schemas.microsoft.com/office/drawing/2014/main" id="{7F4FF4E4-842B-C23B-6872-3ABEE3637EEE}"/>
              </a:ext>
            </a:extLst>
          </p:cNvPr>
          <p:cNvPicPr>
            <a:picLocks noChangeAspect="1"/>
          </p:cNvPicPr>
          <p:nvPr/>
        </p:nvPicPr>
        <p:blipFill>
          <a:blip r:embed="rId6"/>
          <a:stretch>
            <a:fillRect/>
          </a:stretch>
        </p:blipFill>
        <p:spPr>
          <a:xfrm>
            <a:off x="448158" y="1347670"/>
            <a:ext cx="5571238" cy="3381769"/>
          </a:xfrm>
          <a:prstGeom prst="rect">
            <a:avLst/>
          </a:prstGeom>
        </p:spPr>
      </p:pic>
    </p:spTree>
    <p:extLst>
      <p:ext uri="{BB962C8B-B14F-4D97-AF65-F5344CB8AC3E}">
        <p14:creationId xmlns:p14="http://schemas.microsoft.com/office/powerpoint/2010/main" val="2890359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09CB-35E3-72A2-D420-2A02831FE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9228C-E562-24F1-74BE-98FBD14C50B2}"/>
              </a:ext>
            </a:extLst>
          </p:cNvPr>
          <p:cNvSpPr>
            <a:spLocks noGrp="1"/>
          </p:cNvSpPr>
          <p:nvPr>
            <p:ph type="title"/>
          </p:nvPr>
        </p:nvSpPr>
        <p:spPr>
          <a:xfrm>
            <a:off x="-2628" y="2518"/>
            <a:ext cx="12190205" cy="126084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a:ea typeface="+mj-lt"/>
                <a:cs typeface="+mj-lt"/>
              </a:rPr>
              <a:t>Loans tied to health priorities can incentivize new funds to be invested into health</a:t>
            </a:r>
          </a:p>
        </p:txBody>
      </p:sp>
      <p:sp>
        <p:nvSpPr>
          <p:cNvPr id="4" name="Slide Number Placeholder 3">
            <a:extLst>
              <a:ext uri="{FF2B5EF4-FFF2-40B4-BE49-F238E27FC236}">
                <a16:creationId xmlns:a16="http://schemas.microsoft.com/office/drawing/2014/main" id="{312760D6-3E84-0382-4D69-A1845AE401BF}"/>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5" name="Picture 4" descr="Yale Jackson School of Global Affairs - Wikipedia">
            <a:extLst>
              <a:ext uri="{FF2B5EF4-FFF2-40B4-BE49-F238E27FC236}">
                <a16:creationId xmlns:a16="http://schemas.microsoft.com/office/drawing/2014/main" id="{6A8ACB37-8C4B-EC48-106F-C727005F5978}"/>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6DDCE6E3-270A-1707-488F-73D8B09B56CE}"/>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graphicFrame>
        <p:nvGraphicFramePr>
          <p:cNvPr id="3" name="Table 2">
            <a:extLst>
              <a:ext uri="{FF2B5EF4-FFF2-40B4-BE49-F238E27FC236}">
                <a16:creationId xmlns:a16="http://schemas.microsoft.com/office/drawing/2014/main" id="{DD6478D5-0F0D-2374-FFA2-A423159B0D57}"/>
              </a:ext>
            </a:extLst>
          </p:cNvPr>
          <p:cNvGraphicFramePr>
            <a:graphicFrameLocks noGrp="1"/>
          </p:cNvGraphicFramePr>
          <p:nvPr>
            <p:extLst>
              <p:ext uri="{D42A27DB-BD31-4B8C-83A1-F6EECF244321}">
                <p14:modId xmlns:p14="http://schemas.microsoft.com/office/powerpoint/2010/main" val="3405251542"/>
              </p:ext>
            </p:extLst>
          </p:nvPr>
        </p:nvGraphicFramePr>
        <p:xfrm>
          <a:off x="723068" y="2355221"/>
          <a:ext cx="10745864" cy="2144994"/>
        </p:xfrm>
        <a:graphic>
          <a:graphicData uri="http://schemas.openxmlformats.org/drawingml/2006/table">
            <a:tbl>
              <a:tblPr firstRow="1" bandRow="1">
                <a:tableStyleId>{5C22544A-7EE6-4342-B048-85BDC9FD1C3A}</a:tableStyleId>
              </a:tblPr>
              <a:tblGrid>
                <a:gridCol w="2911707">
                  <a:extLst>
                    <a:ext uri="{9D8B030D-6E8A-4147-A177-3AD203B41FA5}">
                      <a16:colId xmlns:a16="http://schemas.microsoft.com/office/drawing/2014/main" val="816341693"/>
                    </a:ext>
                  </a:extLst>
                </a:gridCol>
                <a:gridCol w="7834157">
                  <a:extLst>
                    <a:ext uri="{9D8B030D-6E8A-4147-A177-3AD203B41FA5}">
                      <a16:colId xmlns:a16="http://schemas.microsoft.com/office/drawing/2014/main" val="2512916806"/>
                    </a:ext>
                  </a:extLst>
                </a:gridCol>
              </a:tblGrid>
              <a:tr h="714998">
                <a:tc>
                  <a:txBody>
                    <a:bodyPr/>
                    <a:lstStyle/>
                    <a:p>
                      <a:pPr algn="ctr"/>
                      <a:r>
                        <a:rPr lang="en-US" sz="2400">
                          <a:latin typeface="Arial" panose="020B0604020202020204" pitchFamily="34" charset="0"/>
                          <a:cs typeface="Arial" panose="020B0604020202020204" pitchFamily="34" charset="0"/>
                        </a:rPr>
                        <a:t>Strategy </a:t>
                      </a:r>
                    </a:p>
                  </a:txBody>
                  <a:tcPr anchor="ctr">
                    <a:lnL w="38100">
                      <a:solidFill>
                        <a:srgbClr val="2F52A6"/>
                      </a:solidFill>
                    </a:lnL>
                    <a:lnT w="38100">
                      <a:solidFill>
                        <a:srgbClr val="2F52A6"/>
                      </a:solidFill>
                    </a:lnT>
                    <a:lnB w="6350">
                      <a:solidFill>
                        <a:srgbClr val="2F52A6"/>
                      </a:solidFill>
                    </a:lnB>
                    <a:solidFill>
                      <a:srgbClr val="244B91"/>
                    </a:solidFill>
                  </a:tcPr>
                </a:tc>
                <a:tc>
                  <a:txBody>
                    <a:bodyPr/>
                    <a:lstStyle/>
                    <a:p>
                      <a:pPr algn="ctr"/>
                      <a:r>
                        <a:rPr lang="en-US" sz="2400">
                          <a:latin typeface="Arial" panose="020B0604020202020204" pitchFamily="34" charset="0"/>
                          <a:cs typeface="Arial" panose="020B0604020202020204" pitchFamily="34" charset="0"/>
                        </a:rPr>
                        <a:t>Description</a:t>
                      </a:r>
                    </a:p>
                  </a:txBody>
                  <a:tcPr anchor="ctr">
                    <a:lnR w="38100">
                      <a:solidFill>
                        <a:srgbClr val="2F52A6"/>
                      </a:solidFill>
                    </a:lnR>
                    <a:lnT w="38100">
                      <a:solidFill>
                        <a:srgbClr val="2F52A6"/>
                      </a:solidFill>
                    </a:lnT>
                    <a:lnB w="6350">
                      <a:solidFill>
                        <a:srgbClr val="2F52A6"/>
                      </a:solidFill>
                    </a:lnB>
                    <a:solidFill>
                      <a:srgbClr val="244B91"/>
                    </a:solidFill>
                  </a:tcPr>
                </a:tc>
                <a:extLst>
                  <a:ext uri="{0D108BD9-81ED-4DB2-BD59-A6C34878D82A}">
                    <a16:rowId xmlns:a16="http://schemas.microsoft.com/office/drawing/2014/main" val="4034275944"/>
                  </a:ext>
                </a:extLst>
              </a:tr>
              <a:tr h="714998">
                <a:tc>
                  <a:txBody>
                    <a:bodyPr/>
                    <a:lstStyle/>
                    <a:p>
                      <a:pPr lvl="0" algn="ctr">
                        <a:buNone/>
                      </a:pPr>
                      <a:r>
                        <a:rPr lang="en-US" sz="1600" b="1" i="0" u="none" strike="noStrike" noProof="0">
                          <a:solidFill>
                            <a:srgbClr val="244B91"/>
                          </a:solidFill>
                          <a:latin typeface="Arial" panose="020B0604020202020204" pitchFamily="34" charset="0"/>
                          <a:cs typeface="Arial" panose="020B0604020202020204" pitchFamily="34" charset="0"/>
                        </a:rPr>
                        <a:t>Sustainability-Linked Loans</a:t>
                      </a:r>
                      <a:endParaRPr lang="en-US" sz="1600">
                        <a:solidFill>
                          <a:srgbClr val="244B91"/>
                        </a:solidFill>
                        <a:latin typeface="Arial" panose="020B0604020202020204" pitchFamily="34" charset="0"/>
                        <a:cs typeface="Arial" panose="020B0604020202020204" pitchFamily="34" charset="0"/>
                      </a:endParaRPr>
                    </a:p>
                  </a:txBody>
                  <a:tcPr anchor="ctr">
                    <a:lnL w="6350">
                      <a:solidFill>
                        <a:srgbClr val="2F52A6"/>
                      </a:solidFill>
                    </a:lnL>
                    <a:lnR w="6350">
                      <a:solidFill>
                        <a:srgbClr val="2F52A6"/>
                      </a:solidFill>
                    </a:lnR>
                    <a:lnT w="6350">
                      <a:solidFill>
                        <a:srgbClr val="2F52A6"/>
                      </a:solidFill>
                    </a:lnT>
                    <a:lnB w="6350">
                      <a:solidFill>
                        <a:srgbClr val="2F52A6"/>
                      </a:solidFill>
                    </a:lnB>
                    <a:solidFill>
                      <a:srgbClr val="DEE8F8"/>
                    </a:solidFill>
                  </a:tcPr>
                </a:tc>
                <a:tc>
                  <a:txBody>
                    <a:bodyPr/>
                    <a:lstStyle/>
                    <a:p>
                      <a:pPr lvl="0" algn="ctr">
                        <a:lnSpc>
                          <a:spcPct val="100000"/>
                        </a:lnSpc>
                        <a:spcBef>
                          <a:spcPts val="0"/>
                        </a:spcBef>
                        <a:spcAft>
                          <a:spcPts val="0"/>
                        </a:spcAft>
                        <a:buNone/>
                      </a:pPr>
                      <a:r>
                        <a:rPr lang="en-US" sz="1600" b="0" i="0" u="none" strike="noStrike" noProof="0">
                          <a:solidFill>
                            <a:srgbClr val="244B91"/>
                          </a:solidFill>
                          <a:latin typeface="Arial" panose="020B0604020202020204" pitchFamily="34" charset="0"/>
                          <a:cs typeface="Arial" panose="020B0604020202020204" pitchFamily="34" charset="0"/>
                        </a:rPr>
                        <a:t>Interest rate or repayment schedule improves when national health targets are met</a:t>
                      </a:r>
                      <a:endParaRPr lang="en-US" sz="1600">
                        <a:solidFill>
                          <a:srgbClr val="244B91"/>
                        </a:solidFill>
                        <a:latin typeface="Arial" panose="020B0604020202020204" pitchFamily="34" charset="0"/>
                        <a:cs typeface="Arial" panose="020B0604020202020204" pitchFamily="34" charset="0"/>
                      </a:endParaRPr>
                    </a:p>
                    <a:p>
                      <a:pPr lvl="0">
                        <a:buNone/>
                      </a:pPr>
                      <a:endParaRPr lang="en-US" sz="1600">
                        <a:solidFill>
                          <a:srgbClr val="244B91"/>
                        </a:solidFill>
                        <a:latin typeface="Arial" panose="020B0604020202020204" pitchFamily="34" charset="0"/>
                        <a:cs typeface="Arial" panose="020B0604020202020204" pitchFamily="34" charset="0"/>
                      </a:endParaRPr>
                    </a:p>
                  </a:txBody>
                  <a:tcPr anchor="ctr">
                    <a:lnL w="6350">
                      <a:solidFill>
                        <a:srgbClr val="2F52A6"/>
                      </a:solidFill>
                    </a:lnL>
                    <a:lnR w="6350">
                      <a:solidFill>
                        <a:srgbClr val="2F52A6"/>
                      </a:solidFill>
                    </a:lnR>
                    <a:lnT w="6350">
                      <a:solidFill>
                        <a:srgbClr val="2F52A6"/>
                      </a:solidFill>
                    </a:lnT>
                    <a:lnB w="6350">
                      <a:solidFill>
                        <a:srgbClr val="2F52A6"/>
                      </a:solidFill>
                    </a:lnB>
                    <a:solidFill>
                      <a:srgbClr val="DEE8F8"/>
                    </a:solidFill>
                  </a:tcPr>
                </a:tc>
                <a:extLst>
                  <a:ext uri="{0D108BD9-81ED-4DB2-BD59-A6C34878D82A}">
                    <a16:rowId xmlns:a16="http://schemas.microsoft.com/office/drawing/2014/main" val="1380928724"/>
                  </a:ext>
                </a:extLst>
              </a:tr>
              <a:tr h="714998">
                <a:tc>
                  <a:txBody>
                    <a:bodyPr/>
                    <a:lstStyle/>
                    <a:p>
                      <a:pPr lvl="0" algn="ctr">
                        <a:buNone/>
                      </a:pPr>
                      <a:r>
                        <a:rPr lang="en-US" sz="1600" b="1" i="0" u="none" strike="noStrike" noProof="0">
                          <a:solidFill>
                            <a:srgbClr val="244B91"/>
                          </a:solidFill>
                          <a:latin typeface="Arial" panose="020B0604020202020204" pitchFamily="34" charset="0"/>
                          <a:cs typeface="Arial" panose="020B0604020202020204" pitchFamily="34" charset="0"/>
                        </a:rPr>
                        <a:t>Matching Domestic Mandates</a:t>
                      </a:r>
                      <a:endParaRPr lang="en-US" sz="1600">
                        <a:solidFill>
                          <a:srgbClr val="244B91"/>
                        </a:solidFill>
                        <a:latin typeface="Arial" panose="020B0604020202020204" pitchFamily="34" charset="0"/>
                        <a:cs typeface="Arial" panose="020B0604020202020204" pitchFamily="34" charset="0"/>
                      </a:endParaRPr>
                    </a:p>
                  </a:txBody>
                  <a:tcPr anchor="ctr">
                    <a:lnL w="6350">
                      <a:solidFill>
                        <a:srgbClr val="2F52A6"/>
                      </a:solidFill>
                    </a:lnL>
                    <a:lnR w="6350">
                      <a:solidFill>
                        <a:srgbClr val="2F52A6"/>
                      </a:solidFill>
                    </a:lnR>
                    <a:lnT w="6350">
                      <a:solidFill>
                        <a:srgbClr val="2F52A6"/>
                      </a:solidFill>
                    </a:lnT>
                    <a:lnB w="6350">
                      <a:solidFill>
                        <a:srgbClr val="2F52A6"/>
                      </a:solidFill>
                    </a:lnB>
                    <a:solidFill>
                      <a:srgbClr val="DEE8F8"/>
                    </a:solidFill>
                  </a:tcPr>
                </a:tc>
                <a:tc>
                  <a:txBody>
                    <a:bodyPr/>
                    <a:lstStyle/>
                    <a:p>
                      <a:pPr lvl="0" algn="ctr">
                        <a:lnSpc>
                          <a:spcPct val="100000"/>
                        </a:lnSpc>
                        <a:spcBef>
                          <a:spcPts val="0"/>
                        </a:spcBef>
                        <a:spcAft>
                          <a:spcPts val="0"/>
                        </a:spcAft>
                        <a:buNone/>
                      </a:pPr>
                      <a:r>
                        <a:rPr lang="en-US" sz="1600" b="0" i="0" u="none" strike="noStrike" noProof="0">
                          <a:solidFill>
                            <a:srgbClr val="244B91"/>
                          </a:solidFill>
                          <a:latin typeface="Arial" panose="020B0604020202020204" pitchFamily="34" charset="0"/>
                          <a:cs typeface="Arial" panose="020B0604020202020204" pitchFamily="34" charset="0"/>
                        </a:rPr>
                        <a:t>Low-interest loans are distributed when health investment increases</a:t>
                      </a:r>
                    </a:p>
                    <a:p>
                      <a:pPr lvl="0">
                        <a:buNone/>
                      </a:pPr>
                      <a:endParaRPr lang="en-US" sz="1600">
                        <a:solidFill>
                          <a:srgbClr val="244B91"/>
                        </a:solidFill>
                        <a:latin typeface="Arial" panose="020B0604020202020204" pitchFamily="34" charset="0"/>
                        <a:cs typeface="Arial" panose="020B0604020202020204" pitchFamily="34" charset="0"/>
                      </a:endParaRPr>
                    </a:p>
                  </a:txBody>
                  <a:tcPr anchor="ctr">
                    <a:lnL w="6350">
                      <a:solidFill>
                        <a:srgbClr val="2F52A6"/>
                      </a:solidFill>
                    </a:lnL>
                    <a:lnR w="6350">
                      <a:solidFill>
                        <a:srgbClr val="2F52A6"/>
                      </a:solidFill>
                    </a:lnR>
                    <a:lnT w="6350">
                      <a:solidFill>
                        <a:srgbClr val="2F52A6"/>
                      </a:solidFill>
                    </a:lnT>
                    <a:lnB w="6350">
                      <a:solidFill>
                        <a:srgbClr val="2F52A6"/>
                      </a:solidFill>
                    </a:lnB>
                    <a:solidFill>
                      <a:srgbClr val="DEE8F8"/>
                    </a:solidFill>
                  </a:tcPr>
                </a:tc>
                <a:extLst>
                  <a:ext uri="{0D108BD9-81ED-4DB2-BD59-A6C34878D82A}">
                    <a16:rowId xmlns:a16="http://schemas.microsoft.com/office/drawing/2014/main" val="3542472578"/>
                  </a:ext>
                </a:extLst>
              </a:tr>
            </a:tbl>
          </a:graphicData>
        </a:graphic>
      </p:graphicFrame>
      <p:sp>
        <p:nvSpPr>
          <p:cNvPr id="7" name="TextBox 6">
            <a:extLst>
              <a:ext uri="{FF2B5EF4-FFF2-40B4-BE49-F238E27FC236}">
                <a16:creationId xmlns:a16="http://schemas.microsoft.com/office/drawing/2014/main" id="{8EDDD7DF-6742-49F9-DB34-A76FE55389DA}"/>
              </a:ext>
            </a:extLst>
          </p:cNvPr>
          <p:cNvSpPr txBox="1"/>
          <p:nvPr/>
        </p:nvSpPr>
        <p:spPr>
          <a:xfrm>
            <a:off x="716068" y="4914270"/>
            <a:ext cx="10749280" cy="882682"/>
          </a:xfrm>
          <a:prstGeom prst="rect">
            <a:avLst/>
          </a:prstGeom>
          <a:solidFill>
            <a:srgbClr val="DDE7F8"/>
          </a:solidFill>
          <a:ln w="28575">
            <a:noFill/>
          </a:ln>
        </p:spPr>
        <p:txBody>
          <a:bodyPr vert="horz" lIns="91440" tIns="45720" rIns="91440" bIns="45720" rtlCol="0" anchor="t">
            <a:normAutofit/>
          </a:bodyPr>
          <a:lstStyle>
            <a:defPPr>
              <a:defRPr lang="en-US"/>
            </a:defPPr>
            <a:lvl1pPr indent="0">
              <a:lnSpc>
                <a:spcPct val="170000"/>
              </a:lnSpc>
              <a:spcBef>
                <a:spcPts val="1000"/>
              </a:spcBef>
              <a:buFont typeface="Arial" panose="020B0604020202020204" pitchFamily="34" charset="0"/>
              <a:buNone/>
              <a:defRPr sz="2400" b="1">
                <a:solidFill>
                  <a:srgbClr val="244B9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atin typeface="Raleway" pitchFamily="2" charset="77"/>
              </a:defRPr>
            </a:lvl2pPr>
            <a:lvl3pPr marL="1143000" indent="-228600">
              <a:lnSpc>
                <a:spcPct val="90000"/>
              </a:lnSpc>
              <a:spcBef>
                <a:spcPts val="500"/>
              </a:spcBef>
              <a:buFont typeface="Arial" panose="020B0604020202020204" pitchFamily="34" charset="0"/>
              <a:buChar char="•"/>
              <a:defRPr sz="2000">
                <a:latin typeface="Raleway" pitchFamily="2" charset="77"/>
              </a:defRPr>
            </a:lvl3pPr>
            <a:lvl4pPr marL="1600200" indent="-228600">
              <a:lnSpc>
                <a:spcPct val="90000"/>
              </a:lnSpc>
              <a:spcBef>
                <a:spcPts val="500"/>
              </a:spcBef>
              <a:buFont typeface="Arial" panose="020B0604020202020204" pitchFamily="34" charset="0"/>
              <a:buChar char="•"/>
              <a:defRPr>
                <a:latin typeface="Raleway" pitchFamily="2" charset="77"/>
              </a:defRPr>
            </a:lvl4pPr>
            <a:lvl5pPr marL="2057400" indent="-228600">
              <a:lnSpc>
                <a:spcPct val="90000"/>
              </a:lnSpc>
              <a:spcBef>
                <a:spcPts val="500"/>
              </a:spcBef>
              <a:buFont typeface="Arial" panose="020B0604020202020204" pitchFamily="34" charset="0"/>
              <a:buChar char="•"/>
              <a:defRPr>
                <a:latin typeface="Raleway"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sz="1400">
                <a:latin typeface="Arial"/>
                <a:cs typeface="Arial"/>
              </a:rPr>
              <a:t>New revenue on its own competes with other budgetary demands, however, loans tied to health targets provide a potential avenue for circumventing this</a:t>
            </a:r>
          </a:p>
        </p:txBody>
      </p:sp>
    </p:spTree>
    <p:extLst>
      <p:ext uri="{BB962C8B-B14F-4D97-AF65-F5344CB8AC3E}">
        <p14:creationId xmlns:p14="http://schemas.microsoft.com/office/powerpoint/2010/main" val="2098866923"/>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2F52A4"/>
            </a:gs>
            <a:gs pos="23000">
              <a:srgbClr val="0E245F"/>
            </a:gs>
          </a:gsLst>
          <a:lin ang="2700000" scaled="1"/>
          <a:tileRect/>
        </a:gradFill>
        <a:effectLst/>
      </p:bgPr>
    </p:bg>
    <p:spTree>
      <p:nvGrpSpPr>
        <p:cNvPr id="1" name="">
          <a:extLst>
            <a:ext uri="{FF2B5EF4-FFF2-40B4-BE49-F238E27FC236}">
              <a16:creationId xmlns:a16="http://schemas.microsoft.com/office/drawing/2014/main" id="{C12A6D06-13F7-8FE3-DE09-64BBC2282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B3A74-F020-40FE-099C-150A4CAFBDFC}"/>
              </a:ext>
            </a:extLst>
          </p:cNvPr>
          <p:cNvSpPr>
            <a:spLocks noGrp="1"/>
          </p:cNvSpPr>
          <p:nvPr>
            <p:ph type="ctrTitle"/>
          </p:nvPr>
        </p:nvSpPr>
        <p:spPr>
          <a:xfrm>
            <a:off x="548640" y="3429000"/>
            <a:ext cx="9444908" cy="712432"/>
          </a:xfrm>
          <a:noFill/>
          <a:ln w="28575">
            <a:noFill/>
          </a:ln>
        </p:spPr>
        <p:txBody>
          <a:bodyPr vert="horz" lIns="91440" tIns="45720" rIns="91440" bIns="45720" rtlCol="0" anchor="b">
            <a:noAutofit/>
          </a:bodyPr>
          <a:lstStyle/>
          <a:p>
            <a:pPr algn="l"/>
            <a:r>
              <a:rPr lang="en-US">
                <a:solidFill>
                  <a:schemeClr val="bg1"/>
                </a:solidFill>
                <a:latin typeface="Franklin Gothic"/>
                <a:ea typeface="+mj-lt"/>
                <a:cs typeface="+mj-lt"/>
              </a:rPr>
              <a:t>DAH prioritization – where should donors be targeting remaining funds?</a:t>
            </a:r>
            <a:endParaRPr lang="en-US">
              <a:solidFill>
                <a:schemeClr val="bg1"/>
              </a:solidFill>
            </a:endParaRPr>
          </a:p>
        </p:txBody>
      </p:sp>
      <p:sp>
        <p:nvSpPr>
          <p:cNvPr id="3" name="Text 4">
            <a:extLst>
              <a:ext uri="{FF2B5EF4-FFF2-40B4-BE49-F238E27FC236}">
                <a16:creationId xmlns:a16="http://schemas.microsoft.com/office/drawing/2014/main" id="{BAEC774A-8544-81AD-A2BB-ADB6AB39341A}"/>
              </a:ext>
            </a:extLst>
          </p:cNvPr>
          <p:cNvSpPr txBox="1"/>
          <p:nvPr/>
        </p:nvSpPr>
        <p:spPr>
          <a:xfrm>
            <a:off x="548640" y="703375"/>
            <a:ext cx="1635061" cy="1003853"/>
          </a:xfrm>
          <a:prstGeom prst="rect">
            <a:avLst/>
          </a:prstGeom>
          <a:noFill/>
          <a:ln/>
        </p:spPr>
        <p:txBody>
          <a:bodyPr wrap="square" lIns="0" tIns="0" rIns="0" bIns="0" rtlCol="0" anchor="ctr"/>
          <a:lstStyle/>
          <a:p>
            <a:r>
              <a:rPr lang="en-US" sz="5400">
                <a:solidFill>
                  <a:srgbClr val="8FA8E0"/>
                </a:solidFill>
                <a:latin typeface="Arial"/>
                <a:cs typeface="Arial"/>
              </a:rPr>
              <a:t>04.2</a:t>
            </a:r>
            <a:endParaRPr lang="en-US" sz="5400">
              <a:solidFill>
                <a:srgbClr val="8FA8E0"/>
              </a:solidFill>
            </a:endParaRPr>
          </a:p>
        </p:txBody>
      </p:sp>
      <p:pic>
        <p:nvPicPr>
          <p:cNvPr id="4" name="Image 1" descr="logo_white.png">
            <a:extLst>
              <a:ext uri="{FF2B5EF4-FFF2-40B4-BE49-F238E27FC236}">
                <a16:creationId xmlns:a16="http://schemas.microsoft.com/office/drawing/2014/main" id="{DBDDF738-B58E-E811-5A48-E49EECC5C6EB}"/>
              </a:ext>
            </a:extLst>
          </p:cNvPr>
          <p:cNvPicPr>
            <a:picLocks noChangeAspect="1"/>
          </p:cNvPicPr>
          <p:nvPr/>
        </p:nvPicPr>
        <p:blipFill>
          <a:blip r:embed="rId2"/>
          <a:stretch>
            <a:fillRect/>
          </a:stretch>
        </p:blipFill>
        <p:spPr>
          <a:xfrm>
            <a:off x="548640" y="5943600"/>
            <a:ext cx="2377440" cy="394269"/>
          </a:xfrm>
          <a:prstGeom prst="rect">
            <a:avLst/>
          </a:prstGeom>
        </p:spPr>
      </p:pic>
    </p:spTree>
    <p:extLst>
      <p:ext uri="{BB962C8B-B14F-4D97-AF65-F5344CB8AC3E}">
        <p14:creationId xmlns:p14="http://schemas.microsoft.com/office/powerpoint/2010/main" val="435928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D11AE-35EC-F4AC-0B02-7B90D2BC439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E81BB5-8F2B-7EB7-43B2-68DA16E0F80B}"/>
              </a:ext>
            </a:extLst>
          </p:cNvPr>
          <p:cNvSpPr>
            <a:spLocks noGrp="1"/>
          </p:cNvSpPr>
          <p:nvPr>
            <p:ph type="sldNum" sz="quarter" idx="12"/>
          </p:nvPr>
        </p:nvSpPr>
        <p:spPr/>
        <p:txBody>
          <a:bodyPr/>
          <a:lstStyle/>
          <a:p>
            <a:fld id="{330EA680-D336-4FF7-8B7A-9848BB0A1C32}" type="slidenum">
              <a:rPr lang="en-US" smtClean="0"/>
              <a:t>30</a:t>
            </a:fld>
            <a:endParaRPr lang="en-US"/>
          </a:p>
        </p:txBody>
      </p:sp>
      <p:pic>
        <p:nvPicPr>
          <p:cNvPr id="5" name="Picture 4">
            <a:extLst>
              <a:ext uri="{FF2B5EF4-FFF2-40B4-BE49-F238E27FC236}">
                <a16:creationId xmlns:a16="http://schemas.microsoft.com/office/drawing/2014/main" id="{174746E0-546A-A3D9-17FD-57FC16331189}"/>
              </a:ext>
            </a:extLst>
          </p:cNvPr>
          <p:cNvPicPr>
            <a:picLocks noChangeAspect="1"/>
          </p:cNvPicPr>
          <p:nvPr/>
        </p:nvPicPr>
        <p:blipFill>
          <a:blip r:embed="rId2"/>
          <a:stretch>
            <a:fillRect/>
          </a:stretch>
        </p:blipFill>
        <p:spPr>
          <a:xfrm>
            <a:off x="2225845" y="1244383"/>
            <a:ext cx="7261264" cy="4032198"/>
          </a:xfrm>
          <a:prstGeom prst="rect">
            <a:avLst/>
          </a:prstGeom>
        </p:spPr>
      </p:pic>
      <p:pic>
        <p:nvPicPr>
          <p:cNvPr id="7" name="Picture 6" descr="Yale Jackson School of Global Affairs - Wikipedia">
            <a:extLst>
              <a:ext uri="{FF2B5EF4-FFF2-40B4-BE49-F238E27FC236}">
                <a16:creationId xmlns:a16="http://schemas.microsoft.com/office/drawing/2014/main" id="{D9CABA20-4108-F442-BA20-41C29F04E907}"/>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9" name="Picture 8" descr="Yale Jackson School of Global Affairs - National Peace Corps Association">
            <a:extLst>
              <a:ext uri="{FF2B5EF4-FFF2-40B4-BE49-F238E27FC236}">
                <a16:creationId xmlns:a16="http://schemas.microsoft.com/office/drawing/2014/main" id="{12DFE55C-235B-3BD1-56D3-B40A99F19605}"/>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11" name="Title 1">
            <a:extLst>
              <a:ext uri="{FF2B5EF4-FFF2-40B4-BE49-F238E27FC236}">
                <a16:creationId xmlns:a16="http://schemas.microsoft.com/office/drawing/2014/main" id="{07A5D070-B797-A77D-45F1-CF1EB7F7A844}"/>
              </a:ext>
            </a:extLst>
          </p:cNvPr>
          <p:cNvSpPr>
            <a:spLocks noGrp="1"/>
          </p:cNvSpPr>
          <p:nvPr>
            <p:ph type="title"/>
          </p:nvPr>
        </p:nvSpPr>
        <p:spPr>
          <a:xfrm>
            <a:off x="-2628" y="2518"/>
            <a:ext cx="12205157" cy="1010253"/>
          </a:xfrm>
          <a:solidFill>
            <a:srgbClr val="1C3073"/>
          </a:solidFill>
          <a:ln w="57150">
            <a:solidFill>
              <a:srgbClr val="1B2F73"/>
            </a:solidFill>
          </a:ln>
        </p:spPr>
        <p:txBody>
          <a:bodyPr vert="horz" lIns="91440" tIns="45720" rIns="91440" bIns="45720" rtlCol="0" anchor="ctr">
            <a:normAutofit/>
          </a:bodyPr>
          <a:lstStyle/>
          <a:p>
            <a:r>
              <a:rPr lang="en-US" sz="3200" u="sng">
                <a:solidFill>
                  <a:schemeClr val="bg1"/>
                </a:solidFill>
                <a:latin typeface="Franklin Gothic Medium"/>
                <a:ea typeface="+mj-lt"/>
                <a:cs typeface="+mj-lt"/>
              </a:rPr>
              <a:t>Recall</a:t>
            </a:r>
            <a:r>
              <a:rPr lang="en-US" sz="3200">
                <a:solidFill>
                  <a:schemeClr val="bg1"/>
                </a:solidFill>
                <a:latin typeface="Franklin Gothic Medium"/>
                <a:ea typeface="+mj-lt"/>
                <a:cs typeface="+mj-lt"/>
              </a:rPr>
              <a:t>: Funding cuts show no consistent relationship</a:t>
            </a:r>
          </a:p>
          <a:p>
            <a:r>
              <a:rPr lang="en-US" sz="3200">
                <a:solidFill>
                  <a:schemeClr val="bg1"/>
                </a:solidFill>
                <a:latin typeface="Franklin Gothic Medium" panose="020B0603020102020204" pitchFamily="34" charset="0"/>
                <a:ea typeface="+mj-lt"/>
                <a:cs typeface="+mj-lt"/>
              </a:rPr>
              <a:t>with health need, leaving high risk countries vulnerable </a:t>
            </a:r>
          </a:p>
        </p:txBody>
      </p:sp>
      <p:sp>
        <p:nvSpPr>
          <p:cNvPr id="3" name="Title 1">
            <a:extLst>
              <a:ext uri="{FF2B5EF4-FFF2-40B4-BE49-F238E27FC236}">
                <a16:creationId xmlns:a16="http://schemas.microsoft.com/office/drawing/2014/main" id="{F9CEB157-8D98-D509-D873-DC914D9088A2}"/>
              </a:ext>
            </a:extLst>
          </p:cNvPr>
          <p:cNvSpPr txBox="1">
            <a:spLocks/>
          </p:cNvSpPr>
          <p:nvPr/>
        </p:nvSpPr>
        <p:spPr>
          <a:xfrm>
            <a:off x="702594" y="5276931"/>
            <a:ext cx="10786812" cy="744211"/>
          </a:xfrm>
          <a:prstGeom prst="rect">
            <a:avLst/>
          </a:prstGeom>
          <a:solidFill>
            <a:srgbClr val="DDE7F8"/>
          </a:solidFill>
          <a:ln w="28575">
            <a:noFill/>
          </a:ln>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60000"/>
              </a:lnSpc>
              <a:spcBef>
                <a:spcPts val="1000"/>
              </a:spcBef>
            </a:pPr>
            <a:r>
              <a:rPr lang="en-US" sz="1400">
                <a:solidFill>
                  <a:srgbClr val="244B91"/>
                </a:solidFill>
                <a:latin typeface="Arial"/>
                <a:ea typeface="+mn-ea"/>
                <a:cs typeface="Arial"/>
              </a:rPr>
              <a:t>Cuts also did not follow health need, leaving some high-risk countries heavily exposed and others spared. Uneven exposure requires tailored responses</a:t>
            </a:r>
          </a:p>
        </p:txBody>
      </p:sp>
    </p:spTree>
    <p:extLst>
      <p:ext uri="{BB962C8B-B14F-4D97-AF65-F5344CB8AC3E}">
        <p14:creationId xmlns:p14="http://schemas.microsoft.com/office/powerpoint/2010/main" val="3483524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D00C5-D3F5-03FF-82AE-DF3013841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78B354-60EE-ED30-0A1D-25CC8C62AAE7}"/>
              </a:ext>
            </a:extLst>
          </p:cNvPr>
          <p:cNvSpPr>
            <a:spLocks noGrp="1"/>
          </p:cNvSpPr>
          <p:nvPr>
            <p:ph type="title"/>
          </p:nvPr>
        </p:nvSpPr>
        <p:spPr>
          <a:xfrm>
            <a:off x="-2628" y="2518"/>
            <a:ext cx="12193263" cy="101025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panose="020B0603020102020204" pitchFamily="34" charset="0"/>
                <a:ea typeface="+mj-lt"/>
                <a:cs typeface="+mj-lt"/>
              </a:rPr>
              <a:t>HIV Financing Transition: Country Risk-Tier Analysis</a:t>
            </a:r>
          </a:p>
        </p:txBody>
      </p:sp>
      <p:sp>
        <p:nvSpPr>
          <p:cNvPr id="4" name="Slide Number Placeholder 3">
            <a:extLst>
              <a:ext uri="{FF2B5EF4-FFF2-40B4-BE49-F238E27FC236}">
                <a16:creationId xmlns:a16="http://schemas.microsoft.com/office/drawing/2014/main" id="{CE9F44CE-2F7F-EB14-81FC-1F34F6D2B814}"/>
              </a:ext>
            </a:extLst>
          </p:cNvPr>
          <p:cNvSpPr>
            <a:spLocks noGrp="1"/>
          </p:cNvSpPr>
          <p:nvPr>
            <p:ph type="sldNum" sz="quarter" idx="12"/>
          </p:nvPr>
        </p:nvSpPr>
        <p:spPr/>
        <p:txBody>
          <a:bodyPr/>
          <a:lstStyle/>
          <a:p>
            <a:fld id="{330EA680-D336-4FF7-8B7A-9848BB0A1C32}" type="slidenum">
              <a:rPr lang="en-US" smtClean="0"/>
              <a:t>31</a:t>
            </a:fld>
            <a:endParaRPr lang="en-US"/>
          </a:p>
        </p:txBody>
      </p:sp>
      <p:pic>
        <p:nvPicPr>
          <p:cNvPr id="6" name="Picture 5" descr="Yale Jackson School of Global Affairs - Wikipedia">
            <a:extLst>
              <a:ext uri="{FF2B5EF4-FFF2-40B4-BE49-F238E27FC236}">
                <a16:creationId xmlns:a16="http://schemas.microsoft.com/office/drawing/2014/main" id="{03E37FD2-596A-8C65-094B-9D45358D1917}"/>
              </a:ext>
            </a:extLst>
          </p:cNvPr>
          <p:cNvPicPr>
            <a:picLocks noChangeAspect="1"/>
          </p:cNvPicPr>
          <p:nvPr/>
        </p:nvPicPr>
        <p:blipFill>
          <a:blip r:embed="rId4"/>
          <a:srcRect/>
          <a:stretch>
            <a:fillRect/>
          </a:stretch>
        </p:blipFill>
        <p:spPr>
          <a:xfrm>
            <a:off x="281071" y="6161514"/>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A003EB53-57CC-4590-7D9D-CC88B9BB90F5}"/>
              </a:ext>
            </a:extLst>
          </p:cNvPr>
          <p:cNvPicPr>
            <a:picLocks noChangeAspect="1"/>
          </p:cNvPicPr>
          <p:nvPr/>
        </p:nvPicPr>
        <p:blipFill>
          <a:blip r:embed="rId5"/>
          <a:srcRect l="-3079" t="-13043" r="-4016" b="-14493"/>
          <a:stretch>
            <a:fillRect/>
          </a:stretch>
        </p:blipFill>
        <p:spPr>
          <a:xfrm>
            <a:off x="768413" y="6161731"/>
            <a:ext cx="2419332" cy="564644"/>
          </a:xfrm>
          <a:prstGeom prst="rect">
            <a:avLst/>
          </a:prstGeom>
        </p:spPr>
      </p:pic>
      <p:pic>
        <p:nvPicPr>
          <p:cNvPr id="10" name="Content Placeholder 9" descr="A graph of blue squares&#10;&#10;AI-generated content may be incorrect.">
            <a:extLst>
              <a:ext uri="{FF2B5EF4-FFF2-40B4-BE49-F238E27FC236}">
                <a16:creationId xmlns:a16="http://schemas.microsoft.com/office/drawing/2014/main" id="{72EB162C-68C5-6C21-D225-DC0448F4C77F}"/>
              </a:ext>
            </a:extLst>
          </p:cNvPr>
          <p:cNvPicPr>
            <a:picLocks noGrp="1" noChangeAspect="1"/>
          </p:cNvPicPr>
          <p:nvPr>
            <p:ph idx="1"/>
          </p:nvPr>
        </p:nvPicPr>
        <p:blipFill>
          <a:blip r:embed="rId6"/>
          <a:stretch>
            <a:fillRect/>
          </a:stretch>
        </p:blipFill>
        <p:spPr>
          <a:xfrm>
            <a:off x="1825784" y="2760779"/>
            <a:ext cx="1217919" cy="666909"/>
          </a:xfrm>
          <a:prstGeom prst="rect">
            <a:avLst/>
          </a:prstGeom>
        </p:spPr>
      </p:pic>
      <p:pic>
        <p:nvPicPr>
          <p:cNvPr id="5" name="Picture 4">
            <a:extLst>
              <a:ext uri="{FF2B5EF4-FFF2-40B4-BE49-F238E27FC236}">
                <a16:creationId xmlns:a16="http://schemas.microsoft.com/office/drawing/2014/main" id="{5270E0AC-8AF2-C286-5676-DE7E793DDA0E}"/>
              </a:ext>
            </a:extLst>
          </p:cNvPr>
          <p:cNvPicPr>
            <a:picLocks noChangeAspect="1"/>
          </p:cNvPicPr>
          <p:nvPr/>
        </p:nvPicPr>
        <p:blipFill>
          <a:blip r:embed="rId7"/>
          <a:stretch>
            <a:fillRect/>
          </a:stretch>
        </p:blipFill>
        <p:spPr>
          <a:xfrm>
            <a:off x="0" y="1168265"/>
            <a:ext cx="12192000" cy="4856564"/>
          </a:xfrm>
          <a:prstGeom prst="rect">
            <a:avLst/>
          </a:prstGeom>
        </p:spPr>
      </p:pic>
    </p:spTree>
    <p:extLst>
      <p:ext uri="{BB962C8B-B14F-4D97-AF65-F5344CB8AC3E}">
        <p14:creationId xmlns:p14="http://schemas.microsoft.com/office/powerpoint/2010/main" val="1336655803"/>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BC98-13E8-FEA8-BACA-49A24E2C6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90976-0B51-7C1F-1453-7373D302FB18}"/>
              </a:ext>
            </a:extLst>
          </p:cNvPr>
          <p:cNvSpPr>
            <a:spLocks noGrp="1"/>
          </p:cNvSpPr>
          <p:nvPr>
            <p:ph type="title"/>
          </p:nvPr>
        </p:nvSpPr>
        <p:spPr>
          <a:xfrm>
            <a:off x="-2628" y="2518"/>
            <a:ext cx="12183618" cy="101025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panose="020B0603020102020204" pitchFamily="34" charset="0"/>
                <a:ea typeface="+mj-lt"/>
                <a:cs typeface="+mj-lt"/>
              </a:rPr>
              <a:t>Country risk map</a:t>
            </a:r>
          </a:p>
        </p:txBody>
      </p:sp>
      <p:sp>
        <p:nvSpPr>
          <p:cNvPr id="4" name="Slide Number Placeholder 3">
            <a:extLst>
              <a:ext uri="{FF2B5EF4-FFF2-40B4-BE49-F238E27FC236}">
                <a16:creationId xmlns:a16="http://schemas.microsoft.com/office/drawing/2014/main" id="{9DBDB7A7-CF68-3DE5-69A8-A524BEE42B62}"/>
              </a:ext>
            </a:extLst>
          </p:cNvPr>
          <p:cNvSpPr>
            <a:spLocks noGrp="1"/>
          </p:cNvSpPr>
          <p:nvPr>
            <p:ph type="sldNum" sz="quarter" idx="12"/>
          </p:nvPr>
        </p:nvSpPr>
        <p:spPr/>
        <p:txBody>
          <a:bodyPr/>
          <a:lstStyle/>
          <a:p>
            <a:fld id="{330EA680-D336-4FF7-8B7A-9848BB0A1C32}" type="slidenum">
              <a:rPr lang="en-US" smtClean="0"/>
              <a:t>32</a:t>
            </a:fld>
            <a:endParaRPr lang="en-US"/>
          </a:p>
        </p:txBody>
      </p:sp>
      <p:pic>
        <p:nvPicPr>
          <p:cNvPr id="6" name="Picture 5" descr="Yale Jackson School of Global Affairs - Wikipedia">
            <a:extLst>
              <a:ext uri="{FF2B5EF4-FFF2-40B4-BE49-F238E27FC236}">
                <a16:creationId xmlns:a16="http://schemas.microsoft.com/office/drawing/2014/main" id="{9A47F559-5964-59F0-DA5E-6A45A8052C26}"/>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55EF01BF-43C7-D80A-E522-5791B3721618}"/>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pic>
        <p:nvPicPr>
          <p:cNvPr id="3" name="Content Placeholder 2" descr="A graph with blue and orange dots&#10;&#10;AI-generated content may be incorrect.">
            <a:extLst>
              <a:ext uri="{FF2B5EF4-FFF2-40B4-BE49-F238E27FC236}">
                <a16:creationId xmlns:a16="http://schemas.microsoft.com/office/drawing/2014/main" id="{CF9B923E-E536-FD6B-EED5-9BF2EB09CDC7}"/>
              </a:ext>
            </a:extLst>
          </p:cNvPr>
          <p:cNvPicPr>
            <a:picLocks noGrp="1" noChangeAspect="1"/>
          </p:cNvPicPr>
          <p:nvPr>
            <p:ph idx="1"/>
          </p:nvPr>
        </p:nvPicPr>
        <p:blipFill>
          <a:blip r:embed="rId6"/>
          <a:stretch>
            <a:fillRect/>
          </a:stretch>
        </p:blipFill>
        <p:spPr>
          <a:xfrm>
            <a:off x="3126829" y="2276955"/>
            <a:ext cx="5925928" cy="2714427"/>
          </a:xfrm>
          <a:prstGeom prst="rect">
            <a:avLst/>
          </a:prstGeom>
        </p:spPr>
      </p:pic>
      <p:pic>
        <p:nvPicPr>
          <p:cNvPr id="9" name="Picture 8" descr="A graph of a graph with colored dots&#10;&#10;AI-generated content may be incorrect.">
            <a:extLst>
              <a:ext uri="{FF2B5EF4-FFF2-40B4-BE49-F238E27FC236}">
                <a16:creationId xmlns:a16="http://schemas.microsoft.com/office/drawing/2014/main" id="{0214324F-586A-0DC3-12BA-A8CFE588F5C7}"/>
              </a:ext>
            </a:extLst>
          </p:cNvPr>
          <p:cNvPicPr>
            <a:picLocks noChangeAspect="1"/>
          </p:cNvPicPr>
          <p:nvPr/>
        </p:nvPicPr>
        <p:blipFill>
          <a:blip r:embed="rId7"/>
          <a:stretch>
            <a:fillRect/>
          </a:stretch>
        </p:blipFill>
        <p:spPr>
          <a:xfrm>
            <a:off x="978243" y="1213542"/>
            <a:ext cx="10214919" cy="4853104"/>
          </a:xfrm>
          <a:prstGeom prst="rect">
            <a:avLst/>
          </a:prstGeom>
        </p:spPr>
      </p:pic>
    </p:spTree>
    <p:extLst>
      <p:ext uri="{BB962C8B-B14F-4D97-AF65-F5344CB8AC3E}">
        <p14:creationId xmlns:p14="http://schemas.microsoft.com/office/powerpoint/2010/main" val="2740268135"/>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EF025-4326-0BFD-A4A4-27EA7ADDD5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BDC1EB-AA3E-323A-26A6-DC0A98A2542F}"/>
              </a:ext>
            </a:extLst>
          </p:cNvPr>
          <p:cNvSpPr>
            <a:spLocks noGrp="1"/>
          </p:cNvSpPr>
          <p:nvPr>
            <p:ph type="sldNum" sz="quarter" idx="12"/>
          </p:nvPr>
        </p:nvSpPr>
        <p:spPr/>
        <p:txBody>
          <a:bodyPr/>
          <a:lstStyle/>
          <a:p>
            <a:fld id="{330EA680-D336-4FF7-8B7A-9848BB0A1C32}" type="slidenum">
              <a:rPr lang="en-US" smtClean="0"/>
              <a:t>33</a:t>
            </a:fld>
            <a:endParaRPr lang="en-US"/>
          </a:p>
        </p:txBody>
      </p:sp>
      <p:pic>
        <p:nvPicPr>
          <p:cNvPr id="6" name="Picture 5" descr="Yale Jackson School of Global Affairs - Wikipedia">
            <a:extLst>
              <a:ext uri="{FF2B5EF4-FFF2-40B4-BE49-F238E27FC236}">
                <a16:creationId xmlns:a16="http://schemas.microsoft.com/office/drawing/2014/main" id="{8D3A6757-8D35-842F-8F5A-AF66EBB14D55}"/>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664CDA68-4A9D-58A1-DAEE-9D6DDE409566}"/>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pic>
        <p:nvPicPr>
          <p:cNvPr id="10" name="Content Placeholder 9" descr="A graph with blue and green dots&#10;&#10;AI-generated content may be incorrect.">
            <a:extLst>
              <a:ext uri="{FF2B5EF4-FFF2-40B4-BE49-F238E27FC236}">
                <a16:creationId xmlns:a16="http://schemas.microsoft.com/office/drawing/2014/main" id="{1922D997-EF4D-D055-1A36-B008F50DBDCB}"/>
              </a:ext>
            </a:extLst>
          </p:cNvPr>
          <p:cNvPicPr>
            <a:picLocks noGrp="1" noChangeAspect="1"/>
          </p:cNvPicPr>
          <p:nvPr>
            <p:ph idx="1"/>
          </p:nvPr>
        </p:nvPicPr>
        <p:blipFill>
          <a:blip r:embed="rId6"/>
          <a:stretch>
            <a:fillRect/>
          </a:stretch>
        </p:blipFill>
        <p:spPr>
          <a:xfrm>
            <a:off x="2769433" y="1608292"/>
            <a:ext cx="6648467" cy="3886950"/>
          </a:xfrm>
          <a:prstGeom prst="rect">
            <a:avLst/>
          </a:prstGeom>
        </p:spPr>
      </p:pic>
      <p:sp>
        <p:nvSpPr>
          <p:cNvPr id="5" name="Title 1">
            <a:extLst>
              <a:ext uri="{FF2B5EF4-FFF2-40B4-BE49-F238E27FC236}">
                <a16:creationId xmlns:a16="http://schemas.microsoft.com/office/drawing/2014/main" id="{600BAEB8-B316-3478-E0AD-4514AB195E31}"/>
              </a:ext>
            </a:extLst>
          </p:cNvPr>
          <p:cNvSpPr txBox="1">
            <a:spLocks/>
          </p:cNvSpPr>
          <p:nvPr/>
        </p:nvSpPr>
        <p:spPr>
          <a:xfrm>
            <a:off x="-2628" y="2518"/>
            <a:ext cx="12183618" cy="1010253"/>
          </a:xfrm>
          <a:prstGeom prst="rect">
            <a:avLst/>
          </a:prstGeom>
          <a:solidFill>
            <a:srgbClr val="1C3073"/>
          </a:solidFill>
          <a:ln w="57150">
            <a:solidFill>
              <a:srgbClr val="1B2F73"/>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Raleway" pitchFamily="2" charset="77"/>
                <a:ea typeface="+mj-ea"/>
                <a:cs typeface="+mj-cs"/>
              </a:defRPr>
            </a:lvl1pPr>
          </a:lstStyle>
          <a:p>
            <a:endParaRPr lang="en-US" sz="3200">
              <a:solidFill>
                <a:schemeClr val="bg1"/>
              </a:solidFill>
              <a:latin typeface="Franklin Gothic Medium"/>
              <a:ea typeface="+mj-lt"/>
              <a:cs typeface="+mj-lt"/>
            </a:endParaRPr>
          </a:p>
          <a:p>
            <a:r>
              <a:rPr lang="en-US" sz="3200">
                <a:solidFill>
                  <a:schemeClr val="bg1"/>
                </a:solidFill>
                <a:latin typeface="Franklin Gothic Medium"/>
                <a:ea typeface="+mj-lt"/>
                <a:cs typeface="+mj-lt"/>
              </a:rPr>
              <a:t>Countries by HIV burden</a:t>
            </a:r>
          </a:p>
          <a:p>
            <a:endParaRPr lang="en-US" sz="3200">
              <a:solidFill>
                <a:schemeClr val="bg1"/>
              </a:solidFill>
              <a:latin typeface="Franklin Gothic Medium"/>
            </a:endParaRPr>
          </a:p>
        </p:txBody>
      </p:sp>
      <p:pic>
        <p:nvPicPr>
          <p:cNvPr id="9" name="Picture 8" descr="A graph with colored dots and numbers&#10;&#10;AI-generated content may be incorrect.">
            <a:extLst>
              <a:ext uri="{FF2B5EF4-FFF2-40B4-BE49-F238E27FC236}">
                <a16:creationId xmlns:a16="http://schemas.microsoft.com/office/drawing/2014/main" id="{F56ADECA-E22F-AF00-63DE-5F0245F48741}"/>
              </a:ext>
            </a:extLst>
          </p:cNvPr>
          <p:cNvPicPr>
            <a:picLocks noChangeAspect="1"/>
          </p:cNvPicPr>
          <p:nvPr/>
        </p:nvPicPr>
        <p:blipFill>
          <a:blip r:embed="rId7"/>
          <a:stretch>
            <a:fillRect/>
          </a:stretch>
        </p:blipFill>
        <p:spPr>
          <a:xfrm>
            <a:off x="1277501" y="1424988"/>
            <a:ext cx="9306278" cy="4255773"/>
          </a:xfrm>
          <a:prstGeom prst="rect">
            <a:avLst/>
          </a:prstGeom>
        </p:spPr>
      </p:pic>
    </p:spTree>
    <p:extLst>
      <p:ext uri="{BB962C8B-B14F-4D97-AF65-F5344CB8AC3E}">
        <p14:creationId xmlns:p14="http://schemas.microsoft.com/office/powerpoint/2010/main" val="1010982912"/>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719DD-0314-A6EE-C8D1-8978883FB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C1D71-63FF-B5A5-9DAD-EC05C1DD2890}"/>
              </a:ext>
            </a:extLst>
          </p:cNvPr>
          <p:cNvSpPr>
            <a:spLocks noGrp="1"/>
          </p:cNvSpPr>
          <p:nvPr>
            <p:ph type="title"/>
          </p:nvPr>
        </p:nvSpPr>
        <p:spPr>
          <a:xfrm>
            <a:off x="-2628" y="2518"/>
            <a:ext cx="12208446" cy="101025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a:ea typeface="+mj-lt"/>
                <a:cs typeface="+mj-lt"/>
              </a:rPr>
              <a:t>Priority tiers and intervention emphasis</a:t>
            </a:r>
          </a:p>
        </p:txBody>
      </p:sp>
      <p:graphicFrame>
        <p:nvGraphicFramePr>
          <p:cNvPr id="5" name="Content Placeholder 4">
            <a:extLst>
              <a:ext uri="{FF2B5EF4-FFF2-40B4-BE49-F238E27FC236}">
                <a16:creationId xmlns:a16="http://schemas.microsoft.com/office/drawing/2014/main" id="{FE7693E7-9063-7ADC-86BF-B43C15309A87}"/>
              </a:ext>
            </a:extLst>
          </p:cNvPr>
          <p:cNvGraphicFramePr>
            <a:graphicFrameLocks noGrp="1"/>
          </p:cNvGraphicFramePr>
          <p:nvPr>
            <p:ph idx="1"/>
            <p:extLst>
              <p:ext uri="{D42A27DB-BD31-4B8C-83A1-F6EECF244321}">
                <p14:modId xmlns:p14="http://schemas.microsoft.com/office/powerpoint/2010/main" val="2912356931"/>
              </p:ext>
            </p:extLst>
          </p:nvPr>
        </p:nvGraphicFramePr>
        <p:xfrm>
          <a:off x="1012902" y="1565197"/>
          <a:ext cx="9645328" cy="4087209"/>
        </p:xfrm>
        <a:graphic>
          <a:graphicData uri="http://schemas.openxmlformats.org/drawingml/2006/table">
            <a:tbl>
              <a:tblPr firstRow="1" bandRow="1">
                <a:tableStyleId>{B301B821-A1FF-4177-AEE7-76D212191A09}</a:tableStyleId>
              </a:tblPr>
              <a:tblGrid>
                <a:gridCol w="4822664">
                  <a:extLst>
                    <a:ext uri="{9D8B030D-6E8A-4147-A177-3AD203B41FA5}">
                      <a16:colId xmlns:a16="http://schemas.microsoft.com/office/drawing/2014/main" val="2750011933"/>
                    </a:ext>
                  </a:extLst>
                </a:gridCol>
                <a:gridCol w="4822664">
                  <a:extLst>
                    <a:ext uri="{9D8B030D-6E8A-4147-A177-3AD203B41FA5}">
                      <a16:colId xmlns:a16="http://schemas.microsoft.com/office/drawing/2014/main" val="2789909292"/>
                    </a:ext>
                  </a:extLst>
                </a:gridCol>
              </a:tblGrid>
              <a:tr h="450664">
                <a:tc>
                  <a:txBody>
                    <a:bodyPr/>
                    <a:lstStyle/>
                    <a:p>
                      <a:pPr lvl="0" algn="ctr">
                        <a:buNone/>
                      </a:pPr>
                      <a:r>
                        <a:rPr lang="en-GB" b="1">
                          <a:latin typeface="Arial" panose="020B0604020202020204" pitchFamily="34" charset="0"/>
                          <a:cs typeface="Arial" panose="020B0604020202020204" pitchFamily="34" charset="0"/>
                        </a:rPr>
                        <a:t>Tier</a:t>
                      </a:r>
                    </a:p>
                  </a:txBody>
                  <a:tcPr anchor="ctr">
                    <a:solidFill>
                      <a:srgbClr val="244B91"/>
                    </a:solidFill>
                  </a:tcPr>
                </a:tc>
                <a:tc>
                  <a:txBody>
                    <a:bodyPr/>
                    <a:lstStyle/>
                    <a:p>
                      <a:pPr lvl="0" algn="ctr">
                        <a:buNone/>
                      </a:pPr>
                      <a:r>
                        <a:rPr lang="en-GB" sz="1800" b="1" u="none" strike="noStrike" noProof="0">
                          <a:latin typeface="Arial" panose="020B0604020202020204" pitchFamily="34" charset="0"/>
                          <a:cs typeface="Arial" panose="020B0604020202020204" pitchFamily="34" charset="0"/>
                        </a:rPr>
                        <a:t>Strategic intervention emphasis</a:t>
                      </a:r>
                      <a:endParaRPr lang="en-US" b="1">
                        <a:latin typeface="Arial" panose="020B0604020202020204" pitchFamily="34" charset="0"/>
                        <a:cs typeface="Arial" panose="020B0604020202020204" pitchFamily="34" charset="0"/>
                      </a:endParaRPr>
                    </a:p>
                  </a:txBody>
                  <a:tcPr anchor="ctr">
                    <a:solidFill>
                      <a:srgbClr val="244B91"/>
                    </a:solidFill>
                  </a:tcPr>
                </a:tc>
                <a:extLst>
                  <a:ext uri="{0D108BD9-81ED-4DB2-BD59-A6C34878D82A}">
                    <a16:rowId xmlns:a16="http://schemas.microsoft.com/office/drawing/2014/main" val="3820724941"/>
                  </a:ext>
                </a:extLst>
              </a:tr>
              <a:tr h="984785">
                <a:tc>
                  <a:txBody>
                    <a:bodyPr/>
                    <a:lstStyle/>
                    <a:p>
                      <a:pPr lvl="0">
                        <a:buNone/>
                      </a:pPr>
                      <a:r>
                        <a:rPr lang="en-GB" sz="1800" u="none" strike="noStrike" noProof="0">
                          <a:solidFill>
                            <a:srgbClr val="244B91"/>
                          </a:solidFill>
                          <a:latin typeface="Arial" panose="020B0604020202020204" pitchFamily="34" charset="0"/>
                          <a:cs typeface="Arial" panose="020B0604020202020204" pitchFamily="34" charset="0"/>
                        </a:rPr>
                        <a:t>Tier 1: Fragile / very limited capacity</a:t>
                      </a:r>
                      <a:endParaRPr lang="en-US">
                        <a:solidFill>
                          <a:srgbClr val="244B91"/>
                        </a:solidFill>
                        <a:latin typeface="Arial" panose="020B0604020202020204" pitchFamily="34" charset="0"/>
                        <a:cs typeface="Arial" panose="020B0604020202020204" pitchFamily="34" charset="0"/>
                      </a:endParaRPr>
                    </a:p>
                  </a:txBody>
                  <a:tcPr>
                    <a:solidFill>
                      <a:srgbClr val="E5EDFA"/>
                    </a:solidFill>
                  </a:tcPr>
                </a:tc>
                <a:tc>
                  <a:txBody>
                    <a:bodyPr/>
                    <a:lstStyle/>
                    <a:p>
                      <a:pPr lvl="0" algn="l">
                        <a:lnSpc>
                          <a:spcPct val="100000"/>
                        </a:lnSpc>
                        <a:spcBef>
                          <a:spcPts val="0"/>
                        </a:spcBef>
                        <a:spcAft>
                          <a:spcPts val="0"/>
                        </a:spcAft>
                        <a:buNone/>
                      </a:pPr>
                      <a:r>
                        <a:rPr lang="en-GB" sz="1800" u="none" strike="noStrike" noProof="0">
                          <a:solidFill>
                            <a:srgbClr val="244B91"/>
                          </a:solidFill>
                          <a:latin typeface="Arial" panose="020B0604020202020204" pitchFamily="34" charset="0"/>
                          <a:cs typeface="Arial" panose="020B0604020202020204" pitchFamily="34" charset="0"/>
                        </a:rPr>
                        <a:t>Protect continuity of core HIV services, maintain supply chains and community</a:t>
                      </a:r>
                      <a:endParaRPr lang="en-US">
                        <a:solidFill>
                          <a:srgbClr val="244B91"/>
                        </a:solidFill>
                        <a:latin typeface="Arial" panose="020B0604020202020204" pitchFamily="34" charset="0"/>
                        <a:cs typeface="Arial" panose="020B0604020202020204" pitchFamily="34" charset="0"/>
                      </a:endParaRPr>
                    </a:p>
                    <a:p>
                      <a:pPr lvl="0">
                        <a:buNone/>
                      </a:pPr>
                      <a:r>
                        <a:rPr lang="en-GB" sz="1800" u="none" strike="noStrike" noProof="0">
                          <a:solidFill>
                            <a:srgbClr val="244B91"/>
                          </a:solidFill>
                          <a:latin typeface="Arial" panose="020B0604020202020204" pitchFamily="34" charset="0"/>
                          <a:cs typeface="Arial" panose="020B0604020202020204" pitchFamily="34" charset="0"/>
                        </a:rPr>
                        <a:t>delivery, and prioritize bridge financing.</a:t>
                      </a:r>
                      <a:endParaRPr lang="en-GB">
                        <a:solidFill>
                          <a:srgbClr val="244B91"/>
                        </a:solidFill>
                        <a:latin typeface="Arial" panose="020B0604020202020204" pitchFamily="34" charset="0"/>
                        <a:cs typeface="Arial" panose="020B0604020202020204" pitchFamily="34" charset="0"/>
                      </a:endParaRPr>
                    </a:p>
                  </a:txBody>
                  <a:tcPr>
                    <a:solidFill>
                      <a:srgbClr val="E5EDFA"/>
                    </a:solidFill>
                  </a:tcPr>
                </a:tc>
                <a:extLst>
                  <a:ext uri="{0D108BD9-81ED-4DB2-BD59-A6C34878D82A}">
                    <a16:rowId xmlns:a16="http://schemas.microsoft.com/office/drawing/2014/main" val="2597588284"/>
                  </a:ext>
                </a:extLst>
              </a:tr>
              <a:tr h="1018167">
                <a:tc>
                  <a:txBody>
                    <a:bodyPr/>
                    <a:lstStyle/>
                    <a:p>
                      <a:pPr lvl="0">
                        <a:buNone/>
                      </a:pPr>
                      <a:r>
                        <a:rPr lang="en-GB" sz="1800" u="none" strike="noStrike" noProof="0">
                          <a:solidFill>
                            <a:srgbClr val="244B91"/>
                          </a:solidFill>
                          <a:latin typeface="Arial" panose="020B0604020202020204" pitchFamily="34" charset="0"/>
                          <a:cs typeface="Arial" panose="020B0604020202020204" pitchFamily="34" charset="0"/>
                        </a:rPr>
                        <a:t>Tier 2: Large HIV burden / no fiscal space</a:t>
                      </a:r>
                      <a:endParaRPr lang="en-US">
                        <a:solidFill>
                          <a:srgbClr val="244B91"/>
                        </a:solidFill>
                        <a:latin typeface="Arial" panose="020B0604020202020204" pitchFamily="34" charset="0"/>
                        <a:cs typeface="Arial" panose="020B0604020202020204" pitchFamily="34" charset="0"/>
                      </a:endParaRPr>
                    </a:p>
                  </a:txBody>
                  <a:tcPr>
                    <a:solidFill>
                      <a:srgbClr val="E5EDFA"/>
                    </a:solidFill>
                  </a:tcPr>
                </a:tc>
                <a:tc>
                  <a:txBody>
                    <a:bodyPr/>
                    <a:lstStyle/>
                    <a:p>
                      <a:pPr lvl="0" algn="l">
                        <a:lnSpc>
                          <a:spcPct val="100000"/>
                        </a:lnSpc>
                        <a:spcBef>
                          <a:spcPts val="0"/>
                        </a:spcBef>
                        <a:spcAft>
                          <a:spcPts val="0"/>
                        </a:spcAft>
                        <a:buNone/>
                      </a:pPr>
                      <a:r>
                        <a:rPr lang="en-GB" sz="1800" u="none" strike="noStrike" noProof="0">
                          <a:solidFill>
                            <a:srgbClr val="244B91"/>
                          </a:solidFill>
                          <a:latin typeface="Arial" panose="020B0604020202020204" pitchFamily="34" charset="0"/>
                          <a:cs typeface="Arial" panose="020B0604020202020204" pitchFamily="34" charset="0"/>
                        </a:rPr>
                        <a:t>Protect high-volume services and negotiate realistic domestic co-financing, phased</a:t>
                      </a:r>
                      <a:endParaRPr lang="en-US">
                        <a:solidFill>
                          <a:srgbClr val="244B91"/>
                        </a:solidFill>
                        <a:latin typeface="Arial" panose="020B0604020202020204" pitchFamily="34" charset="0"/>
                        <a:cs typeface="Arial" panose="020B0604020202020204" pitchFamily="34" charset="0"/>
                      </a:endParaRPr>
                    </a:p>
                    <a:p>
                      <a:pPr lvl="0">
                        <a:buNone/>
                      </a:pPr>
                      <a:r>
                        <a:rPr lang="en-GB" sz="1800" u="none" strike="noStrike" noProof="0">
                          <a:solidFill>
                            <a:srgbClr val="244B91"/>
                          </a:solidFill>
                          <a:latin typeface="Arial" panose="020B0604020202020204" pitchFamily="34" charset="0"/>
                          <a:cs typeface="Arial" panose="020B0604020202020204" pitchFamily="34" charset="0"/>
                        </a:rPr>
                        <a:t>transition, and efficiency measures without abrupt funding cliffs.</a:t>
                      </a:r>
                      <a:endParaRPr lang="en-GB">
                        <a:solidFill>
                          <a:srgbClr val="244B91"/>
                        </a:solidFill>
                        <a:latin typeface="Arial" panose="020B0604020202020204" pitchFamily="34" charset="0"/>
                        <a:cs typeface="Arial" panose="020B0604020202020204" pitchFamily="34" charset="0"/>
                      </a:endParaRPr>
                    </a:p>
                  </a:txBody>
                  <a:tcPr>
                    <a:solidFill>
                      <a:srgbClr val="E5EDFA"/>
                    </a:solidFill>
                  </a:tcPr>
                </a:tc>
                <a:extLst>
                  <a:ext uri="{0D108BD9-81ED-4DB2-BD59-A6C34878D82A}">
                    <a16:rowId xmlns:a16="http://schemas.microsoft.com/office/drawing/2014/main" val="3379219965"/>
                  </a:ext>
                </a:extLst>
              </a:tr>
              <a:tr h="1251846">
                <a:tc>
                  <a:txBody>
                    <a:bodyPr/>
                    <a:lstStyle/>
                    <a:p>
                      <a:pPr lvl="0">
                        <a:buNone/>
                      </a:pPr>
                      <a:r>
                        <a:rPr lang="en-GB" sz="1800" u="none" strike="noStrike" noProof="0">
                          <a:solidFill>
                            <a:srgbClr val="244B91"/>
                          </a:solidFill>
                          <a:latin typeface="Arial" panose="020B0604020202020204" pitchFamily="34" charset="0"/>
                          <a:cs typeface="Arial" panose="020B0604020202020204" pitchFamily="34" charset="0"/>
                        </a:rPr>
                        <a:t>Tier 3: Large HIV burden / fiscal space </a:t>
                      </a:r>
                      <a:endParaRPr lang="en-US">
                        <a:solidFill>
                          <a:srgbClr val="244B91"/>
                        </a:solidFill>
                        <a:latin typeface="Arial" panose="020B0604020202020204" pitchFamily="34" charset="0"/>
                        <a:cs typeface="Arial" panose="020B0604020202020204" pitchFamily="34" charset="0"/>
                      </a:endParaRPr>
                    </a:p>
                  </a:txBody>
                  <a:tcPr>
                    <a:solidFill>
                      <a:srgbClr val="E5EDFA"/>
                    </a:solidFill>
                  </a:tcPr>
                </a:tc>
                <a:tc>
                  <a:txBody>
                    <a:bodyPr/>
                    <a:lstStyle/>
                    <a:p>
                      <a:pPr lvl="0" algn="l">
                        <a:lnSpc>
                          <a:spcPct val="100000"/>
                        </a:lnSpc>
                        <a:spcBef>
                          <a:spcPts val="0"/>
                        </a:spcBef>
                        <a:spcAft>
                          <a:spcPts val="0"/>
                        </a:spcAft>
                        <a:buNone/>
                      </a:pPr>
                      <a:r>
                        <a:rPr lang="en-GB" sz="1800" u="none" strike="noStrike" noProof="0">
                          <a:solidFill>
                            <a:srgbClr val="244B91"/>
                          </a:solidFill>
                          <a:latin typeface="Arial" panose="020B0604020202020204" pitchFamily="34" charset="0"/>
                          <a:cs typeface="Arial" panose="020B0604020202020204" pitchFamily="34" charset="0"/>
                        </a:rPr>
                        <a:t>Prioritize planned domestic absorption, medium-term budget commitments, and</a:t>
                      </a:r>
                      <a:endParaRPr lang="en-US">
                        <a:solidFill>
                          <a:srgbClr val="244B91"/>
                        </a:solidFill>
                        <a:latin typeface="Arial" panose="020B0604020202020204" pitchFamily="34" charset="0"/>
                        <a:cs typeface="Arial" panose="020B0604020202020204" pitchFamily="34" charset="0"/>
                      </a:endParaRPr>
                    </a:p>
                    <a:p>
                      <a:pPr lvl="0">
                        <a:buNone/>
                      </a:pPr>
                      <a:r>
                        <a:rPr lang="en-GB" sz="1800" u="none" strike="noStrike" noProof="0">
                          <a:solidFill>
                            <a:srgbClr val="244B91"/>
                          </a:solidFill>
                          <a:latin typeface="Arial" panose="020B0604020202020204" pitchFamily="34" charset="0"/>
                          <a:cs typeface="Arial" panose="020B0604020202020204" pitchFamily="34" charset="0"/>
                        </a:rPr>
                        <a:t>targeted external support for gaps that domestic systems cannot immediately absorb.</a:t>
                      </a:r>
                      <a:endParaRPr lang="en-GB">
                        <a:solidFill>
                          <a:srgbClr val="244B91"/>
                        </a:solidFill>
                        <a:latin typeface="Arial" panose="020B0604020202020204" pitchFamily="34" charset="0"/>
                        <a:cs typeface="Arial" panose="020B0604020202020204" pitchFamily="34" charset="0"/>
                      </a:endParaRPr>
                    </a:p>
                  </a:txBody>
                  <a:tcPr>
                    <a:solidFill>
                      <a:srgbClr val="E5EDFA"/>
                    </a:solidFill>
                  </a:tcPr>
                </a:tc>
                <a:extLst>
                  <a:ext uri="{0D108BD9-81ED-4DB2-BD59-A6C34878D82A}">
                    <a16:rowId xmlns:a16="http://schemas.microsoft.com/office/drawing/2014/main" val="1315323589"/>
                  </a:ext>
                </a:extLst>
              </a:tr>
            </a:tbl>
          </a:graphicData>
        </a:graphic>
      </p:graphicFrame>
      <p:sp>
        <p:nvSpPr>
          <p:cNvPr id="4" name="Slide Number Placeholder 3">
            <a:extLst>
              <a:ext uri="{FF2B5EF4-FFF2-40B4-BE49-F238E27FC236}">
                <a16:creationId xmlns:a16="http://schemas.microsoft.com/office/drawing/2014/main" id="{058EAFBA-42BD-19D9-5FFF-FFF876FD269B}"/>
              </a:ext>
            </a:extLst>
          </p:cNvPr>
          <p:cNvSpPr>
            <a:spLocks noGrp="1"/>
          </p:cNvSpPr>
          <p:nvPr>
            <p:ph type="sldNum" sz="quarter" idx="12"/>
          </p:nvPr>
        </p:nvSpPr>
        <p:spPr/>
        <p:txBody>
          <a:bodyPr/>
          <a:lstStyle/>
          <a:p>
            <a:fld id="{330EA680-D336-4FF7-8B7A-9848BB0A1C32}" type="slidenum">
              <a:rPr lang="en-US" smtClean="0"/>
              <a:t>34</a:t>
            </a:fld>
            <a:endParaRPr lang="en-US"/>
          </a:p>
        </p:txBody>
      </p:sp>
      <p:pic>
        <p:nvPicPr>
          <p:cNvPr id="6" name="Picture 5" descr="Yale Jackson School of Global Affairs - Wikipedia">
            <a:extLst>
              <a:ext uri="{FF2B5EF4-FFF2-40B4-BE49-F238E27FC236}">
                <a16:creationId xmlns:a16="http://schemas.microsoft.com/office/drawing/2014/main" id="{3599E113-E730-2B50-D854-E8F195CEF64E}"/>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D3A31D34-89AC-065E-47DE-61D9CCD3D9A6}"/>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pic>
        <p:nvPicPr>
          <p:cNvPr id="3" name="Picture 2" descr="A blue and white chart with white text&#10;&#10;AI-generated content may be incorrect.">
            <a:extLst>
              <a:ext uri="{FF2B5EF4-FFF2-40B4-BE49-F238E27FC236}">
                <a16:creationId xmlns:a16="http://schemas.microsoft.com/office/drawing/2014/main" id="{5498644A-FED5-9EC1-AA5E-65ADDF909FC3}"/>
              </a:ext>
            </a:extLst>
          </p:cNvPr>
          <p:cNvPicPr>
            <a:picLocks noChangeAspect="1"/>
          </p:cNvPicPr>
          <p:nvPr/>
        </p:nvPicPr>
        <p:blipFill>
          <a:blip r:embed="rId6"/>
          <a:stretch>
            <a:fillRect/>
          </a:stretch>
        </p:blipFill>
        <p:spPr>
          <a:xfrm>
            <a:off x="588380" y="1167285"/>
            <a:ext cx="11005595" cy="4851380"/>
          </a:xfrm>
          <a:prstGeom prst="rect">
            <a:avLst/>
          </a:prstGeom>
        </p:spPr>
      </p:pic>
    </p:spTree>
    <p:extLst>
      <p:ext uri="{BB962C8B-B14F-4D97-AF65-F5344CB8AC3E}">
        <p14:creationId xmlns:p14="http://schemas.microsoft.com/office/powerpoint/2010/main" val="982122086"/>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A461D-696C-4799-87FA-CAB7946BB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D6035-22EE-EEE7-AADF-5069EA7451FC}"/>
              </a:ext>
            </a:extLst>
          </p:cNvPr>
          <p:cNvSpPr>
            <a:spLocks noGrp="1"/>
          </p:cNvSpPr>
          <p:nvPr>
            <p:ph type="title"/>
          </p:nvPr>
        </p:nvSpPr>
        <p:spPr>
          <a:xfrm>
            <a:off x="-2628" y="2518"/>
            <a:ext cx="12617668" cy="101025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panose="020B0603020102020204" pitchFamily="34" charset="0"/>
                <a:ea typeface="+mj-lt"/>
                <a:cs typeface="+mj-lt"/>
              </a:rPr>
              <a:t>High-dependency programs are where remaining donor funds matter most</a:t>
            </a:r>
          </a:p>
        </p:txBody>
      </p:sp>
      <p:sp>
        <p:nvSpPr>
          <p:cNvPr id="3" name="Slide Number Placeholder 2">
            <a:extLst>
              <a:ext uri="{FF2B5EF4-FFF2-40B4-BE49-F238E27FC236}">
                <a16:creationId xmlns:a16="http://schemas.microsoft.com/office/drawing/2014/main" id="{AF826F1A-BD24-9F49-A888-485391C371E4}"/>
              </a:ext>
            </a:extLst>
          </p:cNvPr>
          <p:cNvSpPr>
            <a:spLocks noGrp="1"/>
          </p:cNvSpPr>
          <p:nvPr>
            <p:ph type="sldNum" sz="quarter" idx="12"/>
          </p:nvPr>
        </p:nvSpPr>
        <p:spPr/>
        <p:txBody>
          <a:bodyPr/>
          <a:lstStyle/>
          <a:p>
            <a:fld id="{330EA680-D336-4FF7-8B7A-9848BB0A1C32}" type="slidenum">
              <a:rPr lang="en-US" smtClean="0"/>
              <a:t>35</a:t>
            </a:fld>
            <a:endParaRPr lang="en-US"/>
          </a:p>
        </p:txBody>
      </p:sp>
      <p:pic>
        <p:nvPicPr>
          <p:cNvPr id="5" name="Picture 4" descr="Yale Jackson School of Global Affairs - Wikipedia">
            <a:extLst>
              <a:ext uri="{FF2B5EF4-FFF2-40B4-BE49-F238E27FC236}">
                <a16:creationId xmlns:a16="http://schemas.microsoft.com/office/drawing/2014/main" id="{29F25FE5-5127-41CB-A42F-8FFF4870C7A0}"/>
              </a:ext>
            </a:extLst>
          </p:cNvPr>
          <p:cNvPicPr>
            <a:picLocks noChangeAspect="1"/>
          </p:cNvPicPr>
          <p:nvPr/>
        </p:nvPicPr>
        <p:blipFill>
          <a:blip r:embed="rId2"/>
          <a:srcRect/>
          <a:stretch>
            <a:fillRect/>
          </a:stretch>
        </p:blipFill>
        <p:spPr>
          <a:xfrm>
            <a:off x="338944" y="6257970"/>
            <a:ext cx="491134" cy="465099"/>
          </a:xfrm>
          <a:prstGeom prst="rect">
            <a:avLst/>
          </a:prstGeom>
        </p:spPr>
      </p:pic>
      <p:pic>
        <p:nvPicPr>
          <p:cNvPr id="9" name="Picture 8" descr="Yale Jackson School of Global Affairs - National Peace Corps Association">
            <a:extLst>
              <a:ext uri="{FF2B5EF4-FFF2-40B4-BE49-F238E27FC236}">
                <a16:creationId xmlns:a16="http://schemas.microsoft.com/office/drawing/2014/main" id="{81B9B835-472B-1C38-5E69-7B43B80AA3A8}"/>
              </a:ext>
            </a:extLst>
          </p:cNvPr>
          <p:cNvPicPr>
            <a:picLocks noChangeAspect="1"/>
          </p:cNvPicPr>
          <p:nvPr/>
        </p:nvPicPr>
        <p:blipFill>
          <a:blip r:embed="rId3"/>
          <a:srcRect l="-3079" t="-13043" r="-4016" b="-14493"/>
          <a:stretch>
            <a:fillRect/>
          </a:stretch>
        </p:blipFill>
        <p:spPr>
          <a:xfrm>
            <a:off x="826286" y="6258187"/>
            <a:ext cx="2419332" cy="564644"/>
          </a:xfrm>
          <a:prstGeom prst="rect">
            <a:avLst/>
          </a:prstGeom>
        </p:spPr>
      </p:pic>
      <p:sp>
        <p:nvSpPr>
          <p:cNvPr id="6" name="Title 1">
            <a:extLst>
              <a:ext uri="{FF2B5EF4-FFF2-40B4-BE49-F238E27FC236}">
                <a16:creationId xmlns:a16="http://schemas.microsoft.com/office/drawing/2014/main" id="{7987657F-BDE4-9CEE-46C4-82050B9089DE}"/>
              </a:ext>
            </a:extLst>
          </p:cNvPr>
          <p:cNvSpPr txBox="1">
            <a:spLocks/>
          </p:cNvSpPr>
          <p:nvPr/>
        </p:nvSpPr>
        <p:spPr>
          <a:xfrm>
            <a:off x="702594" y="5629254"/>
            <a:ext cx="10786812" cy="488643"/>
          </a:xfrm>
          <a:prstGeom prst="rect">
            <a:avLst/>
          </a:prstGeom>
          <a:solidFill>
            <a:srgbClr val="DDE7F8"/>
          </a:solidFill>
          <a:ln w="28575">
            <a:noFill/>
          </a:ln>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60000"/>
              </a:lnSpc>
              <a:spcBef>
                <a:spcPts val="1000"/>
              </a:spcBef>
            </a:pPr>
            <a:r>
              <a:rPr lang="en-US" sz="1400">
                <a:solidFill>
                  <a:srgbClr val="244B91"/>
                </a:solidFill>
                <a:latin typeface="Arial"/>
                <a:ea typeface="+mn-ea"/>
                <a:cs typeface="Arial"/>
              </a:rPr>
              <a:t>Sudden disruption in aid threatens to halt care delivery without targeted donor response</a:t>
            </a:r>
          </a:p>
        </p:txBody>
      </p:sp>
      <p:pic>
        <p:nvPicPr>
          <p:cNvPr id="8" name="Picture 7">
            <a:extLst>
              <a:ext uri="{FF2B5EF4-FFF2-40B4-BE49-F238E27FC236}">
                <a16:creationId xmlns:a16="http://schemas.microsoft.com/office/drawing/2014/main" id="{98821CE7-E7F8-CD4D-FBD3-4638A35CB300}"/>
              </a:ext>
            </a:extLst>
          </p:cNvPr>
          <p:cNvPicPr>
            <a:picLocks noChangeAspect="1"/>
          </p:cNvPicPr>
          <p:nvPr/>
        </p:nvPicPr>
        <p:blipFill>
          <a:blip r:embed="rId4"/>
          <a:stretch>
            <a:fillRect/>
          </a:stretch>
        </p:blipFill>
        <p:spPr>
          <a:xfrm>
            <a:off x="7082381" y="247307"/>
            <a:ext cx="4823417" cy="1676870"/>
          </a:xfrm>
          <a:prstGeom prst="rect">
            <a:avLst/>
          </a:prstGeom>
        </p:spPr>
      </p:pic>
      <p:sp>
        <p:nvSpPr>
          <p:cNvPr id="7" name="Content Placeholder 2">
            <a:extLst>
              <a:ext uri="{FF2B5EF4-FFF2-40B4-BE49-F238E27FC236}">
                <a16:creationId xmlns:a16="http://schemas.microsoft.com/office/drawing/2014/main" id="{8A3A940F-3376-9207-AF6E-ACC37BE1FDFA}"/>
              </a:ext>
            </a:extLst>
          </p:cNvPr>
          <p:cNvSpPr txBox="1">
            <a:spLocks/>
          </p:cNvSpPr>
          <p:nvPr/>
        </p:nvSpPr>
        <p:spPr>
          <a:xfrm>
            <a:off x="1116435" y="4997390"/>
            <a:ext cx="9960598" cy="63584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100">
                <a:solidFill>
                  <a:schemeClr val="bg2">
                    <a:lumMod val="49000"/>
                  </a:schemeClr>
                </a:solidFill>
                <a:latin typeface="Arial Nova"/>
                <a:ea typeface="+mn-lt"/>
                <a:cs typeface="+mn-lt"/>
              </a:rPr>
              <a:t>Sources:  IHME </a:t>
            </a:r>
            <a:r>
              <a:rPr lang="en-US" sz="1100">
                <a:solidFill>
                  <a:schemeClr val="bg2">
                    <a:lumMod val="49000"/>
                  </a:schemeClr>
                </a:solidFill>
                <a:ea typeface="+mn-lt"/>
                <a:cs typeface="+mn-lt"/>
              </a:rPr>
              <a:t>Development Assistance for Health Database 1990-2023;  United Nations </a:t>
            </a:r>
            <a:r>
              <a:rPr lang="en-US" sz="1100" err="1">
                <a:solidFill>
                  <a:schemeClr val="bg2">
                    <a:lumMod val="49000"/>
                  </a:schemeClr>
                </a:solidFill>
                <a:ea typeface="+mn-lt"/>
                <a:cs typeface="+mn-lt"/>
              </a:rPr>
              <a:t>Programme</a:t>
            </a:r>
            <a:r>
              <a:rPr lang="en-US" sz="1100">
                <a:solidFill>
                  <a:schemeClr val="bg2">
                    <a:lumMod val="49000"/>
                  </a:schemeClr>
                </a:solidFill>
                <a:ea typeface="+mn-lt"/>
                <a:cs typeface="+mn-lt"/>
              </a:rPr>
              <a:t> on HIV/AIDS (UNAIDS) 2026 Estimates</a:t>
            </a:r>
            <a:endParaRPr lang="en-US" sz="1100">
              <a:solidFill>
                <a:schemeClr val="bg2">
                  <a:lumMod val="49000"/>
                </a:schemeClr>
              </a:solidFill>
              <a:latin typeface="Arial Nova"/>
              <a:ea typeface="+mn-lt"/>
              <a:cs typeface="+mn-lt"/>
            </a:endParaRPr>
          </a:p>
          <a:p>
            <a:pPr marL="0" indent="0">
              <a:lnSpc>
                <a:spcPct val="100000"/>
              </a:lnSpc>
              <a:buNone/>
            </a:pPr>
            <a:endParaRPr lang="en-US" sz="1100">
              <a:solidFill>
                <a:schemeClr val="bg2">
                  <a:lumMod val="49000"/>
                </a:schemeClr>
              </a:solidFill>
              <a:latin typeface="Arial Nova"/>
            </a:endParaRPr>
          </a:p>
        </p:txBody>
      </p:sp>
      <p:pic>
        <p:nvPicPr>
          <p:cNvPr id="4" name="Picture 3">
            <a:extLst>
              <a:ext uri="{FF2B5EF4-FFF2-40B4-BE49-F238E27FC236}">
                <a16:creationId xmlns:a16="http://schemas.microsoft.com/office/drawing/2014/main" id="{D6205691-0757-6F3F-0AAA-757177494401}"/>
              </a:ext>
            </a:extLst>
          </p:cNvPr>
          <p:cNvPicPr>
            <a:picLocks noChangeAspect="1"/>
          </p:cNvPicPr>
          <p:nvPr/>
        </p:nvPicPr>
        <p:blipFill>
          <a:blip r:embed="rId5"/>
          <a:stretch>
            <a:fillRect/>
          </a:stretch>
        </p:blipFill>
        <p:spPr>
          <a:xfrm>
            <a:off x="556163" y="2282286"/>
            <a:ext cx="7657132" cy="4185511"/>
          </a:xfrm>
          <a:prstGeom prst="rect">
            <a:avLst/>
          </a:prstGeom>
        </p:spPr>
      </p:pic>
    </p:spTree>
    <p:extLst>
      <p:ext uri="{BB962C8B-B14F-4D97-AF65-F5344CB8AC3E}">
        <p14:creationId xmlns:p14="http://schemas.microsoft.com/office/powerpoint/2010/main" val="2822539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2F52A4"/>
            </a:gs>
            <a:gs pos="23000">
              <a:srgbClr val="0E245F"/>
            </a:gs>
          </a:gsLst>
          <a:lin ang="2700000" scaled="1"/>
          <a:tileRect/>
        </a:gradFill>
        <a:effectLst/>
      </p:bgPr>
    </p:bg>
    <p:spTree>
      <p:nvGrpSpPr>
        <p:cNvPr id="1" name="">
          <a:extLst>
            <a:ext uri="{FF2B5EF4-FFF2-40B4-BE49-F238E27FC236}">
              <a16:creationId xmlns:a16="http://schemas.microsoft.com/office/drawing/2014/main" id="{C668DA0D-E14F-5E6D-FC94-25EA06401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DC383-2421-09E9-25B5-BCCDE0E4E20E}"/>
              </a:ext>
            </a:extLst>
          </p:cNvPr>
          <p:cNvSpPr>
            <a:spLocks noGrp="1"/>
          </p:cNvSpPr>
          <p:nvPr>
            <p:ph type="ctrTitle"/>
          </p:nvPr>
        </p:nvSpPr>
        <p:spPr>
          <a:xfrm>
            <a:off x="548640" y="3429000"/>
            <a:ext cx="9444908" cy="712432"/>
          </a:xfrm>
          <a:noFill/>
          <a:ln w="28575">
            <a:noFill/>
          </a:ln>
        </p:spPr>
        <p:txBody>
          <a:bodyPr vert="horz" lIns="91440" tIns="45720" rIns="91440" bIns="45720" rtlCol="0" anchor="b">
            <a:noAutofit/>
          </a:bodyPr>
          <a:lstStyle/>
          <a:p>
            <a:pPr algn="l"/>
            <a:r>
              <a:rPr lang="en-US">
                <a:solidFill>
                  <a:schemeClr val="bg1"/>
                </a:solidFill>
                <a:latin typeface="Franklin Gothic"/>
                <a:ea typeface="+mj-lt"/>
                <a:cs typeface="+mj-lt"/>
              </a:rPr>
              <a:t>Looking Ahead</a:t>
            </a:r>
          </a:p>
        </p:txBody>
      </p:sp>
      <p:sp>
        <p:nvSpPr>
          <p:cNvPr id="3" name="Text 4">
            <a:extLst>
              <a:ext uri="{FF2B5EF4-FFF2-40B4-BE49-F238E27FC236}">
                <a16:creationId xmlns:a16="http://schemas.microsoft.com/office/drawing/2014/main" id="{309334B4-DDED-92C2-7729-B4C24C350719}"/>
              </a:ext>
            </a:extLst>
          </p:cNvPr>
          <p:cNvSpPr txBox="1"/>
          <p:nvPr/>
        </p:nvSpPr>
        <p:spPr>
          <a:xfrm>
            <a:off x="548640" y="2266121"/>
            <a:ext cx="795130" cy="1003853"/>
          </a:xfrm>
          <a:prstGeom prst="rect">
            <a:avLst/>
          </a:prstGeom>
          <a:noFill/>
          <a:ln/>
        </p:spPr>
        <p:txBody>
          <a:bodyPr wrap="square" lIns="0" tIns="0" rIns="0" bIns="0" rtlCol="0" anchor="ctr"/>
          <a:lstStyle/>
          <a:p>
            <a:pPr marL="0" indent="0" algn="r">
              <a:buNone/>
            </a:pPr>
            <a:r>
              <a:rPr lang="en-US" sz="5400">
                <a:solidFill>
                  <a:srgbClr val="8FA8E0"/>
                </a:solidFill>
                <a:latin typeface="Arial"/>
                <a:cs typeface="Arial"/>
              </a:rPr>
              <a:t>05</a:t>
            </a:r>
            <a:endParaRPr lang="en-US" sz="5400">
              <a:solidFill>
                <a:srgbClr val="8FA8E0"/>
              </a:solidFill>
            </a:endParaRPr>
          </a:p>
        </p:txBody>
      </p:sp>
      <p:pic>
        <p:nvPicPr>
          <p:cNvPr id="4" name="Image 1" descr="logo_white.png">
            <a:extLst>
              <a:ext uri="{FF2B5EF4-FFF2-40B4-BE49-F238E27FC236}">
                <a16:creationId xmlns:a16="http://schemas.microsoft.com/office/drawing/2014/main" id="{62C5804E-ADD5-924F-2654-4EE3E9435645}"/>
              </a:ext>
            </a:extLst>
          </p:cNvPr>
          <p:cNvPicPr>
            <a:picLocks noChangeAspect="1"/>
          </p:cNvPicPr>
          <p:nvPr/>
        </p:nvPicPr>
        <p:blipFill>
          <a:blip r:embed="rId2"/>
          <a:stretch>
            <a:fillRect/>
          </a:stretch>
        </p:blipFill>
        <p:spPr>
          <a:xfrm>
            <a:off x="548640" y="5943600"/>
            <a:ext cx="2377440" cy="394269"/>
          </a:xfrm>
          <a:prstGeom prst="rect">
            <a:avLst/>
          </a:prstGeom>
        </p:spPr>
      </p:pic>
    </p:spTree>
    <p:extLst>
      <p:ext uri="{BB962C8B-B14F-4D97-AF65-F5344CB8AC3E}">
        <p14:creationId xmlns:p14="http://schemas.microsoft.com/office/powerpoint/2010/main" val="2183614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842C-4F7A-0F94-1BF3-49C03763C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DC2E0-F8E3-AEA0-BA33-2F5AFEF557C6}"/>
              </a:ext>
            </a:extLst>
          </p:cNvPr>
          <p:cNvSpPr>
            <a:spLocks noGrp="1"/>
          </p:cNvSpPr>
          <p:nvPr>
            <p:ph type="title"/>
          </p:nvPr>
        </p:nvSpPr>
        <p:spPr>
          <a:xfrm>
            <a:off x="0" y="0"/>
            <a:ext cx="12199967" cy="1012771"/>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panose="020B0603020102020204" pitchFamily="34" charset="0"/>
                <a:ea typeface="+mj-lt"/>
                <a:cs typeface="+mj-lt"/>
              </a:rPr>
              <a:t>Calendar</a:t>
            </a:r>
          </a:p>
        </p:txBody>
      </p:sp>
      <p:sp>
        <p:nvSpPr>
          <p:cNvPr id="4" name="Slide Number Placeholder 3">
            <a:extLst>
              <a:ext uri="{FF2B5EF4-FFF2-40B4-BE49-F238E27FC236}">
                <a16:creationId xmlns:a16="http://schemas.microsoft.com/office/drawing/2014/main" id="{2009FA5F-B699-393C-019E-FBB04FA98A58}"/>
              </a:ext>
            </a:extLst>
          </p:cNvPr>
          <p:cNvSpPr>
            <a:spLocks noGrp="1"/>
          </p:cNvSpPr>
          <p:nvPr>
            <p:ph type="sldNum" sz="quarter" idx="12"/>
          </p:nvPr>
        </p:nvSpPr>
        <p:spPr/>
        <p:txBody>
          <a:bodyPr/>
          <a:lstStyle/>
          <a:p>
            <a:fld id="{330EA680-D336-4FF7-8B7A-9848BB0A1C32}" type="slidenum">
              <a:rPr lang="en-US" smtClean="0"/>
              <a:t>37</a:t>
            </a:fld>
            <a:endParaRPr lang="en-US"/>
          </a:p>
        </p:txBody>
      </p:sp>
      <p:pic>
        <p:nvPicPr>
          <p:cNvPr id="6" name="Picture 5" descr="Yale Jackson School of Global Affairs - Wikipedia">
            <a:extLst>
              <a:ext uri="{FF2B5EF4-FFF2-40B4-BE49-F238E27FC236}">
                <a16:creationId xmlns:a16="http://schemas.microsoft.com/office/drawing/2014/main" id="{06EA696C-5022-C06D-E5BA-E14EA143C736}"/>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3710C10E-B2B7-B4E2-8B44-1F743D8B98F5}"/>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graphicFrame>
        <p:nvGraphicFramePr>
          <p:cNvPr id="3" name="Table 2">
            <a:extLst>
              <a:ext uri="{FF2B5EF4-FFF2-40B4-BE49-F238E27FC236}">
                <a16:creationId xmlns:a16="http://schemas.microsoft.com/office/drawing/2014/main" id="{5048B6DE-7174-0817-4757-0858C7A93171}"/>
              </a:ext>
            </a:extLst>
          </p:cNvPr>
          <p:cNvGraphicFramePr>
            <a:graphicFrameLocks noGrp="1"/>
          </p:cNvGraphicFramePr>
          <p:nvPr>
            <p:extLst>
              <p:ext uri="{D42A27DB-BD31-4B8C-83A1-F6EECF244321}">
                <p14:modId xmlns:p14="http://schemas.microsoft.com/office/powerpoint/2010/main" val="3150957687"/>
              </p:ext>
            </p:extLst>
          </p:nvPr>
        </p:nvGraphicFramePr>
        <p:xfrm>
          <a:off x="927891" y="1368950"/>
          <a:ext cx="10113922" cy="4521355"/>
        </p:xfrm>
        <a:graphic>
          <a:graphicData uri="http://schemas.openxmlformats.org/drawingml/2006/table">
            <a:tbl>
              <a:tblPr firstRow="1" bandRow="1">
                <a:tableStyleId>{5C22544A-7EE6-4342-B048-85BDC9FD1C3A}</a:tableStyleId>
              </a:tblPr>
              <a:tblGrid>
                <a:gridCol w="6584971">
                  <a:extLst>
                    <a:ext uri="{9D8B030D-6E8A-4147-A177-3AD203B41FA5}">
                      <a16:colId xmlns:a16="http://schemas.microsoft.com/office/drawing/2014/main" val="1051523433"/>
                    </a:ext>
                  </a:extLst>
                </a:gridCol>
                <a:gridCol w="3528951">
                  <a:extLst>
                    <a:ext uri="{9D8B030D-6E8A-4147-A177-3AD203B41FA5}">
                      <a16:colId xmlns:a16="http://schemas.microsoft.com/office/drawing/2014/main" val="2486430316"/>
                    </a:ext>
                  </a:extLst>
                </a:gridCol>
              </a:tblGrid>
              <a:tr h="706243">
                <a:tc>
                  <a:txBody>
                    <a:bodyPr/>
                    <a:lstStyle/>
                    <a:p>
                      <a:pPr marL="0" algn="ctr" defTabSz="914400" rtl="0" eaLnBrk="1" latinLnBrk="0" hangingPunct="1"/>
                      <a:r>
                        <a:rPr lang="en-US" sz="2400" b="1" kern="1200">
                          <a:solidFill>
                            <a:schemeClr val="lt1"/>
                          </a:solidFill>
                          <a:latin typeface="Arial" panose="020B0604020202020204" pitchFamily="34" charset="0"/>
                          <a:ea typeface="+mn-ea"/>
                          <a:cs typeface="Arial" panose="020B0604020202020204" pitchFamily="34" charset="0"/>
                        </a:rPr>
                        <a:t>Event</a:t>
                      </a:r>
                    </a:p>
                  </a:txBody>
                  <a:tcPr>
                    <a:lnL w="12700">
                      <a:solidFill>
                        <a:srgbClr val="2F52A6"/>
                      </a:solidFill>
                    </a:lnL>
                    <a:lnR w="12700">
                      <a:solidFill>
                        <a:srgbClr val="2F52A6"/>
                      </a:solidFill>
                    </a:lnR>
                    <a:lnT w="12700">
                      <a:solidFill>
                        <a:srgbClr val="2F52A6"/>
                      </a:solidFill>
                    </a:lnT>
                    <a:lnB w="12700">
                      <a:solidFill>
                        <a:srgbClr val="2F52A6"/>
                      </a:solidFill>
                    </a:lnB>
                    <a:solidFill>
                      <a:srgbClr val="2F52A6"/>
                    </a:solidFill>
                  </a:tcPr>
                </a:tc>
                <a:tc>
                  <a:txBody>
                    <a:bodyPr/>
                    <a:lstStyle/>
                    <a:p>
                      <a:pPr marL="0" algn="ctr" defTabSz="914400" rtl="0" eaLnBrk="1" latinLnBrk="0" hangingPunct="1"/>
                      <a:r>
                        <a:rPr lang="en-US" sz="2400" b="1" kern="1200">
                          <a:solidFill>
                            <a:schemeClr val="lt1"/>
                          </a:solidFill>
                          <a:latin typeface="Arial" panose="020B0604020202020204" pitchFamily="34" charset="0"/>
                          <a:ea typeface="+mn-ea"/>
                          <a:cs typeface="Arial" panose="020B0604020202020204" pitchFamily="34" charset="0"/>
                        </a:rPr>
                        <a:t>Date</a:t>
                      </a:r>
                    </a:p>
                  </a:txBody>
                  <a:tcPr>
                    <a:lnL w="12700">
                      <a:solidFill>
                        <a:srgbClr val="2F52A6"/>
                      </a:solidFill>
                    </a:lnL>
                    <a:lnR w="12700">
                      <a:solidFill>
                        <a:srgbClr val="2F52A6"/>
                      </a:solidFill>
                    </a:lnR>
                    <a:lnT w="12700">
                      <a:solidFill>
                        <a:srgbClr val="2F52A6"/>
                      </a:solidFill>
                    </a:lnT>
                    <a:lnB w="12700">
                      <a:solidFill>
                        <a:srgbClr val="2F52A6"/>
                      </a:solidFill>
                    </a:lnB>
                    <a:solidFill>
                      <a:srgbClr val="2F52A6"/>
                    </a:solidFill>
                  </a:tcPr>
                </a:tc>
                <a:extLst>
                  <a:ext uri="{0D108BD9-81ED-4DB2-BD59-A6C34878D82A}">
                    <a16:rowId xmlns:a16="http://schemas.microsoft.com/office/drawing/2014/main" val="1156431762"/>
                  </a:ext>
                </a:extLst>
              </a:tr>
              <a:tr h="900080">
                <a:tc>
                  <a:txBody>
                    <a:bodyPr/>
                    <a:lstStyle/>
                    <a:p>
                      <a:pPr marL="0" lvl="0" algn="ctr" defTabSz="914400" rtl="0" eaLnBrk="1" latinLnBrk="0" hangingPunct="1">
                        <a:buNone/>
                      </a:pPr>
                      <a:r>
                        <a:rPr lang="en-US" sz="1600" b="1" i="0" u="none" strike="noStrike" kern="1200">
                          <a:solidFill>
                            <a:srgbClr val="244B91"/>
                          </a:solidFill>
                          <a:latin typeface="Arial" panose="020B0604020202020204" pitchFamily="34" charset="0"/>
                          <a:ea typeface="+mn-ea"/>
                          <a:cs typeface="Arial" panose="020B0604020202020204" pitchFamily="34" charset="0"/>
                        </a:rPr>
                        <a:t>Current Meeting</a:t>
                      </a:r>
                    </a:p>
                  </a:txBody>
                  <a:tcPr anchor="ctr">
                    <a:lnL w="12700">
                      <a:solidFill>
                        <a:srgbClr val="2F52A6"/>
                      </a:solidFill>
                    </a:lnL>
                    <a:lnR w="12700">
                      <a:solidFill>
                        <a:srgbClr val="2F52A6"/>
                      </a:solidFill>
                    </a:lnR>
                    <a:lnT w="12700">
                      <a:solidFill>
                        <a:srgbClr val="2F52A6"/>
                      </a:solidFill>
                    </a:lnT>
                    <a:lnB w="12700">
                      <a:solidFill>
                        <a:srgbClr val="2F52A6"/>
                      </a:solidFill>
                    </a:lnB>
                    <a:solidFill>
                      <a:srgbClr val="D9E4FF"/>
                    </a:solidFill>
                  </a:tcPr>
                </a:tc>
                <a:tc>
                  <a:txBody>
                    <a:bodyPr/>
                    <a:lstStyle/>
                    <a:p>
                      <a:pPr marL="0" lvl="0" algn="ctr" defTabSz="914400" rtl="0" eaLnBrk="1" latinLnBrk="0" hangingPunct="1">
                        <a:buNone/>
                      </a:pPr>
                      <a:r>
                        <a:rPr lang="en-US" sz="1600" b="0" i="0" u="none" strike="noStrike" kern="1200">
                          <a:solidFill>
                            <a:srgbClr val="244B91"/>
                          </a:solidFill>
                          <a:latin typeface="Arial" panose="020B0604020202020204" pitchFamily="34" charset="0"/>
                          <a:ea typeface="+mn-ea"/>
                          <a:cs typeface="Arial" panose="020B0604020202020204" pitchFamily="34" charset="0"/>
                        </a:rPr>
                        <a:t>October 13, 2026</a:t>
                      </a:r>
                    </a:p>
                  </a:txBody>
                  <a:tcPr anchor="ctr">
                    <a:lnL w="12700">
                      <a:solidFill>
                        <a:srgbClr val="2F52A6"/>
                      </a:solidFill>
                    </a:lnL>
                    <a:lnR w="12700">
                      <a:solidFill>
                        <a:srgbClr val="2F52A6"/>
                      </a:solidFill>
                    </a:lnR>
                    <a:lnT w="12700">
                      <a:solidFill>
                        <a:srgbClr val="2F52A6"/>
                      </a:solidFill>
                    </a:lnT>
                    <a:lnB w="12700">
                      <a:solidFill>
                        <a:srgbClr val="2F52A6"/>
                      </a:solidFill>
                    </a:lnB>
                    <a:solidFill>
                      <a:srgbClr val="D9E4FF"/>
                    </a:solidFill>
                  </a:tcPr>
                </a:tc>
                <a:extLst>
                  <a:ext uri="{0D108BD9-81ED-4DB2-BD59-A6C34878D82A}">
                    <a16:rowId xmlns:a16="http://schemas.microsoft.com/office/drawing/2014/main" val="2196726541"/>
                  </a:ext>
                </a:extLst>
              </a:tr>
              <a:tr h="889852">
                <a:tc>
                  <a:txBody>
                    <a:bodyPr/>
                    <a:lstStyle/>
                    <a:p>
                      <a:pPr marL="0" lvl="0" algn="ctr">
                        <a:buNone/>
                      </a:pPr>
                      <a:r>
                        <a:rPr lang="en-US" sz="1600" b="1" i="0" u="none" strike="noStrike" kern="1200">
                          <a:solidFill>
                            <a:srgbClr val="244B91"/>
                          </a:solidFill>
                          <a:latin typeface="Arial"/>
                          <a:ea typeface="+mn-ea"/>
                          <a:cs typeface="Arial"/>
                        </a:rPr>
                        <a:t>Final Readout</a:t>
                      </a:r>
                    </a:p>
                  </a:txBody>
                  <a:tcPr anchor="ctr">
                    <a:lnL w="12700">
                      <a:solidFill>
                        <a:srgbClr val="2F52A6"/>
                      </a:solidFill>
                    </a:lnL>
                    <a:lnR w="12700">
                      <a:solidFill>
                        <a:srgbClr val="2F52A6"/>
                      </a:solidFill>
                    </a:lnR>
                    <a:lnT w="12700">
                      <a:solidFill>
                        <a:srgbClr val="2F52A6"/>
                      </a:solidFill>
                    </a:lnT>
                    <a:lnB w="12700">
                      <a:solidFill>
                        <a:srgbClr val="2F52A6"/>
                      </a:solidFill>
                    </a:lnB>
                    <a:solidFill>
                      <a:srgbClr val="D9E4FF"/>
                    </a:solidFill>
                  </a:tcPr>
                </a:tc>
                <a:tc>
                  <a:txBody>
                    <a:bodyPr/>
                    <a:lstStyle/>
                    <a:p>
                      <a:pPr marL="0" lvl="0" algn="ctr">
                        <a:buNone/>
                      </a:pPr>
                      <a:r>
                        <a:rPr lang="en-US" sz="1600" b="0" i="0" u="none" strike="noStrike" kern="1200">
                          <a:solidFill>
                            <a:srgbClr val="244B91"/>
                          </a:solidFill>
                          <a:latin typeface="Arial"/>
                          <a:ea typeface="+mn-ea"/>
                          <a:cs typeface="Arial"/>
                        </a:rPr>
                        <a:t>TBD</a:t>
                      </a:r>
                    </a:p>
                  </a:txBody>
                  <a:tcPr anchor="ctr">
                    <a:lnL w="12700">
                      <a:solidFill>
                        <a:srgbClr val="2F52A6"/>
                      </a:solidFill>
                    </a:lnL>
                    <a:lnR w="12700">
                      <a:solidFill>
                        <a:srgbClr val="2F52A6"/>
                      </a:solidFill>
                    </a:lnR>
                    <a:lnT w="12700">
                      <a:solidFill>
                        <a:srgbClr val="2F52A6"/>
                      </a:solidFill>
                    </a:lnT>
                    <a:lnB w="12700">
                      <a:solidFill>
                        <a:srgbClr val="2F52A6"/>
                      </a:solidFill>
                    </a:lnB>
                    <a:solidFill>
                      <a:srgbClr val="D9E4FF"/>
                    </a:solidFill>
                  </a:tcPr>
                </a:tc>
                <a:extLst>
                  <a:ext uri="{0D108BD9-81ED-4DB2-BD59-A6C34878D82A}">
                    <a16:rowId xmlns:a16="http://schemas.microsoft.com/office/drawing/2014/main" val="1228979646"/>
                  </a:ext>
                </a:extLst>
              </a:tr>
              <a:tr h="940993">
                <a:tc>
                  <a:txBody>
                    <a:bodyPr/>
                    <a:lstStyle/>
                    <a:p>
                      <a:pPr marL="0" lvl="0" algn="ctr" defTabSz="914400" rtl="0" eaLnBrk="1" latinLnBrk="0" hangingPunct="1">
                        <a:buNone/>
                      </a:pPr>
                      <a:r>
                        <a:rPr lang="en-US" sz="1600" b="1" i="0" u="none" strike="noStrike" kern="1200">
                          <a:solidFill>
                            <a:srgbClr val="244B91"/>
                          </a:solidFill>
                          <a:latin typeface="Arial" panose="020B0604020202020204" pitchFamily="34" charset="0"/>
                          <a:ea typeface="+mn-ea"/>
                          <a:cs typeface="Arial" panose="020B0604020202020204" pitchFamily="34" charset="0"/>
                        </a:rPr>
                        <a:t>Report Finalized</a:t>
                      </a:r>
                    </a:p>
                  </a:txBody>
                  <a:tcPr anchor="ctr">
                    <a:lnL w="12700">
                      <a:solidFill>
                        <a:srgbClr val="2F52A6"/>
                      </a:solidFill>
                    </a:lnL>
                    <a:lnR w="12700">
                      <a:solidFill>
                        <a:srgbClr val="2F52A6"/>
                      </a:solidFill>
                    </a:lnR>
                    <a:lnT w="12700" cap="flat" cmpd="sng" algn="ctr">
                      <a:solidFill>
                        <a:srgbClr val="2F52A6"/>
                      </a:solidFill>
                      <a:prstDash val="solid"/>
                      <a:round/>
                      <a:headEnd type="none" w="med" len="med"/>
                      <a:tailEnd type="none" w="med" len="med"/>
                    </a:lnT>
                    <a:lnB w="12700">
                      <a:solidFill>
                        <a:srgbClr val="2F52A6"/>
                      </a:solidFill>
                    </a:lnB>
                    <a:solidFill>
                      <a:srgbClr val="D9E4FF"/>
                    </a:solidFill>
                  </a:tcPr>
                </a:tc>
                <a:tc>
                  <a:txBody>
                    <a:bodyPr/>
                    <a:lstStyle/>
                    <a:p>
                      <a:pPr marL="0" lvl="0" algn="ctr" defTabSz="914400">
                        <a:buNone/>
                      </a:pPr>
                      <a:r>
                        <a:rPr lang="en-US" sz="1600" b="0" i="0" u="none" strike="noStrike" kern="1200">
                          <a:solidFill>
                            <a:srgbClr val="244B91"/>
                          </a:solidFill>
                          <a:latin typeface="Arial"/>
                          <a:ea typeface="+mn-ea"/>
                          <a:cs typeface="Arial"/>
                        </a:rPr>
                        <a:t>TBD</a:t>
                      </a:r>
                      <a:endParaRPr lang="en-US"/>
                    </a:p>
                  </a:txBody>
                  <a:tcPr anchor="ctr">
                    <a:lnL w="12700">
                      <a:solidFill>
                        <a:srgbClr val="2F52A6"/>
                      </a:solidFill>
                    </a:lnL>
                    <a:lnR w="12700">
                      <a:solidFill>
                        <a:srgbClr val="2F52A6"/>
                      </a:solidFill>
                    </a:lnR>
                    <a:lnT w="12700" cap="flat" cmpd="sng" algn="ctr">
                      <a:solidFill>
                        <a:srgbClr val="2F52A6"/>
                      </a:solidFill>
                      <a:prstDash val="solid"/>
                      <a:round/>
                      <a:headEnd type="none" w="med" len="med"/>
                      <a:tailEnd type="none" w="med" len="med"/>
                    </a:lnT>
                    <a:lnB w="12700">
                      <a:solidFill>
                        <a:srgbClr val="2F52A6"/>
                      </a:solidFill>
                    </a:lnB>
                    <a:solidFill>
                      <a:srgbClr val="D9E4FF"/>
                    </a:solidFill>
                  </a:tcPr>
                </a:tc>
                <a:extLst>
                  <a:ext uri="{0D108BD9-81ED-4DB2-BD59-A6C34878D82A}">
                    <a16:rowId xmlns:a16="http://schemas.microsoft.com/office/drawing/2014/main" val="3469928865"/>
                  </a:ext>
                </a:extLst>
              </a:tr>
              <a:tr h="1084187">
                <a:tc>
                  <a:txBody>
                    <a:bodyPr/>
                    <a:lstStyle/>
                    <a:p>
                      <a:pPr marL="0" lvl="0" algn="ctr" rtl="0" eaLnBrk="1" latinLnBrk="0" hangingPunct="1">
                        <a:buNone/>
                      </a:pPr>
                      <a:r>
                        <a:rPr lang="en-US" sz="1600" b="1" i="0" u="none" strike="noStrike" kern="1200">
                          <a:solidFill>
                            <a:srgbClr val="244B91"/>
                          </a:solidFill>
                          <a:latin typeface="Arial"/>
                          <a:ea typeface="+mn-ea"/>
                          <a:cs typeface="Arial"/>
                        </a:rPr>
                        <a:t>Final Presentation Competition</a:t>
                      </a:r>
                      <a:endParaRPr lang="en-US" sz="1600" b="1" i="0" u="none" strike="noStrike" kern="1200">
                        <a:solidFill>
                          <a:srgbClr val="244B91"/>
                        </a:solidFill>
                        <a:latin typeface="Arial" panose="020B0604020202020204" pitchFamily="34" charset="0"/>
                        <a:ea typeface="+mn-ea"/>
                        <a:cs typeface="Arial" panose="020B0604020202020204" pitchFamily="34" charset="0"/>
                      </a:endParaRPr>
                    </a:p>
                  </a:txBody>
                  <a:tcPr anchor="ctr">
                    <a:lnL w="12700">
                      <a:solidFill>
                        <a:srgbClr val="2F52A6"/>
                      </a:solidFill>
                    </a:lnL>
                    <a:lnR w="12700">
                      <a:solidFill>
                        <a:srgbClr val="2F52A6"/>
                      </a:solidFill>
                    </a:lnR>
                    <a:lnT w="12700">
                      <a:solidFill>
                        <a:srgbClr val="2F52A6"/>
                      </a:solidFill>
                    </a:lnT>
                    <a:lnB w="12700">
                      <a:solidFill>
                        <a:srgbClr val="2F52A6"/>
                      </a:solidFill>
                    </a:lnB>
                    <a:solidFill>
                      <a:srgbClr val="D9E4FF"/>
                    </a:solidFill>
                  </a:tcPr>
                </a:tc>
                <a:tc>
                  <a:txBody>
                    <a:bodyPr/>
                    <a:lstStyle/>
                    <a:p>
                      <a:pPr marL="0" lvl="0" algn="ctr" defTabSz="914400" rtl="0" eaLnBrk="1" latinLnBrk="0" hangingPunct="1">
                        <a:buNone/>
                      </a:pPr>
                      <a:r>
                        <a:rPr lang="en-US" sz="1600" b="0" i="0" u="none" strike="noStrike" kern="1200">
                          <a:solidFill>
                            <a:srgbClr val="244B91"/>
                          </a:solidFill>
                          <a:latin typeface="Arial" panose="020B0604020202020204" pitchFamily="34" charset="0"/>
                          <a:ea typeface="+mn-ea"/>
                          <a:cs typeface="Arial" panose="020B0604020202020204" pitchFamily="34" charset="0"/>
                        </a:rPr>
                        <a:t>December 14, 2026</a:t>
                      </a:r>
                    </a:p>
                  </a:txBody>
                  <a:tcPr anchor="ctr">
                    <a:lnL w="12700">
                      <a:solidFill>
                        <a:srgbClr val="2F52A6"/>
                      </a:solidFill>
                    </a:lnL>
                    <a:lnR w="12700">
                      <a:solidFill>
                        <a:srgbClr val="2F52A6"/>
                      </a:solidFill>
                    </a:lnR>
                    <a:lnT w="12700">
                      <a:solidFill>
                        <a:srgbClr val="2F52A6"/>
                      </a:solidFill>
                    </a:lnT>
                    <a:lnB w="12700">
                      <a:solidFill>
                        <a:srgbClr val="2F52A6"/>
                      </a:solidFill>
                    </a:lnB>
                    <a:solidFill>
                      <a:srgbClr val="D9E4FF"/>
                    </a:solidFill>
                  </a:tcPr>
                </a:tc>
                <a:extLst>
                  <a:ext uri="{0D108BD9-81ED-4DB2-BD59-A6C34878D82A}">
                    <a16:rowId xmlns:a16="http://schemas.microsoft.com/office/drawing/2014/main" val="1059134543"/>
                  </a:ext>
                </a:extLst>
              </a:tr>
            </a:tbl>
          </a:graphicData>
        </a:graphic>
      </p:graphicFrame>
    </p:spTree>
    <p:extLst>
      <p:ext uri="{BB962C8B-B14F-4D97-AF65-F5344CB8AC3E}">
        <p14:creationId xmlns:p14="http://schemas.microsoft.com/office/powerpoint/2010/main" val="27541605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DA3D0F-3CF3-1A4A-D313-F00E34191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1E487-9287-7088-7F74-4EFFDAA4EBE8}"/>
              </a:ext>
            </a:extLst>
          </p:cNvPr>
          <p:cNvSpPr>
            <a:spLocks noGrp="1"/>
          </p:cNvSpPr>
          <p:nvPr>
            <p:ph type="ctrTitle"/>
          </p:nvPr>
        </p:nvSpPr>
        <p:spPr>
          <a:xfrm>
            <a:off x="4673897" y="2930531"/>
            <a:ext cx="2849155" cy="844745"/>
          </a:xfrm>
          <a:noFill/>
          <a:ln w="28575">
            <a:noFill/>
          </a:ln>
        </p:spPr>
        <p:txBody>
          <a:bodyPr vert="horz" lIns="91440" tIns="45720" rIns="91440" bIns="45720" rtlCol="0" anchor="b">
            <a:noAutofit/>
          </a:bodyPr>
          <a:lstStyle/>
          <a:p>
            <a:pPr algn="l"/>
            <a:r>
              <a:rPr lang="en-US" sz="4400">
                <a:solidFill>
                  <a:schemeClr val="bg1"/>
                </a:solidFill>
                <a:latin typeface="Franklin Gothic"/>
                <a:ea typeface="+mj-lt"/>
                <a:cs typeface="+mj-lt"/>
              </a:rPr>
              <a:t>Discussion</a:t>
            </a:r>
            <a:endParaRPr lang="en-US">
              <a:solidFill>
                <a:schemeClr val="bg1"/>
              </a:solidFill>
            </a:endParaRPr>
          </a:p>
        </p:txBody>
      </p:sp>
      <p:pic>
        <p:nvPicPr>
          <p:cNvPr id="4" name="Picture 3" descr="A white circle with black background&#10;&#10;AI-generated content may be incorrect.">
            <a:extLst>
              <a:ext uri="{FF2B5EF4-FFF2-40B4-BE49-F238E27FC236}">
                <a16:creationId xmlns:a16="http://schemas.microsoft.com/office/drawing/2014/main" id="{1B22C268-C3A6-AD18-35F5-50DD137D7570}"/>
              </a:ext>
            </a:extLst>
          </p:cNvPr>
          <p:cNvPicPr>
            <a:picLocks noChangeAspect="1"/>
          </p:cNvPicPr>
          <p:nvPr/>
        </p:nvPicPr>
        <p:blipFill>
          <a:blip r:embed="rId3"/>
          <a:stretch>
            <a:fillRect/>
          </a:stretch>
        </p:blipFill>
        <p:spPr>
          <a:xfrm>
            <a:off x="7917987" y="979715"/>
            <a:ext cx="6875585" cy="6858000"/>
          </a:xfrm>
          <a:prstGeom prst="rect">
            <a:avLst/>
          </a:prstGeom>
        </p:spPr>
      </p:pic>
      <p:pic>
        <p:nvPicPr>
          <p:cNvPr id="5" name="Picture 4" descr="A blue circle with black background&#10;&#10;AI-generated content may be incorrect.">
            <a:extLst>
              <a:ext uri="{FF2B5EF4-FFF2-40B4-BE49-F238E27FC236}">
                <a16:creationId xmlns:a16="http://schemas.microsoft.com/office/drawing/2014/main" id="{83F2768C-ABA0-D399-D085-3F1EFC29C885}"/>
              </a:ext>
            </a:extLst>
          </p:cNvPr>
          <p:cNvPicPr>
            <a:picLocks noChangeAspect="1"/>
          </p:cNvPicPr>
          <p:nvPr/>
        </p:nvPicPr>
        <p:blipFill>
          <a:blip r:embed="rId4"/>
          <a:stretch>
            <a:fillRect/>
          </a:stretch>
        </p:blipFill>
        <p:spPr>
          <a:xfrm>
            <a:off x="8133607" y="2928257"/>
            <a:ext cx="5791200" cy="5791200"/>
          </a:xfrm>
          <a:prstGeom prst="rect">
            <a:avLst/>
          </a:prstGeom>
        </p:spPr>
      </p:pic>
      <p:pic>
        <p:nvPicPr>
          <p:cNvPr id="6" name="Picture 5" descr="A blue circle with black background&#10;&#10;AI-generated content may be incorrect.">
            <a:extLst>
              <a:ext uri="{FF2B5EF4-FFF2-40B4-BE49-F238E27FC236}">
                <a16:creationId xmlns:a16="http://schemas.microsoft.com/office/drawing/2014/main" id="{04302C7D-3DEE-D37D-6649-80D4F5F251C7}"/>
              </a:ext>
            </a:extLst>
          </p:cNvPr>
          <p:cNvPicPr>
            <a:picLocks noChangeAspect="1"/>
          </p:cNvPicPr>
          <p:nvPr/>
        </p:nvPicPr>
        <p:blipFill>
          <a:blip r:embed="rId5"/>
          <a:stretch>
            <a:fillRect/>
          </a:stretch>
        </p:blipFill>
        <p:spPr>
          <a:xfrm>
            <a:off x="8131628" y="4648200"/>
            <a:ext cx="4419600" cy="4419600"/>
          </a:xfrm>
          <a:prstGeom prst="rect">
            <a:avLst/>
          </a:prstGeom>
        </p:spPr>
      </p:pic>
      <p:pic>
        <p:nvPicPr>
          <p:cNvPr id="7" name="Picture 6" descr="Blue text on a black background&#10;&#10;AI-generated content may be incorrect.">
            <a:extLst>
              <a:ext uri="{FF2B5EF4-FFF2-40B4-BE49-F238E27FC236}">
                <a16:creationId xmlns:a16="http://schemas.microsoft.com/office/drawing/2014/main" id="{E2010671-A561-EF40-FCE2-2D6F572E095A}"/>
              </a:ext>
            </a:extLst>
          </p:cNvPr>
          <p:cNvPicPr>
            <a:picLocks noChangeAspect="1"/>
          </p:cNvPicPr>
          <p:nvPr/>
        </p:nvPicPr>
        <p:blipFill>
          <a:blip r:embed="rId6"/>
          <a:stretch>
            <a:fillRect/>
          </a:stretch>
        </p:blipFill>
        <p:spPr>
          <a:xfrm>
            <a:off x="371475" y="86715"/>
            <a:ext cx="5353050" cy="895350"/>
          </a:xfrm>
          <a:prstGeom prst="rect">
            <a:avLst/>
          </a:prstGeom>
        </p:spPr>
      </p:pic>
      <p:sp>
        <p:nvSpPr>
          <p:cNvPr id="12" name="Content Placeholder 2">
            <a:extLst>
              <a:ext uri="{FF2B5EF4-FFF2-40B4-BE49-F238E27FC236}">
                <a16:creationId xmlns:a16="http://schemas.microsoft.com/office/drawing/2014/main" id="{BF19CCB6-ED36-005B-64FF-F5D24F1E76D3}"/>
              </a:ext>
            </a:extLst>
          </p:cNvPr>
          <p:cNvSpPr txBox="1">
            <a:spLocks/>
          </p:cNvSpPr>
          <p:nvPr/>
        </p:nvSpPr>
        <p:spPr>
          <a:xfrm>
            <a:off x="366500" y="2408858"/>
            <a:ext cx="7452151" cy="2438032"/>
          </a:xfrm>
          <a:prstGeom prst="rect">
            <a:avLst/>
          </a:prstGeom>
          <a:noFill/>
          <a:ln w="28575">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aleway"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aleway"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aleway"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solidFill>
                  <a:srgbClr val="244B91"/>
                </a:solidFill>
                <a:latin typeface="Arial Nova"/>
              </a:rPr>
              <a:t>Estimate how long it might take for fiscal space to grow</a:t>
            </a:r>
            <a:endParaRPr lang="en-US">
              <a:solidFill>
                <a:srgbClr val="244B91"/>
              </a:solidFill>
            </a:endParaRPr>
          </a:p>
          <a:p>
            <a:pPr>
              <a:lnSpc>
                <a:spcPct val="170000"/>
              </a:lnSpc>
            </a:pPr>
            <a:r>
              <a:rPr lang="en-US">
                <a:solidFill>
                  <a:srgbClr val="244B91"/>
                </a:solidFill>
                <a:latin typeface="Arial Nova"/>
              </a:rPr>
              <a:t>Model various concessional loan terms and their impact </a:t>
            </a:r>
            <a:endParaRPr lang="en-US">
              <a:solidFill>
                <a:srgbClr val="244B91"/>
              </a:solidFill>
            </a:endParaRPr>
          </a:p>
          <a:p>
            <a:pPr>
              <a:lnSpc>
                <a:spcPct val="170000"/>
              </a:lnSpc>
            </a:pPr>
            <a:r>
              <a:rPr lang="en-US">
                <a:solidFill>
                  <a:srgbClr val="244B91"/>
                </a:solidFill>
                <a:latin typeface="Arial Nova"/>
              </a:rPr>
              <a:t>Work on the written report and final presentation</a:t>
            </a:r>
          </a:p>
          <a:p>
            <a:pPr>
              <a:lnSpc>
                <a:spcPct val="170000"/>
              </a:lnSpc>
            </a:pPr>
            <a:r>
              <a:rPr lang="en-US">
                <a:solidFill>
                  <a:srgbClr val="244B91"/>
                </a:solidFill>
                <a:latin typeface="Arial Nova"/>
              </a:rPr>
              <a:t>Anything else?</a:t>
            </a:r>
          </a:p>
        </p:txBody>
      </p:sp>
      <p:sp>
        <p:nvSpPr>
          <p:cNvPr id="15" name="Content Placeholder 2">
            <a:extLst>
              <a:ext uri="{FF2B5EF4-FFF2-40B4-BE49-F238E27FC236}">
                <a16:creationId xmlns:a16="http://schemas.microsoft.com/office/drawing/2014/main" id="{3F08777C-7B0F-5B5C-2688-FC865EDDD458}"/>
              </a:ext>
            </a:extLst>
          </p:cNvPr>
          <p:cNvSpPr txBox="1">
            <a:spLocks/>
          </p:cNvSpPr>
          <p:nvPr/>
        </p:nvSpPr>
        <p:spPr>
          <a:xfrm>
            <a:off x="371447" y="1691390"/>
            <a:ext cx="7165164" cy="716110"/>
          </a:xfrm>
          <a:prstGeom prst="rect">
            <a:avLst/>
          </a:prstGeom>
          <a:noFill/>
          <a:ln w="28575">
            <a:noFill/>
          </a:ln>
        </p:spPr>
        <p:txBody>
          <a:bodyPr vert="horz" lIns="91440" tIns="45720" rIns="91440" bIns="45720" rtlCol="0" anchor="ct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aleway"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aleway"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aleway"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None/>
            </a:pPr>
            <a:r>
              <a:rPr lang="en-US" sz="4400" u="sng">
                <a:solidFill>
                  <a:srgbClr val="244B91"/>
                </a:solidFill>
                <a:latin typeface="Franklin Gothic"/>
                <a:ea typeface="+mj-lt"/>
                <a:cs typeface="+mj-lt"/>
              </a:rPr>
              <a:t>Next Steps and Discussion</a:t>
            </a:r>
          </a:p>
        </p:txBody>
      </p:sp>
    </p:spTree>
    <p:extLst>
      <p:ext uri="{BB962C8B-B14F-4D97-AF65-F5344CB8AC3E}">
        <p14:creationId xmlns:p14="http://schemas.microsoft.com/office/powerpoint/2010/main" val="20458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5DF683-8CB0-F03D-3A35-54FC7E4686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6728BD-5E85-D9B0-807A-9DA9F3DDA0E7}"/>
              </a:ext>
            </a:extLst>
          </p:cNvPr>
          <p:cNvSpPr>
            <a:spLocks noGrp="1"/>
          </p:cNvSpPr>
          <p:nvPr>
            <p:ph type="sldNum" sz="quarter" idx="12"/>
          </p:nvPr>
        </p:nvSpPr>
        <p:spPr/>
        <p:txBody>
          <a:bodyPr/>
          <a:lstStyle/>
          <a:p>
            <a:fld id="{330EA680-D336-4FF7-8B7A-9848BB0A1C32}" type="slidenum">
              <a:rPr lang="en-US" smtClean="0"/>
              <a:t>39</a:t>
            </a:fld>
            <a:endParaRPr lang="en-US"/>
          </a:p>
        </p:txBody>
      </p:sp>
      <p:pic>
        <p:nvPicPr>
          <p:cNvPr id="8" name="Picture 7" descr="Yale Jackson School of Global Affairs - Wikipedia">
            <a:extLst>
              <a:ext uri="{FF2B5EF4-FFF2-40B4-BE49-F238E27FC236}">
                <a16:creationId xmlns:a16="http://schemas.microsoft.com/office/drawing/2014/main" id="{22208C71-CD50-4385-4C18-0FC4207D7089}"/>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E9D70130-D1CD-606E-3F3D-2260E23085E2}"/>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7" name="Content Placeholder 2">
            <a:extLst>
              <a:ext uri="{FF2B5EF4-FFF2-40B4-BE49-F238E27FC236}">
                <a16:creationId xmlns:a16="http://schemas.microsoft.com/office/drawing/2014/main" id="{26CDD554-26BC-806F-2282-B70D8654C775}"/>
              </a:ext>
            </a:extLst>
          </p:cNvPr>
          <p:cNvSpPr>
            <a:spLocks noGrp="1"/>
          </p:cNvSpPr>
          <p:nvPr>
            <p:ph idx="1"/>
          </p:nvPr>
        </p:nvSpPr>
        <p:spPr>
          <a:xfrm>
            <a:off x="961018" y="1373768"/>
            <a:ext cx="9744549" cy="4741779"/>
          </a:xfrm>
          <a:solidFill>
            <a:srgbClr val="DDE7F8"/>
          </a:solidFill>
          <a:ln w="28575">
            <a:noFill/>
          </a:ln>
        </p:spPr>
        <p:txBody>
          <a:bodyPr vert="horz" lIns="91440" tIns="45720" rIns="91440" bIns="45720" rtlCol="0" anchor="t">
            <a:noAutofit/>
          </a:bodyPr>
          <a:lstStyle/>
          <a:p>
            <a:pPr>
              <a:lnSpc>
                <a:spcPct val="170000"/>
              </a:lnSpc>
            </a:pPr>
            <a:r>
              <a:rPr lang="en-US" sz="1200" b="1" u="sng">
                <a:solidFill>
                  <a:srgbClr val="244B91"/>
                </a:solidFill>
                <a:latin typeface="Arial"/>
                <a:cs typeface="Arial"/>
              </a:rPr>
              <a:t>Finding 1: Cuts were uneven relative to need and capacity</a:t>
            </a:r>
            <a:endParaRPr lang="en-US" sz="1200" u="sng">
              <a:solidFill>
                <a:srgbClr val="244B91"/>
              </a:solidFill>
              <a:latin typeface="Arial"/>
              <a:cs typeface="Arial"/>
            </a:endParaRPr>
          </a:p>
          <a:p>
            <a:pPr lvl="1">
              <a:lnSpc>
                <a:spcPct val="170000"/>
              </a:lnSpc>
              <a:buFont typeface="Courier New" panose="020B0604020202020204" pitchFamily="34" charset="0"/>
              <a:buChar char="o"/>
            </a:pPr>
            <a:r>
              <a:rPr lang="en-US" sz="1200">
                <a:solidFill>
                  <a:srgbClr val="244B91"/>
                </a:solidFill>
                <a:latin typeface="Arial"/>
                <a:cs typeface="Arial"/>
              </a:rPr>
              <a:t>Projected OECD cuts for 2026 averaged about 15% of last reported data, regardless of income or debt burden</a:t>
            </a:r>
          </a:p>
          <a:p>
            <a:pPr lvl="1">
              <a:lnSpc>
                <a:spcPct val="170000"/>
              </a:lnSpc>
              <a:buFont typeface="Courier New" panose="020B0604020202020204" pitchFamily="34" charset="0"/>
              <a:buChar char="o"/>
            </a:pPr>
            <a:r>
              <a:rPr lang="en-US" sz="1200" b="1" u="sng">
                <a:solidFill>
                  <a:srgbClr val="244B91"/>
                </a:solidFill>
                <a:latin typeface="Arial"/>
                <a:cs typeface="Arial"/>
              </a:rPr>
              <a:t>Recommendation:</a:t>
            </a:r>
            <a:r>
              <a:rPr lang="en-US" sz="1200">
                <a:solidFill>
                  <a:srgbClr val="244B91"/>
                </a:solidFill>
                <a:latin typeface="Arial"/>
                <a:cs typeface="Arial"/>
              </a:rPr>
              <a:t> Resolutions need to be intentional to provide tailored responses based on a countries' current need and ability to adapt</a:t>
            </a:r>
          </a:p>
          <a:p>
            <a:pPr>
              <a:lnSpc>
                <a:spcPct val="170000"/>
              </a:lnSpc>
            </a:pPr>
            <a:r>
              <a:rPr lang="en-US" sz="1200" b="1" u="sng">
                <a:solidFill>
                  <a:srgbClr val="244B91"/>
                </a:solidFill>
                <a:latin typeface="Arial"/>
                <a:cs typeface="Arial"/>
              </a:rPr>
              <a:t>Finding 2: Domestic revenue growth is unlikely to resolve shortfalls</a:t>
            </a:r>
            <a:endParaRPr lang="en-US" sz="1200" u="sng">
              <a:solidFill>
                <a:srgbClr val="244B91"/>
              </a:solidFill>
              <a:latin typeface="Arial"/>
              <a:cs typeface="Arial"/>
            </a:endParaRPr>
          </a:p>
          <a:p>
            <a:pPr lvl="1">
              <a:lnSpc>
                <a:spcPct val="170000"/>
              </a:lnSpc>
              <a:buFont typeface="Courier New" panose="020B0604020202020204" pitchFamily="34" charset="0"/>
              <a:buChar char="o"/>
            </a:pPr>
            <a:r>
              <a:rPr lang="en-US" sz="1200">
                <a:solidFill>
                  <a:srgbClr val="244B91"/>
                </a:solidFill>
                <a:latin typeface="Arial"/>
                <a:cs typeface="Arial"/>
              </a:rPr>
              <a:t>Max tax potential covers the decline in 51 of 66 countries. The other 15 also need to raise health’s share of the budget, which is hard for countries starting at 1 to 2%.</a:t>
            </a:r>
          </a:p>
          <a:p>
            <a:pPr lvl="1">
              <a:lnSpc>
                <a:spcPct val="170000"/>
              </a:lnSpc>
              <a:buFont typeface="Courier New" panose="020B0604020202020204" pitchFamily="34" charset="0"/>
              <a:buChar char="o"/>
            </a:pPr>
            <a:r>
              <a:rPr lang="en-US" sz="1200" b="1" u="sng">
                <a:solidFill>
                  <a:srgbClr val="244B91"/>
                </a:solidFill>
                <a:latin typeface="Arial"/>
                <a:cs typeface="Arial"/>
              </a:rPr>
              <a:t>Recommendation:</a:t>
            </a:r>
            <a:r>
              <a:rPr lang="en-US" sz="1200">
                <a:solidFill>
                  <a:srgbClr val="244B91"/>
                </a:solidFill>
                <a:latin typeface="Arial"/>
                <a:cs typeface="Arial"/>
              </a:rPr>
              <a:t> Aid recipients should pursue both revenue growth and budget reprioritization</a:t>
            </a:r>
          </a:p>
          <a:p>
            <a:pPr>
              <a:lnSpc>
                <a:spcPct val="170000"/>
              </a:lnSpc>
            </a:pPr>
            <a:r>
              <a:rPr lang="en-US" sz="1200" b="1" u="sng">
                <a:solidFill>
                  <a:srgbClr val="244B91"/>
                </a:solidFill>
                <a:latin typeface="Arial"/>
                <a:cs typeface="Arial"/>
              </a:rPr>
              <a:t>Finding 3: Foreign dependency makes some programs and countries especially exposed</a:t>
            </a:r>
            <a:endParaRPr lang="en-US" sz="1200" u="sng">
              <a:solidFill>
                <a:srgbClr val="244B91"/>
              </a:solidFill>
              <a:latin typeface="Arial"/>
              <a:cs typeface="Arial"/>
            </a:endParaRPr>
          </a:p>
          <a:p>
            <a:pPr lvl="1">
              <a:lnSpc>
                <a:spcPct val="170000"/>
              </a:lnSpc>
              <a:buFont typeface="Courier New" panose="020B0604020202020204" pitchFamily="34" charset="0"/>
              <a:buChar char="o"/>
            </a:pPr>
            <a:r>
              <a:rPr lang="en-US" sz="1200">
                <a:solidFill>
                  <a:srgbClr val="244B91"/>
                </a:solidFill>
                <a:latin typeface="Arial"/>
                <a:cs typeface="Arial"/>
              </a:rPr>
              <a:t>Programs like TB, malaria and HIV rely heavily on donor funds, and the US share of HIV treatment aid is 80% or more in 12 of 19 countries.</a:t>
            </a:r>
          </a:p>
          <a:p>
            <a:pPr lvl="1">
              <a:lnSpc>
                <a:spcPct val="170000"/>
              </a:lnSpc>
              <a:buFont typeface="Courier New" panose="020B0604020202020204" pitchFamily="34" charset="0"/>
              <a:buChar char="o"/>
            </a:pPr>
            <a:r>
              <a:rPr lang="en-US" sz="1200" b="1" u="sng">
                <a:solidFill>
                  <a:srgbClr val="244B91"/>
                </a:solidFill>
                <a:latin typeface="Arial"/>
                <a:cs typeface="Arial"/>
              </a:rPr>
              <a:t>Recommendation:</a:t>
            </a:r>
            <a:r>
              <a:rPr lang="en-US" sz="1200" u="sng">
                <a:solidFill>
                  <a:srgbClr val="244B91"/>
                </a:solidFill>
                <a:latin typeface="Arial"/>
                <a:cs typeface="Arial"/>
              </a:rPr>
              <a:t> </a:t>
            </a:r>
            <a:r>
              <a:rPr lang="en-US" sz="1200">
                <a:solidFill>
                  <a:srgbClr val="244B91"/>
                </a:solidFill>
                <a:latin typeface="Arial"/>
                <a:cs typeface="Arial"/>
              </a:rPr>
              <a:t>Remaining donor funds should be intentional to target health programs unlikely to be adapted by domestic spending</a:t>
            </a:r>
          </a:p>
        </p:txBody>
      </p:sp>
      <p:sp>
        <p:nvSpPr>
          <p:cNvPr id="5" name="Title 1">
            <a:extLst>
              <a:ext uri="{FF2B5EF4-FFF2-40B4-BE49-F238E27FC236}">
                <a16:creationId xmlns:a16="http://schemas.microsoft.com/office/drawing/2014/main" id="{A36CCB98-EE10-D71B-2FAD-9AFF68BDF884}"/>
              </a:ext>
            </a:extLst>
          </p:cNvPr>
          <p:cNvSpPr txBox="1">
            <a:spLocks/>
          </p:cNvSpPr>
          <p:nvPr/>
        </p:nvSpPr>
        <p:spPr>
          <a:xfrm>
            <a:off x="-34642" y="-61975"/>
            <a:ext cx="12456680" cy="1010253"/>
          </a:xfrm>
          <a:prstGeom prst="rect">
            <a:avLst/>
          </a:prstGeom>
          <a:solidFill>
            <a:srgbClr val="1C3073"/>
          </a:solidFill>
          <a:ln w="28575">
            <a:solidFill>
              <a:srgbClr val="1C3073"/>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Raleway" pitchFamily="2" charset="77"/>
                <a:ea typeface="+mj-ea"/>
                <a:cs typeface="+mj-cs"/>
              </a:defRPr>
            </a:lvl1pPr>
          </a:lstStyle>
          <a:p>
            <a:r>
              <a:rPr lang="en-US" sz="3200">
                <a:solidFill>
                  <a:schemeClr val="bg1"/>
                </a:solidFill>
                <a:latin typeface="Franklin Gothic"/>
                <a:ea typeface="+mj-lt"/>
                <a:cs typeface="+mj-lt"/>
              </a:rPr>
              <a:t> Executive Summary</a:t>
            </a:r>
          </a:p>
        </p:txBody>
      </p:sp>
    </p:spTree>
    <p:extLst>
      <p:ext uri="{BB962C8B-B14F-4D97-AF65-F5344CB8AC3E}">
        <p14:creationId xmlns:p14="http://schemas.microsoft.com/office/powerpoint/2010/main" val="1326081282"/>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752A07-3B78-0DAF-F7B6-8D9E68249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16862-D86A-CC0F-046F-32C6B9EC42C1}"/>
              </a:ext>
            </a:extLst>
          </p:cNvPr>
          <p:cNvSpPr>
            <a:spLocks noGrp="1"/>
          </p:cNvSpPr>
          <p:nvPr>
            <p:ph type="title"/>
          </p:nvPr>
        </p:nvSpPr>
        <p:spPr>
          <a:xfrm>
            <a:off x="-21988" y="-58259"/>
            <a:ext cx="12444026" cy="1012771"/>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a:ea typeface="+mj-lt"/>
                <a:cs typeface="+mj-lt"/>
              </a:rPr>
              <a:t> Dashboard-nModeling the cuts</a:t>
            </a:r>
          </a:p>
        </p:txBody>
      </p:sp>
      <p:sp>
        <p:nvSpPr>
          <p:cNvPr id="3" name="Content Placeholder 2">
            <a:extLst>
              <a:ext uri="{FF2B5EF4-FFF2-40B4-BE49-F238E27FC236}">
                <a16:creationId xmlns:a16="http://schemas.microsoft.com/office/drawing/2014/main" id="{35B81EF6-1E66-C9C9-4BF0-477DC3F093C5}"/>
              </a:ext>
            </a:extLst>
          </p:cNvPr>
          <p:cNvSpPr>
            <a:spLocks noGrp="1"/>
          </p:cNvSpPr>
          <p:nvPr>
            <p:ph idx="1"/>
          </p:nvPr>
        </p:nvSpPr>
        <p:spPr/>
        <p:txBody>
          <a:bodyPr vert="horz" lIns="91440" tIns="45720" rIns="91440" bIns="45720" rtlCol="0" anchor="t">
            <a:normAutofit/>
          </a:bodyPr>
          <a:lstStyle/>
          <a:p>
            <a:r>
              <a:rPr lang="en-US">
                <a:latin typeface="Arial Nova"/>
              </a:rPr>
              <a:t>Nick/Jiya</a:t>
            </a:r>
          </a:p>
          <a:p>
            <a:r>
              <a:rPr lang="en-US">
                <a:latin typeface="Arial Nova"/>
              </a:rPr>
              <a:t>(1) Full US Exit</a:t>
            </a:r>
          </a:p>
          <a:p>
            <a:pPr lvl="1">
              <a:buFont typeface="Courier New" panose="020B0604020202020204" pitchFamily="34" charset="0"/>
              <a:buChar char="o"/>
            </a:pPr>
            <a:r>
              <a:rPr lang="en-US">
                <a:latin typeface="Arial Nova"/>
              </a:rPr>
              <a:t>If US funding through all multilaterals, and through bilateral agreements was cut</a:t>
            </a:r>
          </a:p>
          <a:p>
            <a:pPr lvl="1">
              <a:buFont typeface="Courier New" panose="020B0604020202020204" pitchFamily="34" charset="0"/>
              <a:buChar char="o"/>
            </a:pPr>
            <a:r>
              <a:rPr lang="en-US">
                <a:latin typeface="Arial Nova"/>
              </a:rPr>
              <a:t>Modeled using IHME Data, averaged over 2021-2025 funding levels, inflation-adjusted over time</a:t>
            </a:r>
          </a:p>
          <a:p>
            <a:r>
              <a:rPr lang="en-US">
                <a:latin typeface="Arial Nova"/>
              </a:rPr>
              <a:t>(2) America First MOUs</a:t>
            </a:r>
          </a:p>
          <a:p>
            <a:pPr lvl="1">
              <a:buFont typeface="Courier New" panose="020B0604020202020204" pitchFamily="34" charset="0"/>
              <a:buChar char="o"/>
            </a:pPr>
            <a:r>
              <a:rPr lang="en-US">
                <a:latin typeface="Arial Nova"/>
              </a:rPr>
              <a:t>Modeling the changes to US funding through bilateral agreements based on deductions to MOUs</a:t>
            </a:r>
          </a:p>
          <a:p>
            <a:endParaRPr lang="en-US">
              <a:latin typeface="Arial Nova"/>
            </a:endParaRPr>
          </a:p>
          <a:p>
            <a:endParaRPr lang="en-US">
              <a:latin typeface="Arial Nova"/>
            </a:endParaRPr>
          </a:p>
        </p:txBody>
      </p:sp>
      <p:sp>
        <p:nvSpPr>
          <p:cNvPr id="4" name="Slide Number Placeholder 3">
            <a:extLst>
              <a:ext uri="{FF2B5EF4-FFF2-40B4-BE49-F238E27FC236}">
                <a16:creationId xmlns:a16="http://schemas.microsoft.com/office/drawing/2014/main" id="{7BC23BDD-8AF8-A064-4732-5EDAFFA0C947}"/>
              </a:ext>
            </a:extLst>
          </p:cNvPr>
          <p:cNvSpPr>
            <a:spLocks noGrp="1"/>
          </p:cNvSpPr>
          <p:nvPr>
            <p:ph type="sldNum" sz="quarter" idx="12"/>
          </p:nvPr>
        </p:nvSpPr>
        <p:spPr/>
        <p:txBody>
          <a:bodyPr/>
          <a:lstStyle/>
          <a:p>
            <a:fld id="{330EA680-D336-4FF7-8B7A-9848BB0A1C32}" type="slidenum">
              <a:rPr lang="en-US" smtClean="0"/>
              <a:t>40</a:t>
            </a:fld>
            <a:endParaRPr lang="en-US"/>
          </a:p>
        </p:txBody>
      </p:sp>
      <p:pic>
        <p:nvPicPr>
          <p:cNvPr id="8" name="Picture 7" descr="Yale Jackson School of Global Affairs - Wikipedia">
            <a:extLst>
              <a:ext uri="{FF2B5EF4-FFF2-40B4-BE49-F238E27FC236}">
                <a16:creationId xmlns:a16="http://schemas.microsoft.com/office/drawing/2014/main" id="{BEF4AAB7-D0D5-1AF9-3B7A-7FB9CFBB3085}"/>
              </a:ext>
            </a:extLst>
          </p:cNvPr>
          <p:cNvPicPr>
            <a:picLocks noChangeAspect="1"/>
          </p:cNvPicPr>
          <p:nvPr/>
        </p:nvPicPr>
        <p:blipFill>
          <a:blip r:embed="rId4"/>
          <a:srcRect/>
          <a:stretch>
            <a:fillRect/>
          </a:stretch>
        </p:blipFill>
        <p:spPr>
          <a:xfrm>
            <a:off x="338944" y="6257970"/>
            <a:ext cx="491134" cy="465099"/>
          </a:xfrm>
          <a:prstGeom prst="rect">
            <a:avLst/>
          </a:prstGeom>
        </p:spPr>
      </p:pic>
      <p:pic>
        <p:nvPicPr>
          <p:cNvPr id="10" name="Picture 9" descr="Yale Jackson School of Global Affairs - National Peace Corps Association">
            <a:extLst>
              <a:ext uri="{FF2B5EF4-FFF2-40B4-BE49-F238E27FC236}">
                <a16:creationId xmlns:a16="http://schemas.microsoft.com/office/drawing/2014/main" id="{E6301BFF-F0BD-FF28-C45A-00831A2181AD}"/>
              </a:ext>
            </a:extLst>
          </p:cNvPr>
          <p:cNvPicPr>
            <a:picLocks noChangeAspect="1"/>
          </p:cNvPicPr>
          <p:nvPr/>
        </p:nvPicPr>
        <p:blipFill>
          <a:blip r:embed="rId5"/>
          <a:srcRect l="-3079" t="-13043" r="-4016" b="-14493"/>
          <a:stretch>
            <a:fillRect/>
          </a:stretch>
        </p:blipFill>
        <p:spPr>
          <a:xfrm>
            <a:off x="826286" y="6258187"/>
            <a:ext cx="2419332" cy="564644"/>
          </a:xfrm>
          <a:prstGeom prst="rect">
            <a:avLst/>
          </a:prstGeom>
        </p:spPr>
      </p:pic>
    </p:spTree>
    <p:extLst>
      <p:ext uri="{BB962C8B-B14F-4D97-AF65-F5344CB8AC3E}">
        <p14:creationId xmlns:p14="http://schemas.microsoft.com/office/powerpoint/2010/main" val="3488645737"/>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EC9643-B123-E6CD-A673-0E78FEB5DB3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D789B5-5425-7BCB-3AB0-7CF1D6217F05}"/>
              </a:ext>
            </a:extLst>
          </p:cNvPr>
          <p:cNvSpPr>
            <a:spLocks noGrp="1"/>
          </p:cNvSpPr>
          <p:nvPr>
            <p:ph type="sldNum" sz="quarter" idx="12"/>
          </p:nvPr>
        </p:nvSpPr>
        <p:spPr/>
        <p:txBody>
          <a:bodyPr/>
          <a:lstStyle/>
          <a:p>
            <a:fld id="{330EA680-D336-4FF7-8B7A-9848BB0A1C32}" type="slidenum">
              <a:rPr lang="en-US" smtClean="0"/>
              <a:t>41</a:t>
            </a:fld>
            <a:endParaRPr lang="en-US"/>
          </a:p>
        </p:txBody>
      </p:sp>
      <p:pic>
        <p:nvPicPr>
          <p:cNvPr id="6" name="Picture 5" descr="Yale Jackson School of Global Affairs - Wikipedia">
            <a:extLst>
              <a:ext uri="{FF2B5EF4-FFF2-40B4-BE49-F238E27FC236}">
                <a16:creationId xmlns:a16="http://schemas.microsoft.com/office/drawing/2014/main" id="{11DC4C7E-E0A1-BC1B-D25E-E13F2B4435AA}"/>
              </a:ext>
            </a:extLst>
          </p:cNvPr>
          <p:cNvPicPr>
            <a:picLocks noChangeAspect="1"/>
          </p:cNvPicPr>
          <p:nvPr/>
        </p:nvPicPr>
        <p:blipFill>
          <a:blip r:embed="rId3"/>
          <a:srcRect/>
          <a:stretch>
            <a:fillRect/>
          </a:stretch>
        </p:blipFill>
        <p:spPr>
          <a:xfrm>
            <a:off x="338944" y="6257970"/>
            <a:ext cx="491134" cy="465099"/>
          </a:xfrm>
          <a:prstGeom prst="rect">
            <a:avLst/>
          </a:prstGeom>
        </p:spPr>
      </p:pic>
      <p:pic>
        <p:nvPicPr>
          <p:cNvPr id="8" name="Picture 7" descr="Yale Jackson School of Global Affairs - National Peace Corps Association">
            <a:extLst>
              <a:ext uri="{FF2B5EF4-FFF2-40B4-BE49-F238E27FC236}">
                <a16:creationId xmlns:a16="http://schemas.microsoft.com/office/drawing/2014/main" id="{9924C490-72C9-7DAD-0771-F0633F4283B8}"/>
              </a:ext>
            </a:extLst>
          </p:cNvPr>
          <p:cNvPicPr>
            <a:picLocks noChangeAspect="1"/>
          </p:cNvPicPr>
          <p:nvPr/>
        </p:nvPicPr>
        <p:blipFill>
          <a:blip r:embed="rId4"/>
          <a:srcRect l="-3079" t="-13043" r="-4016" b="-14493"/>
          <a:stretch>
            <a:fillRect/>
          </a:stretch>
        </p:blipFill>
        <p:spPr>
          <a:xfrm>
            <a:off x="826286" y="6258187"/>
            <a:ext cx="2419332" cy="564644"/>
          </a:xfrm>
          <a:prstGeom prst="rect">
            <a:avLst/>
          </a:prstGeom>
        </p:spPr>
      </p:pic>
      <p:sp>
        <p:nvSpPr>
          <p:cNvPr id="10" name="Title 1">
            <a:extLst>
              <a:ext uri="{FF2B5EF4-FFF2-40B4-BE49-F238E27FC236}">
                <a16:creationId xmlns:a16="http://schemas.microsoft.com/office/drawing/2014/main" id="{3BF48DEE-7707-DEA2-DDA4-7F93D77C26C5}"/>
              </a:ext>
            </a:extLst>
          </p:cNvPr>
          <p:cNvSpPr>
            <a:spLocks noGrp="1"/>
          </p:cNvSpPr>
          <p:nvPr>
            <p:ph type="title"/>
          </p:nvPr>
        </p:nvSpPr>
        <p:spPr>
          <a:xfrm>
            <a:off x="-2628" y="2518"/>
            <a:ext cx="12226642" cy="1010253"/>
          </a:xfrm>
          <a:solidFill>
            <a:srgbClr val="1C3073"/>
          </a:solidFill>
          <a:ln w="57150">
            <a:solidFill>
              <a:srgbClr val="1B2F73"/>
            </a:solidFill>
          </a:ln>
        </p:spPr>
        <p:txBody>
          <a:bodyPr vert="horz" lIns="91440" tIns="45720" rIns="91440" bIns="45720" rtlCol="0" anchor="ctr">
            <a:normAutofit/>
          </a:bodyPr>
          <a:lstStyle/>
          <a:p>
            <a:r>
              <a:rPr lang="en-US" sz="3200">
                <a:solidFill>
                  <a:schemeClr val="bg1"/>
                </a:solidFill>
                <a:latin typeface="Franklin Gothic Medium"/>
                <a:ea typeface="+mj-lt"/>
                <a:cs typeface="+mj-lt"/>
              </a:rPr>
              <a:t> Dashboard – Modeling the aid retreat</a:t>
            </a:r>
          </a:p>
        </p:txBody>
      </p:sp>
      <p:pic>
        <p:nvPicPr>
          <p:cNvPr id="7" name="Picture 6" descr="A screenshot of a computer screen&#10;&#10;AI-generated content may be incorrect.">
            <a:extLst>
              <a:ext uri="{FF2B5EF4-FFF2-40B4-BE49-F238E27FC236}">
                <a16:creationId xmlns:a16="http://schemas.microsoft.com/office/drawing/2014/main" id="{C998A7DE-E4A2-FD7B-DF76-1FFFFD2B9ACE}"/>
              </a:ext>
            </a:extLst>
          </p:cNvPr>
          <p:cNvPicPr>
            <a:picLocks noChangeAspect="1"/>
          </p:cNvPicPr>
          <p:nvPr/>
        </p:nvPicPr>
        <p:blipFill>
          <a:blip r:embed="rId5"/>
          <a:stretch>
            <a:fillRect/>
          </a:stretch>
        </p:blipFill>
        <p:spPr>
          <a:xfrm>
            <a:off x="4679231" y="1839208"/>
            <a:ext cx="7515520" cy="3870882"/>
          </a:xfrm>
          <a:prstGeom prst="rect">
            <a:avLst/>
          </a:prstGeom>
        </p:spPr>
      </p:pic>
      <p:pic>
        <p:nvPicPr>
          <p:cNvPr id="9" name="Picture 8" descr="A black background with math symbols&#10;&#10;AI-generated content may be incorrect.">
            <a:extLst>
              <a:ext uri="{FF2B5EF4-FFF2-40B4-BE49-F238E27FC236}">
                <a16:creationId xmlns:a16="http://schemas.microsoft.com/office/drawing/2014/main" id="{72C3BE5C-F84F-5147-B1EA-1EFD7588CE80}"/>
              </a:ext>
            </a:extLst>
          </p:cNvPr>
          <p:cNvPicPr>
            <a:picLocks noChangeAspect="1"/>
          </p:cNvPicPr>
          <p:nvPr/>
        </p:nvPicPr>
        <p:blipFill>
          <a:blip r:embed="rId6"/>
          <a:stretch>
            <a:fillRect/>
          </a:stretch>
        </p:blipFill>
        <p:spPr>
          <a:xfrm>
            <a:off x="-267878" y="1681113"/>
            <a:ext cx="5029200" cy="2286000"/>
          </a:xfrm>
          <a:prstGeom prst="rect">
            <a:avLst/>
          </a:prstGeom>
        </p:spPr>
      </p:pic>
      <p:pic>
        <p:nvPicPr>
          <p:cNvPr id="11" name="Picture 10" descr="A black text on a white background&#10;&#10;AI-generated content may be incorrect.">
            <a:extLst>
              <a:ext uri="{FF2B5EF4-FFF2-40B4-BE49-F238E27FC236}">
                <a16:creationId xmlns:a16="http://schemas.microsoft.com/office/drawing/2014/main" id="{332B2A4C-6EAF-7D74-C40C-AA442A09A876}"/>
              </a:ext>
            </a:extLst>
          </p:cNvPr>
          <p:cNvPicPr>
            <a:picLocks noChangeAspect="1"/>
          </p:cNvPicPr>
          <p:nvPr/>
        </p:nvPicPr>
        <p:blipFill>
          <a:blip r:embed="rId7"/>
          <a:stretch>
            <a:fillRect/>
          </a:stretch>
        </p:blipFill>
        <p:spPr>
          <a:xfrm>
            <a:off x="368333" y="4404870"/>
            <a:ext cx="4196695" cy="1261228"/>
          </a:xfrm>
          <a:prstGeom prst="rect">
            <a:avLst/>
          </a:prstGeom>
        </p:spPr>
      </p:pic>
    </p:spTree>
    <p:extLst>
      <p:ext uri="{BB962C8B-B14F-4D97-AF65-F5344CB8AC3E}">
        <p14:creationId xmlns:p14="http://schemas.microsoft.com/office/powerpoint/2010/main" val="38676729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784820"/>
            <a:ext cx="10883392" cy="405077"/>
          </a:xfrm>
          <a:prstGeom prst="rect">
            <a:avLst/>
          </a:prstGeom>
          <a:noFill/>
          <a:ln/>
        </p:spPr>
        <p:txBody>
          <a:bodyPr wrap="square" lIns="0" tIns="0" rIns="0" bIns="0" rtlCol="0" anchor="t">
            <a:normAutofit/>
          </a:bodyPr>
          <a:lstStyle/>
          <a:p>
            <a:pPr marL="0" indent="0" algn="l">
              <a:lnSpc>
                <a:spcPts val="2990"/>
              </a:lnSpc>
              <a:buNone/>
            </a:pPr>
            <a:r>
              <a:rPr lang="en-US" sz="2600" b="1" i="0">
                <a:solidFill>
                  <a:srgbClr val="16233B"/>
                </a:solidFill>
                <a:latin typeface="Source Serif 4" pitchFamily="18" charset="0"/>
                <a:ea typeface="Source Serif 4" pitchFamily="18" charset="-122"/>
                <a:cs typeface="Source Serif 4" pitchFamily="18" charset="-120"/>
              </a:rPr>
              <a:t>Malaria, TB and vaccines, by program</a:t>
            </a:r>
            <a:endParaRPr lang="en-US" sz="2600"/>
          </a:p>
        </p:txBody>
      </p:sp>
      <p:sp>
        <p:nvSpPr>
          <p:cNvPr id="4" name="Text 2"/>
          <p:cNvSpPr/>
          <p:nvPr/>
        </p:nvSpPr>
        <p:spPr>
          <a:xfrm>
            <a:off x="812800" y="1257300"/>
            <a:ext cx="287782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Break Down: Malaria</a:t>
            </a:r>
            <a:endParaRPr lang="en-US" sz="1200"/>
          </a:p>
        </p:txBody>
      </p:sp>
      <p:pic>
        <p:nvPicPr>
          <p:cNvPr id="5" name="Image 0" descr="Malaria aid to Kenya split by program area: bednets, indoor spraying, treatment, HSS and other"/>
          <p:cNvPicPr>
            <a:picLocks noChangeAspect="1"/>
          </p:cNvPicPr>
          <p:nvPr/>
        </p:nvPicPr>
        <p:blipFill>
          <a:blip r:embed="rId3"/>
          <a:srcRect l="-29" r="-29"/>
          <a:stretch/>
        </p:blipFill>
        <p:spPr>
          <a:xfrm>
            <a:off x="819150" y="1504950"/>
            <a:ext cx="2781300" cy="1962150"/>
          </a:xfrm>
          <a:prstGeom prst="roundRect">
            <a:avLst>
              <a:gd name="adj" fmla="val 2265"/>
            </a:avLst>
          </a:prstGeom>
        </p:spPr>
      </p:pic>
      <p:sp>
        <p:nvSpPr>
          <p:cNvPr id="6" name="Shape 3"/>
          <p:cNvSpPr/>
          <p:nvPr/>
        </p:nvSpPr>
        <p:spPr>
          <a:xfrm>
            <a:off x="815975" y="1501775"/>
            <a:ext cx="2787650" cy="1968500"/>
          </a:xfrm>
          <a:prstGeom prst="roundRect">
            <a:avLst>
              <a:gd name="adj" fmla="val 2419"/>
            </a:avLst>
          </a:prstGeom>
          <a:noFill/>
          <a:ln w="6350">
            <a:solidFill>
              <a:srgbClr val="DDD7CA"/>
            </a:solidFill>
            <a:prstDash val="solid"/>
          </a:ln>
        </p:spPr>
        <p:txBody>
          <a:bodyPr/>
          <a:lstStyle/>
          <a:p>
            <a:endParaRPr lang="en-US"/>
          </a:p>
        </p:txBody>
      </p:sp>
      <p:sp>
        <p:nvSpPr>
          <p:cNvPr id="7" name="Text 4"/>
          <p:cNvSpPr/>
          <p:nvPr/>
        </p:nvSpPr>
        <p:spPr>
          <a:xfrm>
            <a:off x="3987800" y="1257300"/>
            <a:ext cx="287782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Break Down: Tuberculosis</a:t>
            </a:r>
            <a:endParaRPr lang="en-US" sz="1200"/>
          </a:p>
        </p:txBody>
      </p:sp>
      <p:pic>
        <p:nvPicPr>
          <p:cNvPr id="8" name="Image 1" descr="Tuberculosis aid to Kenya split by program area: treatment, drug resistance, HSS and other"/>
          <p:cNvPicPr>
            <a:picLocks noChangeAspect="1"/>
          </p:cNvPicPr>
          <p:nvPr/>
        </p:nvPicPr>
        <p:blipFill>
          <a:blip r:embed="rId4"/>
          <a:srcRect l="-29" r="-29"/>
          <a:stretch/>
        </p:blipFill>
        <p:spPr>
          <a:xfrm>
            <a:off x="3994150" y="1504950"/>
            <a:ext cx="2781300" cy="1962150"/>
          </a:xfrm>
          <a:prstGeom prst="roundRect">
            <a:avLst>
              <a:gd name="adj" fmla="val 2265"/>
            </a:avLst>
          </a:prstGeom>
        </p:spPr>
      </p:pic>
      <p:sp>
        <p:nvSpPr>
          <p:cNvPr id="9" name="Shape 5"/>
          <p:cNvSpPr/>
          <p:nvPr/>
        </p:nvSpPr>
        <p:spPr>
          <a:xfrm>
            <a:off x="3990975" y="1501775"/>
            <a:ext cx="2787650" cy="1968500"/>
          </a:xfrm>
          <a:prstGeom prst="roundRect">
            <a:avLst>
              <a:gd name="adj" fmla="val 2419"/>
            </a:avLst>
          </a:prstGeom>
          <a:noFill/>
          <a:ln w="6350">
            <a:solidFill>
              <a:srgbClr val="DDD7CA"/>
            </a:solidFill>
            <a:prstDash val="solid"/>
          </a:ln>
        </p:spPr>
        <p:txBody>
          <a:bodyPr/>
          <a:lstStyle/>
          <a:p>
            <a:endParaRPr lang="en-US"/>
          </a:p>
        </p:txBody>
      </p:sp>
      <p:sp>
        <p:nvSpPr>
          <p:cNvPr id="10" name="Text 6"/>
          <p:cNvSpPr/>
          <p:nvPr/>
        </p:nvSpPr>
        <p:spPr>
          <a:xfrm>
            <a:off x="812800" y="3727450"/>
            <a:ext cx="4185920"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4A5568"/>
                </a:solidFill>
                <a:latin typeface="IBM Plex Sans" pitchFamily="34" charset="0"/>
                <a:ea typeface="IBM Plex Sans" pitchFamily="34" charset="-122"/>
                <a:cs typeface="IBM Plex Sans" pitchFamily="34" charset="-120"/>
              </a:rPr>
              <a:t>Break Down: Newborn &amp; child health (vaccines)</a:t>
            </a:r>
            <a:endParaRPr lang="en-US" sz="1200"/>
          </a:p>
        </p:txBody>
      </p:sp>
      <p:pic>
        <p:nvPicPr>
          <p:cNvPr id="11" name="Image 2" descr="Newborn and child health aid to Kenya split by program area: vaccines, nutrition, HSS and other"/>
          <p:cNvPicPr>
            <a:picLocks noChangeAspect="1"/>
          </p:cNvPicPr>
          <p:nvPr/>
        </p:nvPicPr>
        <p:blipFill>
          <a:blip r:embed="rId5"/>
          <a:srcRect l="-29" r="-29"/>
          <a:stretch/>
        </p:blipFill>
        <p:spPr>
          <a:xfrm>
            <a:off x="819150" y="3975100"/>
            <a:ext cx="2781300" cy="1962150"/>
          </a:xfrm>
          <a:prstGeom prst="roundRect">
            <a:avLst>
              <a:gd name="adj" fmla="val 2265"/>
            </a:avLst>
          </a:prstGeom>
        </p:spPr>
      </p:pic>
      <p:sp>
        <p:nvSpPr>
          <p:cNvPr id="12" name="Shape 7"/>
          <p:cNvSpPr/>
          <p:nvPr/>
        </p:nvSpPr>
        <p:spPr>
          <a:xfrm>
            <a:off x="815975" y="3971925"/>
            <a:ext cx="2787650" cy="1968500"/>
          </a:xfrm>
          <a:prstGeom prst="roundRect">
            <a:avLst>
              <a:gd name="adj" fmla="val 2419"/>
            </a:avLst>
          </a:prstGeom>
          <a:noFill/>
          <a:ln w="6350">
            <a:solidFill>
              <a:srgbClr val="DDD7CA"/>
            </a:solidFill>
            <a:prstDash val="solid"/>
          </a:ln>
        </p:spPr>
        <p:txBody>
          <a:bodyPr/>
          <a:lstStyle/>
          <a:p>
            <a:endParaRPr lang="en-US"/>
          </a:p>
        </p:txBody>
      </p:sp>
      <p:pic>
        <p:nvPicPr>
          <p:cNvPr id="13" name="Image 3" descr="E_l = A_l + omega_l U_d for service line l in focus area d; malaria lines: nets, spraying, treatment; TB lines: drug-sensitive, drug-resistant"/>
          <p:cNvPicPr>
            <a:picLocks noChangeAspect="1"/>
          </p:cNvPicPr>
          <p:nvPr/>
        </p:nvPicPr>
        <p:blipFill>
          <a:blip r:embed="rId6"/>
          <a:srcRect l="-304" r="-304"/>
          <a:stretch/>
        </p:blipFill>
        <p:spPr>
          <a:xfrm>
            <a:off x="7321550" y="1276350"/>
            <a:ext cx="2901950" cy="908050"/>
          </a:xfrm>
          <a:prstGeom prst="roundRect">
            <a:avLst>
              <a:gd name="adj" fmla="val 4895"/>
            </a:avLst>
          </a:prstGeom>
        </p:spPr>
      </p:pic>
      <p:sp>
        <p:nvSpPr>
          <p:cNvPr id="14" name="Shape 8"/>
          <p:cNvSpPr/>
          <p:nvPr/>
        </p:nvSpPr>
        <p:spPr>
          <a:xfrm>
            <a:off x="7318375" y="1273175"/>
            <a:ext cx="2908300" cy="914400"/>
          </a:xfrm>
          <a:prstGeom prst="roundRect">
            <a:avLst>
              <a:gd name="adj" fmla="val 5208"/>
            </a:avLst>
          </a:prstGeom>
          <a:noFill/>
          <a:ln w="6350">
            <a:solidFill>
              <a:srgbClr val="DDD7CA"/>
            </a:solidFill>
            <a:prstDash val="solid"/>
          </a:ln>
        </p:spPr>
        <p:txBody>
          <a:bodyPr/>
          <a:lstStyle/>
          <a:p>
            <a:endParaRPr lang="en-US"/>
          </a:p>
        </p:txBody>
      </p:sp>
      <p:pic>
        <p:nvPicPr>
          <p:cNvPr id="15" name="Image 4" descr="Key: l model service line; A_l aid labeled for line l; U_d unlabeled aid in focus area d; omega_l share of U_d for line l from Global Fund budgets; E_l effective money on line l, input to step 1"/>
          <p:cNvPicPr>
            <a:picLocks noChangeAspect="1"/>
          </p:cNvPicPr>
          <p:nvPr/>
        </p:nvPicPr>
        <p:blipFill>
          <a:blip r:embed="rId7"/>
          <a:srcRect l="-320" r="-320"/>
          <a:stretch/>
        </p:blipFill>
        <p:spPr>
          <a:xfrm>
            <a:off x="7321550" y="2349500"/>
            <a:ext cx="4032250" cy="1447800"/>
          </a:xfrm>
          <a:prstGeom prst="roundRect">
            <a:avLst>
              <a:gd name="adj" fmla="val 3070"/>
            </a:avLst>
          </a:prstGeom>
        </p:spPr>
      </p:pic>
      <p:sp>
        <p:nvSpPr>
          <p:cNvPr id="16" name="Shape 9"/>
          <p:cNvSpPr/>
          <p:nvPr/>
        </p:nvSpPr>
        <p:spPr>
          <a:xfrm>
            <a:off x="7318375" y="2346325"/>
            <a:ext cx="4038600" cy="1454150"/>
          </a:xfrm>
          <a:prstGeom prst="roundRect">
            <a:avLst>
              <a:gd name="adj" fmla="val 3275"/>
            </a:avLst>
          </a:prstGeom>
          <a:noFill/>
          <a:ln w="6350">
            <a:solidFill>
              <a:srgbClr val="DDD7CA"/>
            </a:solidFill>
            <a:prstDash val="solid"/>
          </a:ln>
        </p:spPr>
        <p:txBody>
          <a:bodyPr/>
          <a:lstStyle/>
          <a:p>
            <a:endParaRPr lang="en-US"/>
          </a:p>
        </p:txBody>
      </p:sp>
    </p:spTree>
    <p:extLst>
      <p:ext uri="{BB962C8B-B14F-4D97-AF65-F5344CB8AC3E}">
        <p14:creationId xmlns:p14="http://schemas.microsoft.com/office/powerpoint/2010/main" val="37243510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42</Slides>
  <Notes>31</Notes>
  <HiddenSlides>4</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Adapting to Withdrawal from Development Assistance  for Global Health </vt:lpstr>
      <vt:lpstr>PowerPoint Presentation</vt:lpstr>
      <vt:lpstr>PowerPoint Presentation</vt:lpstr>
      <vt:lpstr> Recap</vt:lpstr>
      <vt:lpstr>PowerPoint Presentation</vt:lpstr>
      <vt:lpstr>OECD Aid Cut Projections </vt:lpstr>
      <vt:lpstr>PowerPoint Presentation</vt:lpstr>
      <vt:lpstr>How we built the projections</vt:lpstr>
      <vt:lpstr>Main findings: health aid falls about 25% by 2030</vt:lpstr>
      <vt:lpstr>Assumptions and caveats</vt:lpstr>
      <vt:lpstr>Dashboard</vt:lpstr>
      <vt:lpstr> The Dashboard Links Aid, Budgets And Health Data To Show Coverage At Risk From Aid Cuts</vt:lpstr>
      <vt:lpstr>Dashboard – Domestic government and international aid contribute to health spending</vt:lpstr>
      <vt:lpstr>PowerPoint Presentation</vt:lpstr>
      <vt:lpstr>PowerPoint Presentation</vt:lpstr>
      <vt:lpstr>PowerPoint Presentation</vt:lpstr>
      <vt:lpstr>PowerPoint Presentation</vt:lpstr>
      <vt:lpstr>PowerPoint Presentation</vt:lpstr>
      <vt:lpstr>PowerPoint Presentation</vt:lpstr>
      <vt:lpstr>Live Demo: Choosing A Country And Scenario Reveals Which Services An Aid Cut Puts At Risk</vt:lpstr>
      <vt:lpstr>Historical patterns show that when the US decreases aid, countries decreased domestic government health expenditure by 19 cents</vt:lpstr>
      <vt:lpstr>Findings</vt:lpstr>
      <vt:lpstr>Domestic resource mobilization capacity – can countries grow their way out of the problem?</vt:lpstr>
      <vt:lpstr>Typical OECD cut averages were similar across income groups </vt:lpstr>
      <vt:lpstr>PowerPoint Presentation</vt:lpstr>
      <vt:lpstr>PowerPoint Presentation</vt:lpstr>
      <vt:lpstr>Most countries need only a modest shift in budget priority, but a few would need to at least double their health share</vt:lpstr>
      <vt:lpstr>Loans tied to health priorities can incentivize new funds to be invested into health</vt:lpstr>
      <vt:lpstr>DAH prioritization – where should donors be targeting remaining funds?</vt:lpstr>
      <vt:lpstr>Recall: Funding cuts show no consistent relationship with health need, leaving high risk countries vulnerable </vt:lpstr>
      <vt:lpstr>HIV Financing Transition: Country Risk-Tier Analysis</vt:lpstr>
      <vt:lpstr>Country risk map</vt:lpstr>
      <vt:lpstr>PowerPoint Presentation</vt:lpstr>
      <vt:lpstr>Priority tiers and intervention emphasis</vt:lpstr>
      <vt:lpstr>High-dependency programs are where remaining donor funds matter most</vt:lpstr>
      <vt:lpstr>Looking Ahead</vt:lpstr>
      <vt:lpstr>Calendar</vt:lpstr>
      <vt:lpstr>Discussion</vt:lpstr>
      <vt:lpstr>PowerPoint Presentation</vt:lpstr>
      <vt:lpstr> Dashboard-nModeling the cuts</vt:lpstr>
      <vt:lpstr> Dashboard – Modeling the aid retreat</vt:lpstr>
      <vt:lpstr>Malaria, TB and vaccines, by program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2026-10-08T19:08:02Z</dcterms:created>
  <dcterms:modified xsi:type="dcterms:W3CDTF">2026-10-19T22:24:53Z</dcterms:modified>
</cp:coreProperties>
</file>