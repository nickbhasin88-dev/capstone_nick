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94" r:id="rId12"/>
    <p:sldId id="295" r:id="rId10"/>
    <p:sldId id="296" r:id="rId11"/>
    <p:sldId id="297" r:id="rId9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32CE1A-8192-6CCD-372F-F3977CFE8D9F}" name="Guest User" initials="GU" userId="S::urn:spo:tenantanon#bb23c62a-3879-438a-9af6-e0a615144cb1::" providerId="AD"/>
  <p188:author id="{51E35836-FC1C-2F35-9C7F-91149BD1D16A}" name="Key, Ting" initials="KT" userId="S::ting.key@yale.edu::0d0a0d55-ba7c-41e8-aae8-5fad554abe41" providerId="AD"/>
  <p188:author id="{FC121674-63FC-2252-4652-144B9521E271}" name="Khan, Ishnan" initials="KI" userId="S::ishnan.khan@yale.edu::e77345ac-040c-4d54-ae20-494105c8db15" providerId="AD"/>
  <p188:author id="{1E6A2694-C2C7-764A-3AB8-678BDE135EE6}" name="Alexandre-Burke, Kaley" initials="AK" userId="S::kaley.alexandre-burke@yale.edu::b862c00d-9ef3-4272-aefb-9ef3b0c56097" providerId="AD"/>
  <p188:author id="{BF114D99-D057-92B0-FB47-0ABBCAC06BAF}" name="Soe-Lin, Shan" initials="SS" userId="S::shan.soe-lin@yale.edu::97ef95a6-5890-469b-b8a4-7e4c71a364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F73"/>
    <a:srgbClr val="244B91"/>
    <a:srgbClr val="2F52A4"/>
    <a:srgbClr val="2F52A6"/>
    <a:srgbClr val="4A83FF"/>
    <a:srgbClr val="1D3073"/>
    <a:srgbClr val="E5EDFA"/>
    <a:srgbClr val="DEE8F8"/>
    <a:srgbClr val="DDE7F8"/>
    <a:srgbClr val="9CB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CE19BD-9C7F-AF7F-24C9-2E3E9A6C656C}" v="2" dt="2026-10-19T01:43:07.295"/>
    <p1510:client id="{401BB271-3B6A-A276-33BF-98854A0E7F6A}" v="525" dt="2026-10-18T20:35:01.840"/>
    <p1510:client id="{41DA8606-C435-8F25-04CF-0707428A71E6}" v="239" dt="2026-10-19T20:43:26.458"/>
    <p1510:client id="{5AF2BED7-5C24-83A7-173A-B49D5C6F85FF}" v="19" dt="2026-10-19T21:52:18.925"/>
    <p1510:client id="{5F79C29F-C3F1-CF13-371E-ED3302F1D152}" v="34" dt="2026-10-19T19:56:13.078"/>
    <p1510:client id="{76FC189C-1A76-16B9-5B9C-25E8C3BC9060}" v="50" dt="2026-10-19T16:18:45.260"/>
    <p1510:client id="{81D52FA3-3E4D-84C0-2C5B-03FABE1E7F9C}" v="507" dt="2026-10-19T18:30:06.044"/>
    <p1510:client id="{82DC5BA5-7F05-D7BB-E915-69419C127304}" v="127" dt="2026-10-19T20:16:53.234"/>
    <p1510:client id="{C2E73322-11F1-49E4-8276-10BC1836A38E}" v="4" dt="2026-10-19T22:18:43.184"/>
    <p1510:client id="{D19D52E9-41F5-9FF1-F002-38597F71D974}" v="407" dt="2026-10-19T18:36:27.539"/>
    <p1510:client id="{D46C4316-4FE5-EF67-5B4F-BCE62032A18C}" v="37" dt="2026-10-18T04:38:59.5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1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5/10/relationships/revisionInfo" Target="revisionInfo.xml"/><Relationship Id="rId5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 algn="l"/>
            <a:r>
              <a:rPr sz="1600" b="1">
                <a:solidFill>
                  <a:srgbClr val="21306F"/>
                </a:solidFill>
                <a:latin typeface="Arial"/>
              </a:rPr>
              <a:t>US share of 2021-23 aid for HIV, TB, malaria and immunization, 20 largest recipients of the 70</a:t>
            </a:r>
          </a:p>
        </c:rich>
      </c:tx>
      <c:layout>
        <c:manualLayout>
          <c:xMode val="edge"/>
          <c:yMode val="edge"/>
          <c:x val="0.0"/>
          <c:y val="0.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35"/>
          <c:y val="0.085"/>
          <c:w val="0.85"/>
          <c:h val="0.7"/>
        </c:manualLayout>
      </c:layout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United States (all channels)</c:v>
                </c:pt>
              </c:strCache>
            </c:strRef>
          </c:tx>
          <c:spPr>
            <a:solidFill>
              <a:srgbClr val="1C3073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Burkina Faso</c:v>
                </c:pt>
                <c:pt idx="1">
                  <c:v>Ghana</c:v>
                </c:pt>
                <c:pt idx="2">
                  <c:v>Rwanda</c:v>
                </c:pt>
                <c:pt idx="3">
                  <c:v>Bangladesh</c:v>
                </c:pt>
                <c:pt idx="4">
                  <c:v>Côte d’Ivoire</c:v>
                </c:pt>
                <c:pt idx="5">
                  <c:v>Cameroon</c:v>
                </c:pt>
                <c:pt idx="6">
                  <c:v>Indonesia</c:v>
                </c:pt>
                <c:pt idx="7">
                  <c:v>India</c:v>
                </c:pt>
                <c:pt idx="8">
                  <c:v>Malawi</c:v>
                </c:pt>
                <c:pt idx="9">
                  <c:v>Pakistan</c:v>
                </c:pt>
                <c:pt idx="10">
                  <c:v>Zimbabwe</c:v>
                </c:pt>
                <c:pt idx="11">
                  <c:v>Ethiopia</c:v>
                </c:pt>
                <c:pt idx="12">
                  <c:v>Zambia</c:v>
                </c:pt>
                <c:pt idx="13">
                  <c:v>Kenya</c:v>
                </c:pt>
                <c:pt idx="14">
                  <c:v>DR Congo</c:v>
                </c:pt>
                <c:pt idx="15">
                  <c:v>Tanzania</c:v>
                </c:pt>
                <c:pt idx="16">
                  <c:v>Uganda</c:v>
                </c:pt>
                <c:pt idx="17">
                  <c:v>Mozambique</c:v>
                </c:pt>
                <c:pt idx="18">
                  <c:v>South Africa</c:v>
                </c:pt>
                <c:pt idx="19">
                  <c:v>Nigeria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0.35368619115931843</c:v>
                </c:pt>
                <c:pt idx="1">
                  <c:v>0.3989169675090253</c:v>
                </c:pt>
                <c:pt idx="2">
                  <c:v>0.5246758853935549</c:v>
                </c:pt>
                <c:pt idx="3">
                  <c:v>0.2788286459432194</c:v>
                </c:pt>
                <c:pt idx="4">
                  <c:v>0.4905637284899518</c:v>
                </c:pt>
                <c:pt idx="5">
                  <c:v>0.529812890756003</c:v>
                </c:pt>
                <c:pt idx="6">
                  <c:v>0.33450037778186553</c:v>
                </c:pt>
                <c:pt idx="7">
                  <c:v>0.287459372739601</c:v>
                </c:pt>
                <c:pt idx="8">
                  <c:v>0.5830558212925704</c:v>
                </c:pt>
                <c:pt idx="9">
                  <c:v>0.17022603423133012</c:v>
                </c:pt>
                <c:pt idx="10">
                  <c:v>0.5624442789928669</c:v>
                </c:pt>
                <c:pt idx="11">
                  <c:v>0.42912684616902835</c:v>
                </c:pt>
                <c:pt idx="12">
                  <c:v>0.6694146687344301</c:v>
                </c:pt>
                <c:pt idx="13">
                  <c:v>0.6695631737428694</c:v>
                </c:pt>
                <c:pt idx="14">
                  <c:v>0.3986848786921227</c:v>
                </c:pt>
                <c:pt idx="15">
                  <c:v>0.6269221564978448</c:v>
                </c:pt>
                <c:pt idx="16">
                  <c:v>0.5784129807198005</c:v>
                </c:pt>
                <c:pt idx="17">
                  <c:v>0.5865387651010014</c:v>
                </c:pt>
                <c:pt idx="18">
                  <c:v>0.7297794790841472</c:v>
                </c:pt>
                <c:pt idx="19">
                  <c:v>0.4914954797731262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 other donors</c:v>
                </c:pt>
              </c:strCache>
            </c:strRef>
          </c:tx>
          <c:spPr>
            <a:solidFill>
              <a:srgbClr val="8FA8E0"/>
            </a:solidFill>
            <a:ln>
              <a:noFill/>
            </a:ln>
          </c:spPr>
          <c:cat>
            <c:strRef>
              <c:f>Sheet1!$A$2:$A$21</c:f>
              <c:strCache>
                <c:ptCount val="20"/>
                <c:pt idx="0">
                  <c:v>Burkina Faso</c:v>
                </c:pt>
                <c:pt idx="1">
                  <c:v>Ghana</c:v>
                </c:pt>
                <c:pt idx="2">
                  <c:v>Rwanda</c:v>
                </c:pt>
                <c:pt idx="3">
                  <c:v>Bangladesh</c:v>
                </c:pt>
                <c:pt idx="4">
                  <c:v>Côte d’Ivoire</c:v>
                </c:pt>
                <c:pt idx="5">
                  <c:v>Cameroon</c:v>
                </c:pt>
                <c:pt idx="6">
                  <c:v>Indonesia</c:v>
                </c:pt>
                <c:pt idx="7">
                  <c:v>India</c:v>
                </c:pt>
                <c:pt idx="8">
                  <c:v>Malawi</c:v>
                </c:pt>
                <c:pt idx="9">
                  <c:v>Pakistan</c:v>
                </c:pt>
                <c:pt idx="10">
                  <c:v>Zimbabwe</c:v>
                </c:pt>
                <c:pt idx="11">
                  <c:v>Ethiopia</c:v>
                </c:pt>
                <c:pt idx="12">
                  <c:v>Zambia</c:v>
                </c:pt>
                <c:pt idx="13">
                  <c:v>Kenya</c:v>
                </c:pt>
                <c:pt idx="14">
                  <c:v>DR Congo</c:v>
                </c:pt>
                <c:pt idx="15">
                  <c:v>Tanzania</c:v>
                </c:pt>
                <c:pt idx="16">
                  <c:v>Uganda</c:v>
                </c:pt>
                <c:pt idx="17">
                  <c:v>Mozambique</c:v>
                </c:pt>
                <c:pt idx="18">
                  <c:v>South Africa</c:v>
                </c:pt>
                <c:pt idx="19">
                  <c:v>Nigeria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0.6463138088406816</c:v>
                </c:pt>
                <c:pt idx="1">
                  <c:v>0.6010830324909747</c:v>
                </c:pt>
                <c:pt idx="2">
                  <c:v>0.4753241146064451</c:v>
                </c:pt>
                <c:pt idx="3">
                  <c:v>0.7211713540567806</c:v>
                </c:pt>
                <c:pt idx="4">
                  <c:v>0.5094362715100482</c:v>
                </c:pt>
                <c:pt idx="5">
                  <c:v>0.470187109243997</c:v>
                </c:pt>
                <c:pt idx="6">
                  <c:v>0.6654996222181344</c:v>
                </c:pt>
                <c:pt idx="7">
                  <c:v>0.712540627260399</c:v>
                </c:pt>
                <c:pt idx="8">
                  <c:v>0.4169441787074296</c:v>
                </c:pt>
                <c:pt idx="9">
                  <c:v>0.8297739657686699</c:v>
                </c:pt>
                <c:pt idx="10">
                  <c:v>0.43755572100713314</c:v>
                </c:pt>
                <c:pt idx="11">
                  <c:v>0.5708731538309717</c:v>
                </c:pt>
                <c:pt idx="12">
                  <c:v>0.3305853312655699</c:v>
                </c:pt>
                <c:pt idx="13">
                  <c:v>0.33043682625713056</c:v>
                </c:pt>
                <c:pt idx="14">
                  <c:v>0.6013151213078773</c:v>
                </c:pt>
                <c:pt idx="15">
                  <c:v>0.3730778435021552</c:v>
                </c:pt>
                <c:pt idx="16">
                  <c:v>0.4215870192801995</c:v>
                </c:pt>
                <c:pt idx="17">
                  <c:v>0.41346123489899855</c:v>
                </c:pt>
                <c:pt idx="18">
                  <c:v>0.2702205209158528</c:v>
                </c:pt>
                <c:pt idx="19">
                  <c:v>0.5085045202268739</c:v>
                </c:pt>
              </c:numCache>
            </c:numRef>
          </c:val>
        </c:ser>
        <c:gapWidth val="3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sz="1300" b="0">
                    <a:solidFill>
                      <a:srgbClr val="4A5568"/>
                    </a:solidFill>
                    <a:latin typeface="Arial"/>
                  </a:rPr>
                  <a:t>Recipient (largest total aid at top)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D5DCEA"/>
            </a:solidFill>
          </a:ln>
        </c:spPr>
        <c:txPr>
          <a:bodyPr/>
          <a:lstStyle/>
          <a:p>
            <a:pPr>
              <a:defRPr sz="1200">
                <a:solidFill>
                  <a:srgbClr val="1B23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tickLblSkip val="1"/>
      </c:catAx>
      <c:valAx>
        <c:axId val="-2113994440"/>
        <c:scaling/>
        <c:delete val="0"/>
        <c:axPos val="b"/>
        <c:title>
          <c:tx>
            <c:rich>
              <a:bodyPr/>
              <a:lstStyle/>
              <a:p>
                <a:r>
                  <a:rPr sz="1300" b="0">
                    <a:solidFill>
                      <a:srgbClr val="4A5568"/>
                    </a:solidFill>
                    <a:latin typeface="Arial"/>
                  </a:rPr>
                  <a:t>Share of the country’s aid for these four areas, %, 2021-23 average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nextTo"/>
        <c:spPr>
          <a:ln>
            <a:solidFill>
              <a:srgbClr val="D5DCEA"/>
            </a:solidFill>
          </a:ln>
        </c:spPr>
        <c:txPr>
          <a:bodyPr/>
          <a:lstStyle/>
          <a:p>
            <a:pPr>
              <a:defRPr sz="1300">
                <a:solidFill>
                  <a:srgbClr val="1B2340"/>
                </a:solidFill>
                <a:latin typeface="Arial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340"/>
              </a:solidFill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300">
          <a:solidFill>
            <a:srgbClr val="1B234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 algn="l"/>
            <a:r>
              <a:rPr sz="1600" b="1">
                <a:solidFill>
                  <a:srgbClr val="21306F"/>
                </a:solidFill>
                <a:latin typeface="Arial"/>
              </a:rPr>
              <a:t>Aid by channel and IHME programme area, 70 countries, 2021-23 average</a:t>
            </a:r>
          </a:p>
        </c:rich>
      </c:tx>
      <c:layout>
        <c:manualLayout>
          <c:xMode val="edge"/>
          <c:yMode val="edge"/>
          <c:x val="0.0"/>
          <c:y val="0.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75"/>
          <c:y val="0.095"/>
          <c:w val="0.915"/>
          <c:h val="0.65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Direct services</c:v>
                </c:pt>
              </c:strCache>
            </c:strRef>
          </c:tx>
          <c:spPr>
            <a:solidFill>
              <a:srgbClr val="1C3073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Global Fund</c:v>
                </c:pt>
                <c:pt idx="1">
                  <c:v>Bilateral agencies</c:v>
                </c:pt>
                <c:pt idx="2">
                  <c:v>NGOs</c:v>
                </c:pt>
                <c:pt idx="3">
                  <c:v>Gavi</c:v>
                </c:pt>
                <c:pt idx="4">
                  <c:v>Other channels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1676.0443333333333</c:v>
                </c:pt>
                <c:pt idx="1">
                  <c:v>1519.432</c:v>
                </c:pt>
                <c:pt idx="2">
                  <c:v>726.9283333333334</c:v>
                </c:pt>
                <c:pt idx="3">
                  <c:v>1117.9533333333331</c:v>
                </c:pt>
                <c:pt idx="4">
                  <c:v>502.0303333333333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HIV testing and care</c:v>
                </c:pt>
              </c:strCache>
            </c:strRef>
          </c:tx>
          <c:spPr>
            <a:solidFill>
              <a:srgbClr val="3D63B0"/>
            </a:solidFill>
            <a:ln>
              <a:noFill/>
            </a:ln>
          </c:spPr>
          <c:dLbls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Global Fund</c:v>
                </c:pt>
                <c:pt idx="1">
                  <c:v>Bilateral agencies</c:v>
                </c:pt>
                <c:pt idx="2">
                  <c:v>NGOs</c:v>
                </c:pt>
                <c:pt idx="3">
                  <c:v>Gavi</c:v>
                </c:pt>
                <c:pt idx="4">
                  <c:v>Other channels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180.47066666666666</c:v>
                </c:pt>
                <c:pt idx="1">
                  <c:v>389.693</c:v>
                </c:pt>
                <c:pt idx="2">
                  <c:v>164.55533333333335</c:v>
                </c:pt>
                <c:pt idx="3">
                  <c:v>0.0</c:v>
                </c:pt>
                <c:pt idx="4">
                  <c:v>25.07466666666667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Systems support</c:v>
                </c:pt>
              </c:strCache>
            </c:strRef>
          </c:tx>
          <c:spPr>
            <a:solidFill>
              <a:srgbClr val="8FA8E0"/>
            </a:solidFill>
            <a:ln>
              <a:noFill/>
            </a:ln>
          </c:spPr>
          <c:dLbls>
            <c:dLbl>
              <c:idx val="3"/>
              <c:delete val="1"/>
            </c:dLbl>
            <c:numFmt formatCode="#,##0" sourceLinked="0"/>
            <c:txPr>
              <a:bodyPr/>
              <a:lstStyle/>
              <a:p>
                <a:pPr>
                  <a:defRPr sz="1200" b="1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Global Fund</c:v>
                </c:pt>
                <c:pt idx="1">
                  <c:v>Bilateral agencies</c:v>
                </c:pt>
                <c:pt idx="2">
                  <c:v>NGOs</c:v>
                </c:pt>
                <c:pt idx="3">
                  <c:v>Gavi</c:v>
                </c:pt>
                <c:pt idx="4">
                  <c:v>Other channels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1048.631</c:v>
                </c:pt>
                <c:pt idx="1">
                  <c:v>409.2253333333333</c:v>
                </c:pt>
                <c:pt idx="2">
                  <c:v>403.318</c:v>
                </c:pt>
                <c:pt idx="3">
                  <c:v>0.0</c:v>
                </c:pt>
                <c:pt idx="4">
                  <c:v>151.03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Purpose not stated</c:v>
                </c:pt>
              </c:strCache>
            </c:strRef>
          </c:tx>
          <c:spPr>
            <a:solidFill>
              <a:srgbClr val="DDE7F8"/>
            </a:solidFill>
            <a:ln>
              <a:noFill/>
            </a:ln>
          </c:spPr>
          <c:dLbls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txPr>
              <a:bodyPr/>
              <a:lstStyle/>
              <a:p>
                <a:pPr>
                  <a:defRPr sz="1200" b="1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Global Fund</c:v>
                </c:pt>
                <c:pt idx="1">
                  <c:v>Bilateral agencies</c:v>
                </c:pt>
                <c:pt idx="2">
                  <c:v>NGOs</c:v>
                </c:pt>
                <c:pt idx="3">
                  <c:v>Gavi</c:v>
                </c:pt>
                <c:pt idx="4">
                  <c:v>Other channels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1368.7633333333333</c:v>
                </c:pt>
                <c:pt idx="1">
                  <c:v>365.69</c:v>
                </c:pt>
                <c:pt idx="2">
                  <c:v>183.50033333333334</c:v>
                </c:pt>
                <c:pt idx="3">
                  <c:v>0.0</c:v>
                </c:pt>
                <c:pt idx="4">
                  <c:v>112.242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300" b="0">
                    <a:solidFill>
                      <a:srgbClr val="4A5568"/>
                    </a:solidFill>
                    <a:latin typeface="Arial"/>
                  </a:rPr>
                  <a:t>Channel (IHME channel group)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D5DCEA"/>
            </a:solidFill>
          </a:ln>
        </c:spPr>
        <c:txPr>
          <a:bodyPr/>
          <a:lstStyle/>
          <a:p>
            <a:pPr>
              <a:defRPr sz="1300">
                <a:solidFill>
                  <a:srgbClr val="1B23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5DC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>
                    <a:solidFill>
                      <a:srgbClr val="4A5568"/>
                    </a:solidFill>
                    <a:latin typeface="Arial"/>
                  </a:rPr>
                  <a:t>Aid, US$ millions a year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5DCEA"/>
            </a:solidFill>
          </a:ln>
        </c:spPr>
        <c:txPr>
          <a:bodyPr/>
          <a:lstStyle/>
          <a:p>
            <a:pPr>
              <a:defRPr sz="1300">
                <a:solidFill>
                  <a:srgbClr val="1B2340"/>
                </a:solidFill>
                <a:latin typeface="Arial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340"/>
              </a:solidFill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300">
          <a:solidFill>
            <a:srgbClr val="1B234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 algn="l"/>
            <a:r>
              <a:rPr sz="1600" b="1">
                <a:solidFill>
                  <a:srgbClr val="21306F"/>
                </a:solidFill>
                <a:latin typeface="Arial"/>
              </a:rPr>
              <a:t>ART patient-years lost a year per US$1M of aid lost a year, by channel cut, 2026-30</a:t>
            </a:r>
          </a:p>
        </c:rich>
      </c:tx>
      <c:layout>
        <c:manualLayout>
          <c:xMode val="edge"/>
          <c:yMode val="edge"/>
          <c:x val="0.0"/>
          <c:y val="0.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75"/>
          <c:y val="0.105"/>
          <c:w val="0.915"/>
          <c:h val="0.5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 money</c:v>
                </c:pt>
              </c:strCache>
            </c:strRef>
          </c:tx>
          <c:spPr>
            <a:solidFill>
              <a:srgbClr val="1C3073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1200" b="1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US Bilateral &amp; NGO (58)</c:v>
                </c:pt>
                <c:pt idx="1">
                  <c:v>US via Global Fund (68)</c:v>
                </c:pt>
                <c:pt idx="2">
                  <c:v>Global Fund, all donors (68)</c:v>
                </c:pt>
                <c:pt idx="3">
                  <c:v>WHO, all donors (62)</c:v>
                </c:pt>
                <c:pt idx="4">
                  <c:v>UNICEF, all donors (69)</c:v>
                </c:pt>
                <c:pt idx="5">
                  <c:v>Gavi, all donors (54)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1083.2088650928254</c:v>
                </c:pt>
                <c:pt idx="1">
                  <c:v>415.10534528212696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 donors’ money through the channel</c:v>
                </c:pt>
              </c:strCache>
            </c:strRef>
          </c:tx>
          <c:spPr>
            <a:solidFill>
              <a:srgbClr val="3D63B0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1200" b="1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US Bilateral &amp; NGO (58)</c:v>
                </c:pt>
                <c:pt idx="1">
                  <c:v>US via Global Fund (68)</c:v>
                </c:pt>
                <c:pt idx="2">
                  <c:v>Global Fund, all donors (68)</c:v>
                </c:pt>
                <c:pt idx="3">
                  <c:v>WHO, all donors (62)</c:v>
                </c:pt>
                <c:pt idx="4">
                  <c:v>UNICEF, all donors (69)</c:v>
                </c:pt>
                <c:pt idx="5">
                  <c:v>Gavi, all donors (54)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2">
                  <c:v>407.43239535763456</c:v>
                </c:pt>
                <c:pt idx="3">
                  <c:v>192.81631133965675</c:v>
                </c:pt>
                <c:pt idx="4">
                  <c:v>98.71721950453419</c:v>
                </c:pt>
                <c:pt idx="5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300" b="0">
                    <a:solidFill>
                      <a:srgbClr val="4A5568"/>
                    </a:solidFill>
                    <a:latin typeface="Arial"/>
                  </a:rPr>
                  <a:t>Channel cut (countries the channel funds, of 70)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D5DCEA"/>
            </a:solidFill>
          </a:ln>
        </c:spPr>
        <c:txPr>
          <a:bodyPr/>
          <a:lstStyle/>
          <a:p>
            <a:pPr>
              <a:defRPr sz="1300">
                <a:solidFill>
                  <a:srgbClr val="1B23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5DC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>
                    <a:solidFill>
                      <a:srgbClr val="4A5568"/>
                    </a:solidFill>
                    <a:latin typeface="Arial"/>
                  </a:rPr>
                  <a:t>ART patient-years per US$1M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5DCEA"/>
            </a:solidFill>
          </a:ln>
        </c:spPr>
        <c:txPr>
          <a:bodyPr/>
          <a:lstStyle/>
          <a:p>
            <a:pPr>
              <a:defRPr sz="1300">
                <a:solidFill>
                  <a:srgbClr val="1B2340"/>
                </a:solidFill>
                <a:latin typeface="Arial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340"/>
              </a:solidFill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300">
          <a:solidFill>
            <a:srgbClr val="1B234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 algn="l"/>
            <a:r>
              <a:rPr sz="1600" b="1">
                <a:solidFill>
                  <a:srgbClr val="21306F"/>
                </a:solidFill>
                <a:latin typeface="Arial"/>
              </a:rPr>
              <a:t>ART coverage on signed MOU schedules, 4 of 5 MOU countries above 90% in 2025</a:t>
            </a:r>
          </a:p>
        </c:rich>
      </c:tx>
      <c:layout>
        <c:manualLayout>
          <c:xMode val="edge"/>
          <c:yMode val="edge"/>
          <c:x val="0.0"/>
          <c:y val="0.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75"/>
          <c:y val="0.115"/>
          <c:w val="0.8"/>
          <c:h val="0.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Eswatini</c:v>
                </c:pt>
              </c:strCache>
            </c:strRef>
          </c:tx>
          <c:spPr>
            <a:ln w="31750">
              <a:solidFill>
                <a:srgbClr val="1C3073"/>
              </a:solidFill>
            </a:ln>
          </c:spPr>
          <c:marker>
            <c:symbol val="circle"/>
            <c:size val="8"/>
            <c:spPr>
              <a:solidFill>
                <a:srgbClr val="1C3073"/>
              </a:solidFill>
              <a:ln>
                <a:solidFill>
                  <a:srgbClr val="1C3073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C3073"/>
                        </a:solidFill>
                        <a:latin typeface="Arial"/>
                      </a:rPr>
                      <a:t>Eswatini 68%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0.9519320475036336</c:v>
                </c:pt>
                <c:pt idx="1">
                  <c:v>0.8485335340889533</c:v>
                </c:pt>
                <c:pt idx="2">
                  <c:v>0.8485335340889533</c:v>
                </c:pt>
                <c:pt idx="3">
                  <c:v>0.8298228069678228</c:v>
                </c:pt>
                <c:pt idx="4">
                  <c:v>0.7549799382933445</c:v>
                </c:pt>
                <c:pt idx="5">
                  <c:v>0.6801370497138446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Lesotho</c:v>
                </c:pt>
              </c:strCache>
            </c:strRef>
          </c:tx>
          <c:spPr>
            <a:ln w="31750">
              <a:solidFill>
                <a:srgbClr val="3D63B0"/>
              </a:solidFill>
            </a:ln>
          </c:spPr>
          <c:marker>
            <c:symbol val="square"/>
            <c:size val="8"/>
            <c:spPr>
              <a:solidFill>
                <a:srgbClr val="3D63B0"/>
              </a:solidFill>
              <a:ln>
                <a:solidFill>
                  <a:srgbClr val="3D63B0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3D63B0"/>
                        </a:solidFill>
                        <a:latin typeface="Arial"/>
                      </a:rPr>
                      <a:t>Lesotho 65%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0.9613058913434188</c:v>
                </c:pt>
                <c:pt idx="1">
                  <c:v>0.8106649151627434</c:v>
                </c:pt>
                <c:pt idx="2">
                  <c:v>0.7954661892571004</c:v>
                </c:pt>
                <c:pt idx="3">
                  <c:v>0.7853337053200052</c:v>
                </c:pt>
                <c:pt idx="4">
                  <c:v>0.7194725597288858</c:v>
                </c:pt>
                <c:pt idx="5">
                  <c:v>0.6485451721692188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Kenya</c:v>
                </c:pt>
              </c:strCache>
            </c:strRef>
          </c:tx>
          <c:spPr>
            <a:ln w="31750">
              <a:solidFill>
                <a:srgbClr val="8FA8E0"/>
              </a:solidFill>
            </a:ln>
          </c:spPr>
          <c:marker>
            <c:symbol val="triangle"/>
            <c:size val="8"/>
            <c:spPr>
              <a:solidFill>
                <a:srgbClr val="8FA8E0"/>
              </a:solidFill>
              <a:ln>
                <a:solidFill>
                  <a:srgbClr val="8FA8E0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3D63B0"/>
                        </a:solidFill>
                        <a:latin typeface="Arial"/>
                      </a:rPr>
                      <a:t>Kenya 76%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0.911549701003009</c:v>
                </c:pt>
                <c:pt idx="1">
                  <c:v>0.911549701003009</c:v>
                </c:pt>
                <c:pt idx="2">
                  <c:v>0.900303120074994</c:v>
                </c:pt>
                <c:pt idx="3">
                  <c:v>0.8712488948282725</c:v>
                </c:pt>
                <c:pt idx="4">
                  <c:v>0.8619959568516096</c:v>
                </c:pt>
                <c:pt idx="5">
                  <c:v>0.7603986978678507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Botswana</c:v>
                </c:pt>
              </c:strCache>
            </c:strRef>
          </c:tx>
          <c:spPr>
            <a:ln w="31750">
              <a:solidFill>
                <a:srgbClr val="2F52A6"/>
              </a:solidFill>
            </a:ln>
          </c:spPr>
          <c:marker>
            <c:symbol val="diamond"/>
            <c:size val="8"/>
            <c:spPr>
              <a:solidFill>
                <a:srgbClr val="2F52A6"/>
              </a:solidFill>
              <a:ln>
                <a:solidFill>
                  <a:srgbClr val="2F52A6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F52A6"/>
                        </a:solidFill>
                        <a:latin typeface="Arial"/>
                      </a:rPr>
                      <a:t>Botswana 94%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1.0</c:v>
                </c:pt>
                <c:pt idx="1">
                  <c:v>0.9612430533152716</c:v>
                </c:pt>
                <c:pt idx="2">
                  <c:v>0.9770464916896884</c:v>
                </c:pt>
                <c:pt idx="3">
                  <c:v>0.9390272722723622</c:v>
                </c:pt>
                <c:pt idx="4">
                  <c:v>0.9390272722723622</c:v>
                </c:pt>
                <c:pt idx="5">
                  <c:v>0.9390272722723622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90% threshold</c:v>
                </c:pt>
              </c:strCache>
            </c:strRef>
          </c:tx>
          <c:spPr>
            <a:ln w="19050">
              <a:solidFill>
                <a:srgbClr val="6B7280"/>
              </a:solidFill>
              <a:prstDash val="dash"/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0.9</c:v>
                </c:pt>
                <c:pt idx="1">
                  <c:v>0.9</c:v>
                </c:pt>
                <c:pt idx="2">
                  <c:v>0.9</c:v>
                </c:pt>
                <c:pt idx="3">
                  <c:v>0.9</c:v>
                </c:pt>
                <c:pt idx="4">
                  <c:v>0.9</c:v>
                </c:pt>
                <c:pt idx="5">
                  <c:v>0.9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300" b="0">
                    <a:solidFill>
                      <a:srgbClr val="4A5568"/>
                    </a:solidFill>
                    <a:latin typeface="Arial"/>
                  </a:rPr>
                  <a:t>Year (2025: UNAIDS estimate; 2026-2030: model)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D5DCEA"/>
            </a:solidFill>
          </a:ln>
        </c:spPr>
        <c:txPr>
          <a:bodyPr/>
          <a:lstStyle/>
          <a:p>
            <a:pPr>
              <a:defRPr sz="1300">
                <a:solidFill>
                  <a:srgbClr val="1B2340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6"/>
        </c:scaling>
        <c:delete val="0"/>
        <c:axPos val="l"/>
        <c:majorGridlines>
          <c:spPr>
            <a:ln w="9525">
              <a:solidFill>
                <a:srgbClr val="D5DC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>
                    <a:solidFill>
                      <a:srgbClr val="4A5568"/>
                    </a:solidFill>
                    <a:latin typeface="Arial"/>
                  </a:rPr>
                  <a:t>% of people with HIV on ART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nextTo"/>
        <c:spPr>
          <a:ln>
            <a:solidFill>
              <a:srgbClr val="D5DCEA"/>
            </a:solidFill>
          </a:ln>
        </c:spPr>
        <c:txPr>
          <a:bodyPr/>
          <a:lstStyle/>
          <a:p>
            <a:pPr>
              <a:defRPr sz="1300">
                <a:solidFill>
                  <a:srgbClr val="1B2340"/>
                </a:solidFill>
                <a:latin typeface="Arial"/>
              </a:defRPr>
            </a:pPr>
          </a:p>
        </c:txPr>
        <c:crossAx val="2118791784"/>
        <c:crosses val="autoZero"/>
        <c:majorUnit val="0.1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1300">
              <a:solidFill>
                <a:srgbClr val="1B2340"/>
              </a:solidFill>
              <a:latin typeface="Arial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300">
          <a:solidFill>
            <a:srgbClr val="1B234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 algn="l"/>
            <a:r>
              <a:rPr sz="1600" b="1">
                <a:solidFill>
                  <a:srgbClr val="21306F"/>
                </a:solidFill>
                <a:latin typeface="Arial"/>
              </a:rPr>
              <a:t>People who stop ART a year (full-cost equivalents), 2026-30 average, by Donor Scenario</a:t>
            </a:r>
          </a:p>
        </c:rich>
      </c:tx>
      <c:layout>
        <c:manualLayout>
          <c:xMode val="edge"/>
          <c:yMode val="edge"/>
          <c:x val="0.0"/>
          <c:y val="0.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075"/>
          <c:y val="0.105"/>
          <c:w val="0.915"/>
          <c:h val="0.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America First MOUs</c:v>
                </c:pt>
              </c:strCache>
            </c:strRef>
          </c:tx>
          <c:spPr>
            <a:solidFill>
              <a:srgbClr val="3D63B0"/>
            </a:solidFill>
            <a:ln>
              <a:noFill/>
            </a:ln>
          </c:spPr>
          <c:dLbls>
            <c:numFmt formatCode="0.00&quot;M&quot;" sourceLinked="0"/>
            <c:txPr>
              <a:bodyPr/>
              <a:lstStyle/>
              <a:p>
                <a:pPr>
                  <a:defRPr sz="1200" b="1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16 MOU countries</c:v>
                </c:pt>
                <c:pt idx="1">
                  <c:v>All 70 countries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0.8634353792944419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 Bilateral Exit + Multilateral Withdrawals (upper bound)</c:v>
                </c:pt>
              </c:strCache>
            </c:strRef>
          </c:tx>
          <c:spPr>
            <a:solidFill>
              <a:srgbClr val="1C3073"/>
            </a:solidFill>
            <a:ln>
              <a:noFill/>
            </a:ln>
          </c:spPr>
          <c:dLbls>
            <c:numFmt formatCode="0.00&quot;M&quot;" sourceLinked="0"/>
            <c:txPr>
              <a:bodyPr/>
              <a:lstStyle/>
              <a:p>
                <a:pPr>
                  <a:defRPr sz="1200" b="1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16 MOU countries</c:v>
                </c:pt>
                <c:pt idx="1">
                  <c:v>All 70 countries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2.843274057187669</c:v>
                </c:pt>
                <c:pt idx="1">
                  <c:v>4.8634915250671495</c:v>
                </c:pt>
              </c:numCache>
            </c:numRef>
          </c:val>
        </c:ser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300" b="0">
                    <a:solidFill>
                      <a:srgbClr val="4A5568"/>
                    </a:solidFill>
                    <a:latin typeface="Arial"/>
                  </a:rPr>
                  <a:t>Countries covered by the scenario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solidFill>
              <a:srgbClr val="D5DCEA"/>
            </a:solidFill>
          </a:ln>
        </c:spPr>
        <c:txPr>
          <a:bodyPr/>
          <a:lstStyle/>
          <a:p>
            <a:pPr>
              <a:defRPr sz="1300">
                <a:solidFill>
                  <a:srgbClr val="1B23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5DC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>
                    <a:solidFill>
                      <a:srgbClr val="4A5568"/>
                    </a:solidFill>
                    <a:latin typeface="Arial"/>
                  </a:rPr>
                  <a:t>People who stop ART a year, millions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solidFill>
              <a:srgbClr val="D5DCEA"/>
            </a:solidFill>
          </a:ln>
        </c:spPr>
        <c:txPr>
          <a:bodyPr/>
          <a:lstStyle/>
          <a:p>
            <a:pPr>
              <a:defRPr sz="1300">
                <a:solidFill>
                  <a:srgbClr val="1B2340"/>
                </a:solidFill>
                <a:latin typeface="Arial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340"/>
              </a:solidFill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300">
          <a:solidFill>
            <a:srgbClr val="1B234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title>
      <c:tx>
        <c:rich>
          <a:bodyPr/>
          <a:lstStyle/>
          <a:p>
            <a:pPr algn="l"/>
            <a:r>
              <a:rPr sz="1600" b="1">
                <a:solidFill>
                  <a:srgbClr val="21306F"/>
                </a:solidFill>
                <a:latin typeface="Arial"/>
              </a:rPr>
              <a:t>Change in government health spending per US$1 of aid lost, by country group, 2002-23</a:t>
            </a:r>
          </a:p>
        </c:rich>
      </c:tx>
      <c:layout>
        <c:manualLayout>
          <c:xMode val="edge"/>
          <c:yMode val="edge"/>
          <c:x val="0.0"/>
          <c:y val="0.0"/>
        </c:manualLayout>
      </c:layout>
      <c:overlay val="0"/>
    </c:title>
    <c:plotArea>
      <c:layout>
        <c:manualLayout>
          <c:layoutTarget val="inner"/>
          <c:xMode val="edge"/>
          <c:yMode val="edge"/>
          <c:x val="0.25"/>
          <c:y val="0.12"/>
          <c:w val="0.7"/>
          <c:h val="0.7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Estimate, with its 95% confidence interval as the band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1"/>
            <c:spPr>
              <a:solidFill>
                <a:srgbClr val="1C3073"/>
              </a:solidFill>
              <a:ln>
                <a:solidFill>
                  <a:srgbClr val="1C3073"/>
                </a:solidFill>
              </a:ln>
            </c:spPr>
          </c:marker>
          <c:errBars>
            <c:errDir val="x"/>
            <c:errBarType val="both"/>
            <c:errValType val="cust"/>
            <c:noEndCap val="1"/>
            <c:plus>
              <c:numLit>
                <c:formatCode>General</c:formatCode>
                <c:ptCount val="6"/>
                <c:pt idx="0">
                  <c:v>0.2613</c:v>
                </c:pt>
                <c:pt idx="1">
                  <c:v>0.6298</c:v>
                </c:pt>
                <c:pt idx="2">
                  <c:v>0.1968</c:v>
                </c:pt>
                <c:pt idx="3">
                  <c:v>0.0458</c:v>
                </c:pt>
                <c:pt idx="4">
                  <c:v>0.1667</c:v>
                </c:pt>
                <c:pt idx="5">
                  <c:v>0.1686</c:v>
                </c:pt>
              </c:numLit>
            </c:plus>
            <c:minus>
              <c:numLit>
                <c:formatCode>General</c:formatCode>
                <c:ptCount val="6"/>
                <c:pt idx="0">
                  <c:v>0.2613</c:v>
                </c:pt>
                <c:pt idx="1">
                  <c:v>0.6298</c:v>
                </c:pt>
                <c:pt idx="2">
                  <c:v>0.1968</c:v>
                </c:pt>
                <c:pt idx="3">
                  <c:v>0.0458</c:v>
                </c:pt>
                <c:pt idx="4">
                  <c:v>0.1667</c:v>
                </c:pt>
                <c:pt idx="5">
                  <c:v>0.1686</c:v>
                </c:pt>
              </c:numLit>
            </c:minus>
            <c:spPr>
              <a:ln w="203200" cap="flat">
                <a:solidFill>
                  <a:srgbClr val="8FA8E0"/>
                </a:solidFill>
              </a:ln>
            </c:spPr>
          </c:errBars>
          <c:xVal>
            <c:numRef>
              <c:f>Sheet1!$A$2:$A$7</c:f>
              <c:numCache>
                <c:formatCode>General</c:formatCode>
                <c:ptCount val="6"/>
                <c:pt idx="0">
                  <c:v>-0.189022</c:v>
                </c:pt>
                <c:pt idx="1">
                  <c:v>-0.411194</c:v>
                </c:pt>
                <c:pt idx="2">
                  <c:v>-0.149841</c:v>
                </c:pt>
                <c:pt idx="3">
                  <c:v>0.009904</c:v>
                </c:pt>
                <c:pt idx="4">
                  <c:v>-0.052792</c:v>
                </c:pt>
                <c:pt idx="5">
                  <c:v>-0.087804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</c:f>
              <c:strCache>
                <c:ptCount val="1"/>
                <c:pt idx="0">
                  <c:v>label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21306F"/>
                        </a:solidFill>
                        <a:latin typeface="Arial"/>
                      </a:rPr>
                      <a:t>−0.19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4A5568"/>
                        </a:solidFill>
                        <a:latin typeface="Arial"/>
                      </a:rPr>
                      <a:t>−0.41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4A5568"/>
                        </a:solidFill>
                        <a:latin typeface="Arial"/>
                      </a:rPr>
                      <a:t>−0.15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21306F"/>
                        </a:solidFill>
                        <a:latin typeface="Arial"/>
                      </a:rPr>
                      <a:t>+0.01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21306F"/>
                        </a:solidFill>
                        <a:latin typeface="Arial"/>
                      </a:rPr>
                      <a:t>−0.05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21306F"/>
                        </a:solidFill>
                        <a:latin typeface="Arial"/>
                      </a:rPr>
                      <a:t>−0.09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Sheet1!$A$10:$A$15</c:f>
              <c:numCache>
                <c:formatCode>General</c:formatCode>
                <c:ptCount val="6"/>
                <c:pt idx="0">
                  <c:v>0.0723176468499029</c:v>
                </c:pt>
                <c:pt idx="1">
                  <c:v>0.2186102395454129</c:v>
                </c:pt>
                <c:pt idx="2">
                  <c:v>0.0469098423325989</c:v>
                </c:pt>
                <c:pt idx="3">
                  <c:v>0.0556902189144812</c:v>
                </c:pt>
                <c:pt idx="4">
                  <c:v>0.1138830542874463</c:v>
                </c:pt>
                <c:pt idx="5">
                  <c:v>0.080785662092687</c:v>
                </c:pt>
              </c:numCache>
            </c:numRef>
          </c:xVal>
          <c:yVal>
            <c:numRef>
              <c:f>Sheet1!$B$10:$B$15</c:f>
              <c:numCache>
                <c:formatCode>General</c:formatCode>
                <c:ptCount val="6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0.6"/>
          <c:min val="-1.2"/>
        </c:scaling>
        <c:delete val="0"/>
        <c:axPos val="b"/>
        <c:title>
          <c:tx>
            <c:rich>
              <a:bodyPr/>
              <a:lstStyle/>
              <a:p>
                <a:r>
                  <a:rPr sz="1400" b="0">
                    <a:solidFill>
                      <a:srgbClr val="4A5568"/>
                    </a:solidFill>
                    <a:latin typeface="Arial"/>
                  </a:rPr>
                  <a:t>Change in government health spending per person per US$1 of aid lost (constant 2023 US$)</a:t>
                </a:r>
              </a:p>
            </c:rich>
          </c:tx>
          <c:layout/>
          <c:overlay val="0"/>
        </c:title>
        <c:numFmt formatCode="+0.0;&quot;−&quot;0.0;0" sourceLinked="0"/>
        <c:majorTickMark val="none"/>
        <c:minorTickMark val="none"/>
        <c:tickLblPos val="nextTo"/>
        <c:spPr>
          <a:ln>
            <a:solidFill>
              <a:srgbClr val="D5DCEA"/>
            </a:solidFill>
          </a:ln>
        </c:spPr>
        <c:txPr>
          <a:bodyPr/>
          <a:lstStyle/>
          <a:p>
            <a:pPr>
              <a:defRPr sz="1300">
                <a:solidFill>
                  <a:srgbClr val="1B2340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6.5"/>
          <c:min val="0.5"/>
        </c:scaling>
        <c:delete val="0"/>
        <c:axPos val="l"/>
        <c:majorGridlines>
          <c:spPr>
            <a:ln w="9525">
              <a:solidFill>
                <a:srgbClr val="D5DCEA"/>
              </a:solidFill>
            </a:ln>
          </c:spPr>
        </c:majorGridlines>
        <c:numFmt formatCode="General" sourceLinked="1"/>
        <c:majorTickMark val="none"/>
        <c:minorTickMark val="none"/>
        <c:tickLblPos val="none"/>
        <c:spPr>
          <a:ln w="28575">
            <a:solidFill>
              <a:srgbClr val="1C3073"/>
            </a:solidFill>
          </a:ln>
        </c:spPr>
        <c:txPr>
          <a:bodyPr/>
          <a:lstStyle/>
          <a:p>
            <a:pPr>
              <a:defRPr sz="1300">
                <a:solidFill>
                  <a:srgbClr val="1B2340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300">
          <a:solidFill>
            <a:srgbClr val="1B234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47CC7-B60F-E24D-887B-F1BF04B00116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3D6D-BE97-6B47-B4F2-F19FC31E4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9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answers one question for any country and any cut, and is built for comparing scenarios rather than producing a single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names are the dashboard's own labels, spelled as displayed. The Custom scenario sets a bilateral and a multilateral cut for each of 14 donor groups and a channel cut for the Global Fund, Gavi, WHO and UNICEF.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step names are the model's own (docs/EXPLAINER.md, section 1), in the order the code applies them: the government response is netted off the lost aid before it is divided by the cost per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aid for the four areas is the ranking variable. The US share includes US money through every channel, including its contributions to the Global Fund and Gavi.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shows IHME's own coding. The model later splits the 'purpose not stated' money using Global Fund grant module shares; that allocation is not shown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Pooled over the countries each channel funds: sum of people lost divided by sum of money lost. TB and vaccine counts per dollar are not shown because their unit costs are flagged as uncertain.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Rwanda is also above 90% today but is left out: its result depends on the estimated number of donor-funded patients, which the deck treats as not well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MOU preset applies only to the 16 countries with a signed MOU and a schedule, so it has no all-country bar. Both presets include the US exits from WHO, Gavi and UNFPA and a 23% cut to its Global Fund pledge.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pooled estimate across 97 countries is −0.19, but its interval includes zero. In the 26 low-income countries the estimate is +0.01 with a tight interval: spending neither fell nor rose when aid fell. 15 of the 16 MOU countries are in the IHME panel. Dot = estimate; band = 95% confidence interval (clustered by country). Country and year fixed effects; regressors: aid falls this year and last, and GDP growth. Below 0: spending fell with aid; above 0: lost aid replaced.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 2 comes from a multilateral, all-donor scenario: the Global Fund &amp; Gavi Shortfalls preset at its defaults. The Gavi −15% default is the team's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latin typeface="Georgia" panose="02040502050405020303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200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30"/>
            <a:ext cx="10566400" cy="44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7724447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kern="1200" smtClean="0">
                <a:solidFill>
                  <a:schemeClr val="tx1">
                    <a:tint val="82000"/>
                  </a:schemeClr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sz="1400" kern="1200">
              <a:solidFill>
                <a:schemeClr val="tx1">
                  <a:tint val="82000"/>
                </a:schemeClr>
              </a:solidFill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aleway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aleway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aleway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aleway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chart" Target="../charts/chart3.xml"/><Relationship Id="rId5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2F52A4"/>
            </a:gs>
            <a:gs pos="23000">
              <a:srgbClr val="0E245F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0802C6-3165-3762-AE31-6222ACFF8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572C-9CE6-6236-3754-B0CA61F82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3429000"/>
            <a:ext cx="9444908" cy="712432"/>
          </a:xfrm>
          <a:noFill/>
          <a:ln w="28575">
            <a:noFill/>
          </a:ln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Franklin Gothic"/>
                <a:ea typeface="+mj-lt"/>
                <a:cs typeface="+mj-lt"/>
              </a:rPr>
              <a:t>Dashboard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95DA4538-3AF9-742C-D58A-92C50D7C9652}"/>
              </a:ext>
            </a:extLst>
          </p:cNvPr>
          <p:cNvSpPr txBox="1"/>
          <p:nvPr/>
        </p:nvSpPr>
        <p:spPr>
          <a:xfrm>
            <a:off x="548640" y="2266121"/>
            <a:ext cx="795130" cy="100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400">
                <a:solidFill>
                  <a:srgbClr val="8FA8E0"/>
                </a:solidFill>
                <a:latin typeface="Arial"/>
                <a:cs typeface="Arial"/>
              </a:rPr>
              <a:t>03</a:t>
            </a:r>
            <a:endParaRPr lang="en-US" sz="5400">
              <a:solidFill>
                <a:srgbClr val="8FA8E0"/>
              </a:solidFill>
            </a:endParaRPr>
          </a:p>
        </p:txBody>
      </p:sp>
      <p:pic>
        <p:nvPicPr>
          <p:cNvPr id="4" name="Image 1" descr="logo_white.png">
            <a:extLst>
              <a:ext uri="{FF2B5EF4-FFF2-40B4-BE49-F238E27FC236}">
                <a16:creationId xmlns:a16="http://schemas.microsoft.com/office/drawing/2014/main" id="{D262E644-BC6B-ECE9-5CD7-3AEFA3C56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43600"/>
            <a:ext cx="2377440" cy="39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7939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The dashboard turns aid cuts into people losing services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38944" y="105000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944" y="1050000"/>
            <a:ext cx="900000" cy="246682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944" y="1050000"/>
            <a:ext cx="2300000" cy="246682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944" y="1050000"/>
            <a:ext cx="8214112" cy="246682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3A4258"/>
                </a:solidFill>
                <a:latin typeface="Arial"/>
              </a:rPr>
              <a:t>When donor health aid is cut in 2026-2030, how many people a year lose HIV, TB, malaria and routine immunization services in each of 70 countries, and how much of the lost aid can each government replace?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944" y="3516825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944" y="3516825"/>
            <a:ext cx="900000" cy="246682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944" y="3516825"/>
            <a:ext cx="2300000" cy="246682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944" y="3516825"/>
            <a:ext cx="8214112" cy="2466825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3A4258"/>
                </a:solidFill>
                <a:latin typeface="Arial"/>
              </a:rPr>
              <a:t>For WHO and ministries of health: run any Donor Scenario country by country, see which services and channels lose most, and test each Government Response option against the country's fiscal space.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944" y="598365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Any donor, channel, cut pace and replacement, for 71 countries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944" y="1050000"/>
          <a:ext cx="11514111" cy="47036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0400"/>
                <a:gridCol w="9503711"/>
              </a:tblGrid>
              <a:tr h="4600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You set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1C3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Options, as labelled in the dashboard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1C3073"/>
                    </a:solidFill>
                  </a:tcPr>
                </a:tc>
              </a:tr>
              <a:tr h="707275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1306F"/>
                          </a:solidFill>
                          <a:latin typeface="Arial"/>
                        </a:rPr>
                        <a:t>Who cuts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A4258"/>
                          </a:solidFill>
                          <a:latin typeface="Arial"/>
                        </a:rPr>
                        <a:t>Custom: the United States or any of 13 other donor groups, or every donor’s money through the Global Fund, Gavi, WHO or UNICEF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F6F8FC"/>
                    </a:solidFill>
                  </a:tcPr>
                </a:tc>
              </a:tr>
              <a:tr h="707275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1306F"/>
                          </a:solidFill>
                          <a:latin typeface="Arial"/>
                        </a:rPr>
                        <a:t>How the cut flows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A4258"/>
                          </a:solidFill>
                          <a:latin typeface="Arial"/>
                        </a:rPr>
                        <a:t>Per donor: Bilateral &amp; NGO Cut % and Via Multilaterals Cut %; cuts combine as 1 − (1 − donor cut)(1 − channel cut)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7275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1306F"/>
                          </a:solidFill>
                          <a:latin typeface="Arial"/>
                        </a:rPr>
                        <a:t>How fast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A4258"/>
                          </a:solidFill>
                          <a:latin typeface="Arial"/>
                        </a:rPr>
                        <a:t>How Funding Changes, 2026-2030: Sudden (Default), Linear Phase-Out, Front-Loaded, Back-Loaded, S-Curve, Custom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F6F8FC"/>
                    </a:solidFill>
                  </a:tcPr>
                </a:tc>
              </a:tr>
              <a:tr h="707275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1306F"/>
                          </a:solidFill>
                          <a:latin typeface="Arial"/>
                        </a:rPr>
                        <a:t>What fills the gap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A4258"/>
                          </a:solidFill>
                          <a:latin typeface="Arial"/>
                        </a:rPr>
                        <a:t>Government Response: No Government Replacement (default), Replace a Set Share, As Much as Fiscal Space Allows or Gradual Budget Increase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7275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1306F"/>
                          </a:solidFill>
                          <a:latin typeface="Arial"/>
                        </a:rPr>
                        <a:t>Presets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A4258"/>
                          </a:solidFill>
                          <a:latin typeface="Arial"/>
                        </a:rPr>
                        <a:t>Donor Scenario: US Bilateral Exit + Multilateral Withdrawals; America First MOUs; IHME 2025 Preliminary Estimates; Total-Aid Cuts (OECD) Applied to Health Aid; Global Fund &amp; Gavi Shortfalls; Combined Retreat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F6F8FC"/>
                    </a:solidFill>
                  </a:tcPr>
                </a:tc>
              </a:tr>
              <a:tr h="707275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1306F"/>
                          </a:solidFill>
                          <a:latin typeface="Arial"/>
                        </a:rPr>
                        <a:t>Uncertainty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A4258"/>
                          </a:solidFill>
                          <a:latin typeface="Arial"/>
                        </a:rPr>
                        <a:t>Range Across Parameter Values: 2.5th to 97.5th percentile of 400 parameter draws, beside every central estimate</a:t>
                      </a:r>
                    </a:p>
                  </a:txBody>
                  <a:tcPr marL="45720" marR="45720" marT="18288" marB="18288" anchor="ctr">
                    <a:lnL w="9525">
                      <a:solidFill>
                        <a:srgbClr val="D5DCEA"/>
                      </a:solidFill>
                    </a:lnL>
                    <a:lnR w="9525">
                      <a:solidFill>
                        <a:srgbClr val="D5DCEA"/>
                      </a:solidFill>
                    </a:lnR>
                    <a:lnT w="9525">
                      <a:solidFill>
                        <a:srgbClr val="D5DCEA"/>
                      </a:solidFill>
                    </a:lnT>
                    <a:lnB w="9525">
                      <a:solidFill>
                        <a:srgbClr val="D5DC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38944" y="5793650"/>
            <a:ext cx="11514112" cy="19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 Nova"/>
              </a:rPr>
              <a:t>Source: dashboard code (scenarios.py, model_section.py, paths_ui.py), October 2026; 71 countries listed, 70 with recorded aid (Panama has none).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Section A: How the dashboard is built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38944" y="105000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944" y="105000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944" y="105000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944" y="105000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A cut is announced in US dollars; how many people then lose a service, and how much coverage falls, is not.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944" y="269455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944" y="269455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944" y="269455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944" y="269455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IHME aid by donor, channel and service, joined to cost per person served, people in need and government budgets for 70 countries, in five linked steps.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944" y="433910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944" y="433910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944" y="433910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944" y="433910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Any Donor Scenario runs from US$ lost to people losing each service and coverage points lost, with a 2.5th to 97.5th percentile range from 400 draws.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944" y="598365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Five linked steps turn a donor’s cut into lost services and coverage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490355" y="2151825"/>
            <a:ext cx="9211288" cy="0"/>
          </a:xfrm>
          <a:prstGeom prst="line">
            <a:avLst/>
          </a:prstGeom>
          <a:ln w="254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90355" y="1651825"/>
            <a:ext cx="1000000" cy="1000000"/>
          </a:xfrm>
          <a:prstGeom prst="ellipse">
            <a:avLst/>
          </a:prstGeom>
          <a:solidFill>
            <a:srgbClr val="3D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384" y="2771825"/>
            <a:ext cx="2119942" cy="62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1306F"/>
                </a:solidFill>
                <a:latin typeface="Arial"/>
              </a:rPr>
              <a:t>Aid Money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384" y="3431825"/>
            <a:ext cx="2119942" cy="6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3A4258"/>
                </a:solidFill>
                <a:latin typeface="Arial"/>
              </a:rPr>
              <a:t>By donor, channel, service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90355" y="4111825"/>
            <a:ext cx="1000000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0384" y="4191825"/>
            <a:ext cx="2119942" cy="56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Arial"/>
              </a:rPr>
              <a:t>IHME DAH 1990-2026, 2021-23 average</a:t>
            </a:r>
          </a:p>
        </p:txBody>
      </p:sp>
      <p:sp>
        <p:nvSpPr>
          <p:cNvPr id="13" name="Oval 12"/>
          <p:cNvSpPr/>
          <p:nvPr/>
        </p:nvSpPr>
        <p:spPr>
          <a:xfrm>
            <a:off x="3293177" y="1651825"/>
            <a:ext cx="1000000" cy="1000000"/>
          </a:xfrm>
          <a:prstGeom prst="ellipse">
            <a:avLst/>
          </a:prstGeom>
          <a:solidFill>
            <a:srgbClr val="3D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3206" y="2771825"/>
            <a:ext cx="2119942" cy="62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1306F"/>
                </a:solidFill>
                <a:latin typeface="Arial"/>
              </a:rPr>
              <a:t>Scenario Cut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3206" y="3431825"/>
            <a:ext cx="2119942" cy="6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3A4258"/>
                </a:solidFill>
                <a:latin typeface="Arial"/>
              </a:rPr>
              <a:t>Share cut, 2026-2030 path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3177" y="4111825"/>
            <a:ext cx="1000000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33206" y="4191825"/>
            <a:ext cx="2119942" cy="56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Arial"/>
              </a:rPr>
              <a:t>KFF MOU tracker; OECD ODA 2025; IHME 2025</a:t>
            </a:r>
          </a:p>
        </p:txBody>
      </p:sp>
      <p:sp>
        <p:nvSpPr>
          <p:cNvPr id="18" name="Oval 17"/>
          <p:cNvSpPr/>
          <p:nvPr/>
        </p:nvSpPr>
        <p:spPr>
          <a:xfrm>
            <a:off x="5595999" y="1651825"/>
            <a:ext cx="1000000" cy="1000000"/>
          </a:xfrm>
          <a:prstGeom prst="ellipse">
            <a:avLst/>
          </a:prstGeom>
          <a:solidFill>
            <a:srgbClr val="3D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6028" y="2771825"/>
            <a:ext cx="2119942" cy="62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1306F"/>
                </a:solidFill>
                <a:latin typeface="Arial"/>
              </a:rPr>
              <a:t>Government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6028" y="3431825"/>
            <a:ext cx="2119942" cy="6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3A4258"/>
                </a:solidFill>
                <a:latin typeface="Arial"/>
              </a:rPr>
              <a:t>Four replacement options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95999" y="4111825"/>
            <a:ext cx="1000000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36028" y="4191825"/>
            <a:ext cx="2119942" cy="56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Arial"/>
              </a:rPr>
              <a:t>IHME Health Spending; WB WDI; IMF WEO</a:t>
            </a:r>
          </a:p>
        </p:txBody>
      </p:sp>
      <p:sp>
        <p:nvSpPr>
          <p:cNvPr id="23" name="Oval 22"/>
          <p:cNvSpPr/>
          <p:nvPr/>
        </p:nvSpPr>
        <p:spPr>
          <a:xfrm>
            <a:off x="7898821" y="1651825"/>
            <a:ext cx="1000000" cy="1000000"/>
          </a:xfrm>
          <a:prstGeom prst="ellipse">
            <a:avLst/>
          </a:prstGeom>
          <a:solidFill>
            <a:srgbClr val="3D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8850" y="2771825"/>
            <a:ext cx="2119942" cy="62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1306F"/>
                </a:solidFill>
                <a:latin typeface="Arial"/>
              </a:rPr>
              <a:t>Services Lost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8850" y="3431825"/>
            <a:ext cx="2119942" cy="6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3A4258"/>
                </a:solidFill>
                <a:latin typeface="Arial"/>
              </a:rPr>
              <a:t>Net loss ÷ cost per person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98821" y="4111825"/>
            <a:ext cx="1000000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38850" y="4191825"/>
            <a:ext cx="2119942" cy="56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Arial"/>
              </a:rPr>
              <a:t>GHCC unit costs (ART, TB), 2023 US$</a:t>
            </a:r>
          </a:p>
        </p:txBody>
      </p:sp>
      <p:sp>
        <p:nvSpPr>
          <p:cNvPr id="28" name="Oval 27"/>
          <p:cNvSpPr/>
          <p:nvPr/>
        </p:nvSpPr>
        <p:spPr>
          <a:xfrm>
            <a:off x="10201643" y="1651825"/>
            <a:ext cx="1000000" cy="1000000"/>
          </a:xfrm>
          <a:prstGeom prst="ellipse">
            <a:avLst/>
          </a:prstGeom>
          <a:solidFill>
            <a:srgbClr val="1C3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1672" y="2771825"/>
            <a:ext cx="2119942" cy="62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1306F"/>
                </a:solidFill>
                <a:latin typeface="Arial"/>
              </a:rPr>
              <a:t>Coverage 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1672" y="3431825"/>
            <a:ext cx="2119942" cy="6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3A4258"/>
                </a:solidFill>
                <a:latin typeface="Arial"/>
              </a:rPr>
              <a:t>Lost ÷ people in need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201643" y="4111825"/>
            <a:ext cx="1000000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641672" y="4191825"/>
            <a:ext cx="2119942" cy="56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Arial"/>
              </a:rPr>
              <a:t>UNAIDS, WHO, MAP, WUENIC, 2024-25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944" y="5793650"/>
            <a:ext cx="11514112" cy="19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 Nova"/>
              </a:rPr>
              <a:t>Sources: IHME DAH; KFF; OECD; IHME Health Spending; WB WDI; IMF WEO; GHCC; UNAIDS; WHO GTB; MAP; WUENIC (see References); health_model.py.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Section B: Where the money comes from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38944" y="105000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944" y="105000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944" y="105000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944" y="105000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How exposed a country is to a cut depends on who pays for its services and through which channel.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944" y="269455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944" y="269455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944" y="269455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944" y="269455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IHME DAH aid for HIV, TB, malaria and immunization, 2021-23 average, split by donor, channel and IHME programme area for 70 countries.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944" y="433910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944" y="433910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944" y="433910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944" y="433910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The US pays US$5.2B of US$10.3B a year (50%), and over 50% in 10 of the 20 largest recipients.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944" y="598365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The US pays over half the aid in 10 of the 20 largest recipients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944" y="5451650"/>
            <a:ext cx="11514112" cy="302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Across all 70 countries the US pays 50%: US$5.2B of US$10.3B a year, 2021-23 average, constant 2023 US$.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38944" y="1050000"/>
          <a:ext cx="11514112" cy="43616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38944" y="5793650"/>
            <a:ext cx="11514112" cy="19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 Nova"/>
              </a:rPr>
              <a:t>Source: IHME DAH 1990-2026, 2021-23 average, constant 2023 US$; model_data/dah_lines.csv (prepare_model.py).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54% of aid pays directly for services; a fifth has no stated purpose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944" y="5189650"/>
            <a:ext cx="11514112" cy="564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Direct services: ART, PMTCT, HIV prevention, OVC, TB care, bednets, spraying, malaria care, vaccines.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Of US$10.3B a year: systems support 19%, purpose not stated 20%, HIV testing and care 7%.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38944" y="1050000"/>
          <a:ext cx="11514112" cy="40996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38944" y="5793650"/>
            <a:ext cx="11514112" cy="19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 Nova"/>
              </a:rPr>
              <a:t>Source: IHME DAH 1990-2026, 2021-23 average, constant 2023 US$; HIV, TB, malaria and immunization areas grouped as in prepare_model.LINES.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Section C: What a cut removes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38944" y="105000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944" y="105000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944" y="105000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944" y="105000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The same US$1M cut removes different services depending on the channel it flows through and the country.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944" y="269455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944" y="269455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944" y="269455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944" y="269455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Services Lost = net aid lost on each service ÷ cost per person served, capped at the people donor money pays for; the same for any donor and any channel.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944" y="433910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944" y="433910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944" y="433910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944" y="433910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On signed MOU schedules, ART coverage falls below 90% in two countries in 2026. US Bilateral Exit + Multilateral Withdrawals, the upper bound, stops ART for 4.86M people a year.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944" y="598365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Per US$1M, US bilateral cuts remove 2.7× the ART of Global Fund cuts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944" y="4927650"/>
            <a:ext cx="11514112" cy="826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Each channel cut alone, by the share losing US$10M a year per country (half its baseline if below US$20M).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Sudden (Default) path, no replacement; full-cost equivalents after 15% continuity (assumption).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Gavi money buys vaccines only, so a Gavi cut removes no ART.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38944" y="1050000"/>
          <a:ext cx="11514112" cy="38376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38944" y="5793650"/>
            <a:ext cx="11514112" cy="19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 Nova"/>
              </a:rPr>
              <a:t>Source: model output, audit/channels/run_channels.py (health_model.run_country, central run); IHME DAH 1990-2026, 2021-23 average.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Under the MOUs, ART coverage falls below 90% in two countries in 2026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944" y="4927650"/>
            <a:ext cx="11514112" cy="826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Eswatini and Lesotho fall below 90% in 2026 and Kenya in 2028; Botswana stays at 94% or above.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US bilateral cuts on each signed MOU schedule only (no US multilateral exits); no replacement; 15% continuity (assumption).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Rwanda (94% in 2025) is not shown: its result rests on an estimated count of donor-funded patients.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38944" y="1050000"/>
          <a:ext cx="11514112" cy="38376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38944" y="5793650"/>
            <a:ext cx="11514112" cy="19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 Nova"/>
              </a:rPr>
              <a:t>Source: UNAIDS AIDSinfo 2026 (2025 coverage); KFF MOU tracker and team MOU sheet; model output, audit/concentration/run_concentration.py.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Upper bound: 4.86M people a year stop ART under a full US exit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944" y="4927650"/>
            <a:ext cx="11514112" cy="826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Full exit: US Bilateral &amp; NGO aid −100% from 2026; US money via WHO, Gavi, UNFPA −100%; US Global Fund pledge −23%.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America First MOUs: US bilateral cuts on each signed MOU schedule plus the same US multilateral exits. No replacement.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3A4258"/>
                </a:solidFill>
                <a:latin typeface="Arial"/>
              </a:rPr>
              <a:t>Aid lost a year: US$0.70B (MOUs, 16 countries); US$1.90B (full exit, 16); US$3.96B (full exit, 70).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38944" y="1050000"/>
          <a:ext cx="11514112" cy="38376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38944" y="5793650"/>
            <a:ext cx="11514112" cy="19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 Nova"/>
              </a:rPr>
              <a:t>Source: model output (health_model.run_country, central run), presets America First MOUs and US Bilateral Exit + Multilateral Withdrawals; IHME DAH 2021-23.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Section D: What governments can replace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38944" y="105000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944" y="105000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944" y="105000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944" y="105000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How much lost aid a government replaces decides how many people lose a service.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944" y="269455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944" y="269455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944" y="269455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944" y="269455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A two-way fixed-effects regression on IHME data, 97 countries, 2002-23; in the dashboard, Government Response sets the replacement for any Donor Scenario.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944" y="433910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944" y="433910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944" y="433910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944" y="433910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When aid fell, low-income governments neither replaced it nor cut their own health spending (+0.01 per US$1 lost, 26 countries).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944" y="598365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When aid fell, low-income governments kept health spending unchanged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944" y="1050000"/>
          <a:ext cx="11514112" cy="46636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38944" y="1279638"/>
            <a:ext cx="2787088" cy="3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4A5568"/>
                </a:solidFill>
                <a:latin typeface="Arial"/>
              </a:rPr>
              <a:t>Country group (countries)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7472" y="1279638"/>
            <a:ext cx="8059878" cy="300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4A5568"/>
                </a:solidFill>
                <a:latin typeface="Arial"/>
              </a:rPr>
              <a:t>Dot: estimate.  Bar: 95% confidence interval.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944" y="1719457"/>
            <a:ext cx="2787088" cy="3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1306F"/>
                </a:solidFill>
                <a:latin typeface="Arial"/>
              </a:rPr>
              <a:t>All countries (97)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944" y="2279095"/>
            <a:ext cx="2787088" cy="3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Arial"/>
              </a:rPr>
              <a:t>Upper-middle income (32)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944" y="2838733"/>
            <a:ext cx="2787088" cy="3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Arial"/>
              </a:rPr>
              <a:t>Lower-middle income (37)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944" y="3398371"/>
            <a:ext cx="2787088" cy="3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1306F"/>
                </a:solidFill>
                <a:latin typeface="Arial"/>
              </a:rPr>
              <a:t>Low income (26)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944" y="3958009"/>
            <a:ext cx="2787088" cy="3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1306F"/>
                </a:solidFill>
                <a:latin typeface="Arial"/>
              </a:rPr>
              <a:t>Most aid-dependent third (32)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944" y="4517647"/>
            <a:ext cx="2787088" cy="340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1306F"/>
                </a:solidFill>
                <a:latin typeface="Arial"/>
              </a:rPr>
              <a:t>MOU countries in the panel (15)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944" y="5793650"/>
            <a:ext cx="11514112" cy="19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 Nova"/>
              </a:rPr>
              <a:t>Source: IHME Health Spending 1995-2023 (GHES per person); IHME DAH 1990-2026; prepare_model.twoway_fe; audit/fiscal_history/run_fiscal_history.py.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Section E: Insights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338944" y="105000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944" y="105000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944" y="105000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8944" y="105000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To guide WHO, a result has to hold across countries and donors, not rest on one country.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944" y="269455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944" y="269455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944" y="269455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944" y="269455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All six presets and six single-channel cuts run for all 70 countries; results resting on flagged inputs (TB costs, vaccine unit costs, estimated donor-funded patients) dropped.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944" y="433910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944" y="4339100"/>
            <a:ext cx="9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3D63B0"/>
                </a:solidFill>
                <a:latin typeface="Franklin Gothic Medium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944" y="4339100"/>
            <a:ext cx="2300000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21306F"/>
                </a:solidFill>
                <a:latin typeface="Franklin Gothic Medium"/>
              </a:rPr>
              <a:t>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944" y="4339100"/>
            <a:ext cx="8214112" cy="164455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3A4258"/>
                </a:solidFill>
                <a:latin typeface="Arial"/>
              </a:rPr>
              <a:t>Five results kept: US funding share, Global Fund &amp; Gavi Shortfalls, ART per US$1M by channel, MOU ART coverage, past government response.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944" y="598365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Five results hold across countries, donors and channels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944" y="1050000"/>
            <a:ext cx="640000" cy="9407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1C307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464" y="1050000"/>
            <a:ext cx="10782592" cy="9407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3A4258"/>
                </a:solidFill>
                <a:latin typeface="Arial"/>
              </a:rPr>
              <a:t>The US pays 50% (US$5.2B of US$10.3B a year) of HIV, TB, malaria and immunization aid in 70 countries, and over 50% in 10 of the 20 largest recipients.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944" y="199073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8944" y="1990730"/>
            <a:ext cx="640000" cy="9407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1C3073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464" y="1990730"/>
            <a:ext cx="10782592" cy="9407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3A4258"/>
                </a:solidFill>
                <a:latin typeface="Arial"/>
              </a:rPr>
              <a:t>Global Fund &amp; Gavi Shortfalls (every donor: Global Fund −20%, Gavi −15%) removes US$1.02B of aid a year across 70 countries.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944" y="293146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944" y="2931460"/>
            <a:ext cx="640000" cy="9407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1C3073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464" y="2931460"/>
            <a:ext cx="10782592" cy="9407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3A4258"/>
                </a:solidFill>
                <a:latin typeface="Arial"/>
              </a:rPr>
              <a:t>Per US$1M lost, a US Bilateral &amp; NGO cut removes 1,083 ART patient-years a year and a Global Fund cut 407 (58 and 68 countries funded).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944" y="387219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944" y="3872190"/>
            <a:ext cx="640000" cy="9407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1C3073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0464" y="3872190"/>
            <a:ext cx="10782592" cy="9407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3A4258"/>
                </a:solidFill>
                <a:latin typeface="Arial"/>
              </a:rPr>
              <a:t>On signed MOU schedules (US bilateral cuts only), ART coverage falls below 90% in Eswatini and Lesotho in 2026 and Kenya in 2028.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8944" y="4812920"/>
            <a:ext cx="11514112" cy="0"/>
          </a:xfrm>
          <a:prstGeom prst="line">
            <a:avLst/>
          </a:prstGeom>
          <a:ln w="12700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8944" y="4812920"/>
            <a:ext cx="640000" cy="9407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1C3073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0464" y="4812920"/>
            <a:ext cx="10782592" cy="94073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3A4258"/>
                </a:solidFill>
                <a:latin typeface="Arial"/>
              </a:rPr>
              <a:t>When aid fell in 2002-23, government health spending in 26 low-income countries did not move: +0.01 per US$1 lost (−0.04 to +0.06).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944" y="5793650"/>
            <a:ext cx="11514112" cy="190000"/>
          </a:xfrm>
          <a:prstGeom prst="rect">
            <a:avLst/>
          </a:prstGeom>
          <a:noFill/>
        </p:spPr>
        <p:txBody>
          <a:bodyPr wrap="square" anchor="b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 Nova"/>
              </a:rPr>
              <a:t>Sources: IHME DAH 1990-2026, 2021-23; model output by preset (audit/slide_numbers.md table b, audit/channels, audit/concentration, audit/fiscal_history).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B666174-1790-6004-BEB0-3B8E5E80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88" y="-58259"/>
            <a:ext cx="12444026" cy="1012771"/>
          </a:xfrm>
          <a:solidFill>
            <a:srgbClr val="1C3073"/>
          </a:solidFill>
          <a:ln w="57150">
            <a:solidFill>
              <a:srgbClr val="1B2F73"/>
            </a:solidFill>
          </a:ln>
        </p:spPr>
        <p:txBody>
          <a:bodyPr vert="horz" lIns="360932" tIns="45720" rIns="360932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latin typeface="Franklin Gothic Medium"/>
                <a:ea typeface="+mj-lt"/>
                <a:cs typeface="+mj-lt"/>
              </a:rPr>
              <a:t>References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B881-0544-15FF-BC10-8D0A3FF1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44" y="6257970"/>
            <a:ext cx="491134" cy="4650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6" y="6258187"/>
            <a:ext cx="2419332" cy="56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944" y="1050000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IHME DAH.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Institute for Health Metrics and Evaluation. Development Assistance for Health Database 1990-2026.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944" y="1754807"/>
            <a:ext cx="5619896" cy="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38944" y="1754807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IHME Health Spending.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Institute for Health Metrics and Evaluation. Health spending 1995-2023 (government health spending, GHES).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944" y="2459614"/>
            <a:ext cx="5619896" cy="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944" y="2459614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UNAIDS.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Joint United Nations Programme on HIV/AIDS. AIDSinfo estimates, 2026 release (data for 2025).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944" y="3164421"/>
            <a:ext cx="5619896" cy="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944" y="3164421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WHO GTB.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World Health Organization. Global Tuberculosis Report data, 2024.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944" y="3869228"/>
            <a:ext cx="5619896" cy="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8944" y="3869228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MAP.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Malaria Atlas Project. National estimates of net use, spraying and treatment, 2025.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944" y="4574035"/>
            <a:ext cx="5619896" cy="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8944" y="4574035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WUENIC.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WHO/UNICEF Estimates of National Immunization Coverage, 2025 revision.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8944" y="5278842"/>
            <a:ext cx="5619896" cy="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8944" y="5278842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WHO GHED.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World Health Organization. Global Health Expenditure Database, December 2025 update.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160" y="1050000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GHCC.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Global Health Cost Consortium. Unit Cost Study Repository (HIV ART, TB), 2015-2021 studies.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33160" y="1754807"/>
            <a:ext cx="5619896" cy="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33160" y="1754807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IMF WEO.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International Monetary Fund. World Economic Outlook, October 2026.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33160" y="2459614"/>
            <a:ext cx="5619896" cy="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33160" y="2459614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WB WDI.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World Bank. World Development Indicators, latest year available.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33160" y="3164421"/>
            <a:ext cx="5619896" cy="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33160" y="3164421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OECD ODA 2025.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OECD. Preliminary official development assistance data for 2025, April 2026.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33160" y="3869228"/>
            <a:ext cx="5619896" cy="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33160" y="3869228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KFF MOU tracker.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KFF. America First Global Health MOU tracker, 2026; project team MOU schedule sheet.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33160" y="4574035"/>
            <a:ext cx="5619896" cy="0"/>
          </a:xfrm>
          <a:prstGeom prst="line">
            <a:avLst/>
          </a:prstGeom>
          <a:ln w="9525">
            <a:solidFill>
              <a:srgbClr val="D5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33160" y="4574035"/>
            <a:ext cx="5619896" cy="704807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1306F"/>
                </a:solidFill>
                <a:latin typeface="Arial"/>
              </a:rPr>
              <a:t>Model. </a:t>
            </a:r>
            <a:r>
              <a:rPr sz="1200" b="0">
                <a:solidFill>
                  <a:srgbClr val="000000"/>
                </a:solidFill>
                <a:latin typeface="Arial Nova"/>
              </a:rPr>
              <a:t>Capstone dashboard model (health_model.py, scenarios.py, prepare_model.py) and audit scripts, October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42</Slides>
  <Notes>31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Adapting to Withdrawal from Development Assistance  for Global Health </vt:lpstr>
      <vt:lpstr>PowerPoint Presentation</vt:lpstr>
      <vt:lpstr>PowerPoint Presentation</vt:lpstr>
      <vt:lpstr> Recap</vt:lpstr>
      <vt:lpstr>PowerPoint Presentation</vt:lpstr>
      <vt:lpstr>OECD Aid Cut Projections </vt:lpstr>
      <vt:lpstr>PowerPoint Presentation</vt:lpstr>
      <vt:lpstr>How we built the projections</vt:lpstr>
      <vt:lpstr>Main findings: health aid falls about 25% by 2030</vt:lpstr>
      <vt:lpstr>Assumptions and caveats</vt:lpstr>
      <vt:lpstr>Dashboard</vt:lpstr>
      <vt:lpstr> The Dashboard Links Aid, Budgets And Health Data To Show Coverage At Risk From Aid Cuts</vt:lpstr>
      <vt:lpstr>Dashboard – Domestic government and international aid contribute to health spending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Live Demo: Choosing A Country And Scenario Reveals Which Services An Aid Cut Puts At Risk</vt:lpstr>
      <vt:lpstr>Historical patterns show that when the US decreases aid, countries decreased domestic government health expenditure by 19 cents</vt:lpstr>
      <vt:lpstr>Findings</vt:lpstr>
      <vt:lpstr>Domestic resource mobilization capacity – can countries grow their way out of the problem?</vt:lpstr>
      <vt:lpstr>Typical OECD cut averages were similar across income groups </vt:lpstr>
      <vt:lpstr>PowerPoint Presentation</vt:lpstr>
      <vt:lpstr>PowerPoint Presentation</vt:lpstr>
      <vt:lpstr>Most countries need only a modest shift in budget priority, but a few would need to at least double their health share</vt:lpstr>
      <vt:lpstr>Loans tied to health priorities can incentivize new funds to be invested into health</vt:lpstr>
      <vt:lpstr>DAH prioritization – where should donors be targeting remaining funds?</vt:lpstr>
      <vt:lpstr>Recall: Funding cuts show no consistent relationship with health need, leaving high risk countries vulnerable </vt:lpstr>
      <vt:lpstr>HIV Financing Transition: Country Risk-Tier Analysis</vt:lpstr>
      <vt:lpstr>Country risk map</vt:lpstr>
      <vt:lpstr>PowerPoint Presentation</vt:lpstr>
      <vt:lpstr>Priority tiers and intervention emphasis</vt:lpstr>
      <vt:lpstr>High-dependency programs are where remaining donor funds matter most</vt:lpstr>
      <vt:lpstr>Looking Ahead</vt:lpstr>
      <vt:lpstr>Calendar</vt:lpstr>
      <vt:lpstr>Discussion</vt:lpstr>
      <vt:lpstr>PowerPoint Presentation</vt:lpstr>
      <vt:lpstr> Dashboard-nModeling the cuts</vt:lpstr>
      <vt:lpstr> Dashboard – Modeling the aid retreat</vt:lpstr>
      <vt:lpstr>Malaria, TB and vaccines, by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2026-10-08T19:08:02Z</dcterms:created>
  <dcterms:modified xsi:type="dcterms:W3CDTF">2026-10-19T22:24:53Z</dcterms:modified>
</cp:coreProperties>
</file>