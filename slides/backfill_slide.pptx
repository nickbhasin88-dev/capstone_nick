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9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32CE1A-8192-6CCD-372F-F3977CFE8D9F}" name="Guest User" initials="GU" userId="S::urn:spo:tenantanon#bb23c62a-3879-438a-9af6-e0a615144cb1::" providerId="AD"/>
  <p188:author id="{51E35836-FC1C-2F35-9C7F-91149BD1D16A}" name="Key, Ting" initials="KT" userId="S::ting.key@yale.edu::0d0a0d55-ba7c-41e8-aae8-5fad554abe41" providerId="AD"/>
  <p188:author id="{FC121674-63FC-2252-4652-144B9521E271}" name="Khan, Ishnan" initials="KI" userId="S::ishnan.khan@yale.edu::e77345ac-040c-4d54-ae20-494105c8db15" providerId="AD"/>
  <p188:author id="{1E6A2694-C2C7-764A-3AB8-678BDE135EE6}" name="Alexandre-Burke, Kaley" initials="AK" userId="S::kaley.alexandre-burke@yale.edu::b862c00d-9ef3-4272-aefb-9ef3b0c56097" providerId="AD"/>
  <p188:author id="{BF114D99-D057-92B0-FB47-0ABBCAC06BAF}" name="Soe-Lin, Shan" initials="SS" userId="S::shan.soe-lin@yale.edu::97ef95a6-5890-469b-b8a4-7e4c71a364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F73"/>
    <a:srgbClr val="244B91"/>
    <a:srgbClr val="2F52A4"/>
    <a:srgbClr val="2F52A6"/>
    <a:srgbClr val="4A83FF"/>
    <a:srgbClr val="1D3073"/>
    <a:srgbClr val="E5EDFA"/>
    <a:srgbClr val="DEE8F8"/>
    <a:srgbClr val="DDE7F8"/>
    <a:srgbClr val="9CB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E19BD-9C7F-AF7F-24C9-2E3E9A6C656C}" v="2" dt="2026-10-19T01:43:07.295"/>
    <p1510:client id="{401BB271-3B6A-A276-33BF-98854A0E7F6A}" v="525" dt="2026-10-18T20:35:01.840"/>
    <p1510:client id="{41DA8606-C435-8F25-04CF-0707428A71E6}" v="239" dt="2026-10-19T20:43:26.458"/>
    <p1510:client id="{5AF2BED7-5C24-83A7-173A-B49D5C6F85FF}" v="19" dt="2026-10-19T21:52:18.925"/>
    <p1510:client id="{5F79C29F-C3F1-CF13-371E-ED3302F1D152}" v="34" dt="2026-10-19T19:56:13.078"/>
    <p1510:client id="{76FC189C-1A76-16B9-5B9C-25E8C3BC9060}" v="50" dt="2026-10-19T16:18:45.260"/>
    <p1510:client id="{81D52FA3-3E4D-84C0-2C5B-03FABE1E7F9C}" v="507" dt="2026-10-19T18:30:06.044"/>
    <p1510:client id="{82DC5BA5-7F05-D7BB-E915-69419C127304}" v="127" dt="2026-10-19T20:16:53.234"/>
    <p1510:client id="{C2E73322-11F1-49E4-8276-10BC1836A38E}" v="4" dt="2026-10-19T22:18:43.184"/>
    <p1510:client id="{D19D52E9-41F5-9FF1-F002-38597F71D974}" v="407" dt="2026-10-19T18:36:27.539"/>
    <p1510:client id="{D46C4316-4FE5-EF67-5B4F-BCE62032A18C}" v="37" dt="2026-10-18T04:38:59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5/10/relationships/revisionInfo" Target="revisionInfo.xml"/><Relationship Id="rId5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47CC7-B60F-E24D-887B-F1BF04B0011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3D6D-BE97-6B47-B4F2-F19FC31E4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9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97 countries, 2002-2023, when health aid fell by a dollar per person, government health spending fell by about 19 cents over that year and the next: none of it was replaced. Low-income countries, the most aid-dependent third and the 15 MOU countries show no clear change either way. When aid rose, government spending did not move. Same pattern as Dieleman &amp; Hanlon 2014 (Health Economics).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200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7724447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kern="1200" smtClean="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 kern="1200">
              <a:solidFill>
                <a:schemeClr val="tx1">
                  <a:tint val="82000"/>
                </a:schemeClr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aleway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aleway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aleway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aleway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Yale 2024"/>
                <a:ea typeface="+mj-lt"/>
                <a:cs typeface="+mj-lt"/>
              </a:rPr>
              <a:t>No Country Group Replaced Lost Aid With Its Own Health Spending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Yale 2024"/>
                <a:ea typeface="Yale 2024"/>
                <a:cs typeface="Yale 2024"/>
              </a:rPr>
              <a:t>1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1140000"/>
            <a:ext cx="11514112" cy="42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1C3073"/>
                </a:solidFill>
                <a:latin typeface="Yale 2024"/>
              </a:rPr>
              <a:t>Change in government health spending per US$1 of aid lost, by country group, 2002-23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58944" y="1810000"/>
            <a:ext cx="0" cy="299365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58944" y="4843650"/>
            <a:ext cx="800000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Yale 2024"/>
              </a:rPr>
              <a:t>−0.8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72418" y="1810000"/>
            <a:ext cx="0" cy="299365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72418" y="4843650"/>
            <a:ext cx="800000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Yale 2024"/>
              </a:rPr>
              <a:t>−0.6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85893" y="1810000"/>
            <a:ext cx="0" cy="299365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85893" y="4843650"/>
            <a:ext cx="800000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Yale 2024"/>
              </a:rPr>
              <a:t>−0.4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99368" y="1810000"/>
            <a:ext cx="0" cy="299365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99368" y="4843650"/>
            <a:ext cx="800000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Yale 2024"/>
              </a:rPr>
              <a:t>−0.2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2843" y="4843650"/>
            <a:ext cx="800000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Yale 2024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026318" y="1810000"/>
            <a:ext cx="0" cy="299365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626318" y="4843650"/>
            <a:ext cx="800000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Yale 2024"/>
              </a:rPr>
              <a:t>+0.2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8944" y="4803650"/>
            <a:ext cx="7774112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58944" y="5133650"/>
            <a:ext cx="7774112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Yale 2024"/>
              </a:rPr>
              <a:t>Change in government health spending per person, per US$1 of aid lost (constant 2023 US$)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944" y="1839470"/>
            <a:ext cx="35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306F"/>
                </a:solidFill>
                <a:latin typeface="Yale 2024"/>
              </a:rPr>
              <a:t>All countries (97)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3443" y="1944470"/>
            <a:ext cx="2447020" cy="230000"/>
          </a:xfrm>
          <a:prstGeom prst="rect">
            <a:avLst/>
          </a:prstGeom>
          <a:solidFill>
            <a:srgbClr val="8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56953" y="1939470"/>
            <a:ext cx="240000" cy="240000"/>
          </a:xfrm>
          <a:prstGeom prst="ellipse">
            <a:avLst/>
          </a:prstGeom>
          <a:solidFill>
            <a:srgbClr val="1C3073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2843" y="1839470"/>
            <a:ext cx="9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306F"/>
                </a:solidFill>
                <a:latin typeface="Yale 2024"/>
              </a:rPr>
              <a:t>−0.19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8944" y="2308941"/>
            <a:ext cx="11514112" cy="0"/>
          </a:xfrm>
          <a:prstGeom prst="line">
            <a:avLst/>
          </a:prstGeom>
          <a:ln w="635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8944" y="2338412"/>
            <a:ext cx="35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21306F"/>
                </a:solidFill>
                <a:latin typeface="Yale 2024"/>
              </a:rPr>
              <a:t>Upper-middle income (32)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2983" y="2443412"/>
            <a:ext cx="4767598" cy="230000"/>
          </a:xfrm>
          <a:prstGeom prst="rect">
            <a:avLst/>
          </a:prstGeom>
          <a:solidFill>
            <a:srgbClr val="8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6782" y="2438412"/>
            <a:ext cx="240000" cy="240000"/>
          </a:xfrm>
          <a:prstGeom prst="ellipse">
            <a:avLst/>
          </a:prstGeom>
          <a:solidFill>
            <a:srgbClr val="1C3073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2843" y="2338412"/>
            <a:ext cx="9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306F"/>
                </a:solidFill>
                <a:latin typeface="Yale 2024"/>
              </a:rPr>
              <a:t>−0.41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8944" y="2807883"/>
            <a:ext cx="11514112" cy="0"/>
          </a:xfrm>
          <a:prstGeom prst="line">
            <a:avLst/>
          </a:prstGeom>
          <a:ln w="635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8944" y="2837354"/>
            <a:ext cx="35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21306F"/>
                </a:solidFill>
                <a:latin typeface="Yale 2024"/>
              </a:rPr>
              <a:t>Lower-middle income (37)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9687" y="2942354"/>
            <a:ext cx="3288339" cy="230000"/>
          </a:xfrm>
          <a:prstGeom prst="rect">
            <a:avLst/>
          </a:prstGeom>
          <a:solidFill>
            <a:srgbClr val="8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3856" y="2937354"/>
            <a:ext cx="240000" cy="240000"/>
          </a:xfrm>
          <a:prstGeom prst="ellipse">
            <a:avLst/>
          </a:prstGeom>
          <a:solidFill>
            <a:srgbClr val="1C3073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8026" y="2837354"/>
            <a:ext cx="9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306F"/>
                </a:solidFill>
                <a:latin typeface="Yale 2024"/>
              </a:rPr>
              <a:t>−0.15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8944" y="3306825"/>
            <a:ext cx="11514112" cy="0"/>
          </a:xfrm>
          <a:prstGeom prst="line">
            <a:avLst/>
          </a:prstGeom>
          <a:ln w="635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8944" y="3336295"/>
            <a:ext cx="35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21306F"/>
                </a:solidFill>
                <a:latin typeface="Yale 2024"/>
              </a:rPr>
              <a:t>Low income (26)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3114" y="3441295"/>
            <a:ext cx="639443" cy="230000"/>
          </a:xfrm>
          <a:prstGeom prst="rect">
            <a:avLst/>
          </a:prstGeom>
          <a:solidFill>
            <a:srgbClr val="8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62836" y="3436295"/>
            <a:ext cx="240000" cy="240000"/>
          </a:xfrm>
          <a:prstGeom prst="ellipse">
            <a:avLst/>
          </a:prstGeom>
          <a:solidFill>
            <a:srgbClr val="1C3073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2558" y="3336295"/>
            <a:ext cx="9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306F"/>
                </a:solidFill>
                <a:latin typeface="Yale 2024"/>
              </a:rPr>
              <a:t>+0.01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8944" y="3805766"/>
            <a:ext cx="11514112" cy="0"/>
          </a:xfrm>
          <a:prstGeom prst="line">
            <a:avLst/>
          </a:prstGeom>
          <a:ln w="635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38944" y="3835237"/>
            <a:ext cx="35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21306F"/>
                </a:solidFill>
                <a:latin typeface="Yale 2024"/>
              </a:rPr>
              <a:t>Most aid-dependent third (32)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6249" y="3940237"/>
            <a:ext cx="2666976" cy="230000"/>
          </a:xfrm>
          <a:prstGeom prst="rect">
            <a:avLst/>
          </a:prstGeom>
          <a:solidFill>
            <a:srgbClr val="8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19737" y="3935237"/>
            <a:ext cx="240000" cy="240000"/>
          </a:xfrm>
          <a:prstGeom prst="ellipse">
            <a:avLst/>
          </a:prstGeom>
          <a:solidFill>
            <a:srgbClr val="1C3073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63225" y="3835237"/>
            <a:ext cx="9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306F"/>
                </a:solidFill>
                <a:latin typeface="Yale 2024"/>
              </a:rPr>
              <a:t>−0.05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38944" y="4304708"/>
            <a:ext cx="11514112" cy="0"/>
          </a:xfrm>
          <a:prstGeom prst="line">
            <a:avLst/>
          </a:prstGeom>
          <a:ln w="635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8944" y="4334179"/>
            <a:ext cx="35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21306F"/>
                </a:solidFill>
                <a:latin typeface="Yale 2024"/>
              </a:rPr>
              <a:t>MOU countries in the panel (15)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29153" y="4439179"/>
            <a:ext cx="3126286" cy="230000"/>
          </a:xfrm>
          <a:prstGeom prst="rect">
            <a:avLst/>
          </a:prstGeom>
          <a:solidFill>
            <a:srgbClr val="8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872296" y="4434179"/>
            <a:ext cx="240000" cy="240000"/>
          </a:xfrm>
          <a:prstGeom prst="ellipse">
            <a:avLst/>
          </a:prstGeom>
          <a:solidFill>
            <a:srgbClr val="1C3073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45440" y="4334179"/>
            <a:ext cx="900000" cy="4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1306F"/>
                </a:solidFill>
                <a:latin typeface="Yale 2024"/>
              </a:rPr>
              <a:t>−0.09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12843" y="1810000"/>
            <a:ext cx="0" cy="2993650"/>
          </a:xfrm>
          <a:prstGeom prst="line">
            <a:avLst/>
          </a:prstGeom>
          <a:ln w="22225">
            <a:solidFill>
              <a:srgbClr val="1C3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38944" y="5463650"/>
            <a:ext cx="11514112" cy="25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Yale 2024"/>
              </a:rPr>
              <a:t>Dot = central estimate; bar = 95% range. Below 0: government health spending fell with the aid; above 0 would be replacement.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Yale 2024"/>
              </a:rPr>
              <a:t>Source: IHME Health Spending 1995-2023 (GHES per person); IHME DAH 1990-2026. Country and year fixed effects; country-clustered standard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42</Slides>
  <Notes>31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Adapting to Withdrawal from Development Assistance  for Global Health </vt:lpstr>
      <vt:lpstr>PowerPoint Presentation</vt:lpstr>
      <vt:lpstr>PowerPoint Presentation</vt:lpstr>
      <vt:lpstr> Recap</vt:lpstr>
      <vt:lpstr>PowerPoint Presentation</vt:lpstr>
      <vt:lpstr>OECD Aid Cut Projections </vt:lpstr>
      <vt:lpstr>PowerPoint Presentation</vt:lpstr>
      <vt:lpstr>How we built the projections</vt:lpstr>
      <vt:lpstr>Main findings: health aid falls about 25% by 2030</vt:lpstr>
      <vt:lpstr>Assumptions and caveats</vt:lpstr>
      <vt:lpstr>Dashboard</vt:lpstr>
      <vt:lpstr> The Dashboard Links Aid, Budgets And Health Data To Show Coverage At Risk From Aid Cuts</vt:lpstr>
      <vt:lpstr>Dashboard – Domestic government and international aid contribute to health spending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Demo: Choosing A Country And Scenario Reveals Which Services An Aid Cut Puts At Risk</vt:lpstr>
      <vt:lpstr>Historical patterns show that when the US decreases aid, countries decreased domestic government health expenditure by 19 cents</vt:lpstr>
      <vt:lpstr>Findings</vt:lpstr>
      <vt:lpstr>Domestic resource mobilization capacity – can countries grow their way out of the problem?</vt:lpstr>
      <vt:lpstr>Typical OECD cut averages were similar across income groups </vt:lpstr>
      <vt:lpstr>PowerPoint Presentation</vt:lpstr>
      <vt:lpstr>PowerPoint Presentation</vt:lpstr>
      <vt:lpstr>Most countries need only a modest shift in budget priority, but a few would need to at least double their health share</vt:lpstr>
      <vt:lpstr>Loans tied to health priorities can incentivize new funds to be invested into health</vt:lpstr>
      <vt:lpstr>DAH prioritization – where should donors be targeting remaining funds?</vt:lpstr>
      <vt:lpstr>Recall: Funding cuts show no consistent relationship with health need, leaving high risk countries vulnerable </vt:lpstr>
      <vt:lpstr>HIV Financing Transition: Country Risk-Tier Analysis</vt:lpstr>
      <vt:lpstr>Country risk map</vt:lpstr>
      <vt:lpstr>PowerPoint Presentation</vt:lpstr>
      <vt:lpstr>Priority tiers and intervention emphasis</vt:lpstr>
      <vt:lpstr>High-dependency programs are where remaining donor funds matter most</vt:lpstr>
      <vt:lpstr>Looking Ahead</vt:lpstr>
      <vt:lpstr>Calendar</vt:lpstr>
      <vt:lpstr>Discussion</vt:lpstr>
      <vt:lpstr>PowerPoint Presentation</vt:lpstr>
      <vt:lpstr> Dashboard-nModeling the cuts</vt:lpstr>
      <vt:lpstr> Dashboard – Modeling the aid retreat</vt:lpstr>
      <vt:lpstr>Malaria, TB and vaccines, by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2026-10-08T19:08:02Z</dcterms:created>
  <dcterms:modified xsi:type="dcterms:W3CDTF">2026-10-19T22:24:53Z</dcterms:modified>
</cp:coreProperties>
</file>