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9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32CE1A-8192-6CCD-372F-F3977CFE8D9F}" name="Guest User" initials="GU" userId="S::urn:spo:tenantanon#bb23c62a-3879-438a-9af6-e0a615144cb1::" providerId="AD"/>
  <p188:author id="{51E35836-FC1C-2F35-9C7F-91149BD1D16A}" name="Key, Ting" initials="KT" userId="S::ting.key@yale.edu::0d0a0d55-ba7c-41e8-aae8-5fad554abe41" providerId="AD"/>
  <p188:author id="{FC121674-63FC-2252-4652-144B9521E271}" name="Khan, Ishnan" initials="KI" userId="S::ishnan.khan@yale.edu::e77345ac-040c-4d54-ae20-494105c8db15" providerId="AD"/>
  <p188:author id="{1E6A2694-C2C7-764A-3AB8-678BDE135EE6}" name="Alexandre-Burke, Kaley" initials="AK" userId="S::kaley.alexandre-burke@yale.edu::b862c00d-9ef3-4272-aefb-9ef3b0c56097" providerId="AD"/>
  <p188:author id="{BF114D99-D057-92B0-FB47-0ABBCAC06BAF}" name="Soe-Lin, Shan" initials="SS" userId="S::shan.soe-lin@yale.edu::97ef95a6-5890-469b-b8a4-7e4c71a3649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F73"/>
    <a:srgbClr val="244B91"/>
    <a:srgbClr val="2F52A4"/>
    <a:srgbClr val="2F52A6"/>
    <a:srgbClr val="4A83FF"/>
    <a:srgbClr val="1D3073"/>
    <a:srgbClr val="E5EDFA"/>
    <a:srgbClr val="DEE8F8"/>
    <a:srgbClr val="DDE7F8"/>
    <a:srgbClr val="9CB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E19BD-9C7F-AF7F-24C9-2E3E9A6C656C}" v="2" dt="2026-10-19T01:43:07.295"/>
    <p1510:client id="{401BB271-3B6A-A276-33BF-98854A0E7F6A}" v="525" dt="2026-10-18T20:35:01.840"/>
    <p1510:client id="{41DA8606-C435-8F25-04CF-0707428A71E6}" v="239" dt="2026-10-19T20:43:26.458"/>
    <p1510:client id="{5AF2BED7-5C24-83A7-173A-B49D5C6F85FF}" v="19" dt="2026-10-19T21:52:18.925"/>
    <p1510:client id="{5F79C29F-C3F1-CF13-371E-ED3302F1D152}" v="34" dt="2026-10-19T19:56:13.078"/>
    <p1510:client id="{76FC189C-1A76-16B9-5B9C-25E8C3BC9060}" v="50" dt="2026-10-19T16:18:45.260"/>
    <p1510:client id="{81D52FA3-3E4D-84C0-2C5B-03FABE1E7F9C}" v="507" dt="2026-10-19T18:30:06.044"/>
    <p1510:client id="{82DC5BA5-7F05-D7BB-E915-69419C127304}" v="127" dt="2026-10-19T20:16:53.234"/>
    <p1510:client id="{C2E73322-11F1-49E4-8276-10BC1836A38E}" v="4" dt="2026-10-19T22:18:43.184"/>
    <p1510:client id="{D19D52E9-41F5-9FF1-F002-38597F71D974}" v="407" dt="2026-10-19T18:36:27.539"/>
    <p1510:client id="{D46C4316-4FE5-EF67-5B4F-BCE62032A18C}" v="37" dt="2026-10-18T04:38:59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5/10/relationships/revisionInfo" Target="revisionInfo.xml"/><Relationship Id="rId50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47CC7-B60F-E24D-887B-F1BF04B0011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3D6D-BE97-6B47-B4F2-F19FC31E4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9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steps from aid money to coverage change. The user chooses the scenario (steps 2) and the government response (step 3); the other steps run on the data shown under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200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7724447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kern="1200" smtClean="0">
                <a:solidFill>
                  <a:schemeClr val="tx1">
                    <a:tint val="82000"/>
                  </a:schemeClr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sz="1400" kern="1200">
              <a:solidFill>
                <a:schemeClr val="tx1">
                  <a:tint val="82000"/>
                </a:schemeClr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aleway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aleway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aleway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aleway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Five steps from a donor’s cut to lost coverage, and what users set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490355" y="1570000"/>
            <a:ext cx="9211288" cy="0"/>
          </a:xfrm>
          <a:prstGeom prst="line">
            <a:avLst/>
          </a:prstGeom>
          <a:ln w="254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110355" y="1190000"/>
            <a:ext cx="760000" cy="760000"/>
          </a:xfrm>
          <a:prstGeom prst="ellipse">
            <a:avLst/>
          </a:prstGeom>
          <a:solidFill>
            <a:srgbClr val="3D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944" y="2050000"/>
            <a:ext cx="2302822" cy="38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1306F"/>
                </a:solidFill>
                <a:latin typeface="Arial"/>
              </a:rPr>
              <a:t>Aid Money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944" y="2420000"/>
            <a:ext cx="2302822" cy="32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3A4258"/>
                </a:solidFill>
                <a:latin typeface="Arial"/>
              </a:rPr>
              <a:t>By donor, channel, service</a:t>
            </a:r>
          </a:p>
        </p:txBody>
      </p:sp>
      <p:sp>
        <p:nvSpPr>
          <p:cNvPr id="11" name="Oval 10"/>
          <p:cNvSpPr/>
          <p:nvPr/>
        </p:nvSpPr>
        <p:spPr>
          <a:xfrm>
            <a:off x="3413177" y="1190000"/>
            <a:ext cx="760000" cy="760000"/>
          </a:xfrm>
          <a:prstGeom prst="ellipse">
            <a:avLst/>
          </a:prstGeom>
          <a:solidFill>
            <a:srgbClr val="3D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1766" y="2050000"/>
            <a:ext cx="2302822" cy="38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1306F"/>
                </a:solidFill>
                <a:latin typeface="Arial"/>
              </a:rPr>
              <a:t>Scenario Cut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1766" y="2420000"/>
            <a:ext cx="2302822" cy="32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3A4258"/>
                </a:solidFill>
                <a:latin typeface="Arial"/>
              </a:rPr>
              <a:t>Who cuts, how, how fast</a:t>
            </a:r>
          </a:p>
        </p:txBody>
      </p:sp>
      <p:sp>
        <p:nvSpPr>
          <p:cNvPr id="14" name="Oval 13"/>
          <p:cNvSpPr/>
          <p:nvPr/>
        </p:nvSpPr>
        <p:spPr>
          <a:xfrm>
            <a:off x="5715999" y="1190000"/>
            <a:ext cx="760000" cy="760000"/>
          </a:xfrm>
          <a:prstGeom prst="ellipse">
            <a:avLst/>
          </a:prstGeom>
          <a:solidFill>
            <a:srgbClr val="3D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4588" y="2050000"/>
            <a:ext cx="2302822" cy="38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1306F"/>
                </a:solidFill>
                <a:latin typeface="Arial"/>
              </a:rPr>
              <a:t>Gov.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4588" y="2420000"/>
            <a:ext cx="2302822" cy="32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3A4258"/>
                </a:solidFill>
                <a:latin typeface="Arial"/>
              </a:rPr>
              <a:t>What replaces lost aid</a:t>
            </a:r>
          </a:p>
        </p:txBody>
      </p:sp>
      <p:sp>
        <p:nvSpPr>
          <p:cNvPr id="17" name="Oval 16"/>
          <p:cNvSpPr/>
          <p:nvPr/>
        </p:nvSpPr>
        <p:spPr>
          <a:xfrm>
            <a:off x="8018821" y="1190000"/>
            <a:ext cx="760000" cy="760000"/>
          </a:xfrm>
          <a:prstGeom prst="ellipse">
            <a:avLst/>
          </a:prstGeom>
          <a:solidFill>
            <a:srgbClr val="3D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7410" y="2050000"/>
            <a:ext cx="2302822" cy="38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1306F"/>
                </a:solidFill>
                <a:latin typeface="Arial"/>
              </a:rPr>
              <a:t>Services Lost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7410" y="2420000"/>
            <a:ext cx="2302822" cy="32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3A4258"/>
                </a:solidFill>
                <a:latin typeface="Arial"/>
              </a:rPr>
              <a:t>Net loss ÷ cost per person</a:t>
            </a:r>
          </a:p>
        </p:txBody>
      </p:sp>
      <p:sp>
        <p:nvSpPr>
          <p:cNvPr id="20" name="Oval 19"/>
          <p:cNvSpPr/>
          <p:nvPr/>
        </p:nvSpPr>
        <p:spPr>
          <a:xfrm>
            <a:off x="10321643" y="1190000"/>
            <a:ext cx="760000" cy="760000"/>
          </a:xfrm>
          <a:prstGeom prst="ellipse">
            <a:avLst/>
          </a:prstGeom>
          <a:solidFill>
            <a:srgbClr val="1C3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0232" y="2050000"/>
            <a:ext cx="2302822" cy="38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1306F"/>
                </a:solidFill>
                <a:latin typeface="Arial"/>
              </a:rPr>
              <a:t>Coverage 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0232" y="2420000"/>
            <a:ext cx="2302822" cy="32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3A4258"/>
                </a:solidFill>
                <a:latin typeface="Arial"/>
              </a:rPr>
              <a:t>Lost ÷ people in need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40355" y="2850000"/>
            <a:ext cx="900000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0384" y="2930000"/>
            <a:ext cx="2119942" cy="3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4A5568"/>
                </a:solidFill>
                <a:latin typeface="Arial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384" y="3210000"/>
            <a:ext cx="2119942" cy="11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Arial"/>
              </a:rPr>
              <a:t>IHME DAH 1990-2026, 2021-23 average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48821" y="2850000"/>
            <a:ext cx="900000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38850" y="2930000"/>
            <a:ext cx="2119942" cy="3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4A5568"/>
                </a:solidFill>
                <a:latin typeface="Arial"/>
              </a:rP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8850" y="3210000"/>
            <a:ext cx="2119942" cy="11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Arial"/>
              </a:rPr>
              <a:t>Cost studies per service: GHCC, Value TB, Rosen 2021, White 2011, GiveWell, PMI, Lydon 2014, MSF (2023 US$)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51643" y="2850000"/>
            <a:ext cx="900000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41672" y="2930000"/>
            <a:ext cx="2119942" cy="3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4A5568"/>
                </a:solidFill>
                <a:latin typeface="Arial"/>
              </a:rP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1672" y="3210000"/>
            <a:ext cx="2119942" cy="11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Arial"/>
              </a:rPr>
              <a:t>UNAIDS, WHO, MAP, WUENIC, UN WPP 2024 births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33206" y="2850000"/>
            <a:ext cx="4422764" cy="2783650"/>
          </a:xfrm>
          <a:prstGeom prst="rect">
            <a:avLst/>
          </a:prstGeom>
          <a:solidFill>
            <a:srgbClr val="DD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24646" y="2910000"/>
            <a:ext cx="4239884" cy="34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21306F"/>
                </a:solidFill>
                <a:latin typeface="Arial"/>
              </a:rPr>
              <a:t>You 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4646" y="3220000"/>
            <a:ext cx="4239884" cy="238365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1306F"/>
                </a:solidFill>
                <a:latin typeface="Arial"/>
              </a:rPr>
              <a:t>Who cuts: </a:t>
            </a:r>
            <a:r>
              <a:rPr sz="1200" b="0">
                <a:solidFill>
                  <a:srgbClr val="3A4258"/>
                </a:solidFill>
                <a:latin typeface="Arial"/>
              </a:rPr>
              <a:t>A preset scenario, or Custom: the US, 13 other donor groups, or all donors via Global Fund, Gavi, WHO or UNICEF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1306F"/>
                </a:solidFill>
                <a:latin typeface="Arial"/>
              </a:rPr>
              <a:t>How the cut flows: </a:t>
            </a:r>
            <a:r>
              <a:rPr sz="1200" b="0">
                <a:solidFill>
                  <a:srgbClr val="3A4258"/>
                </a:solidFill>
                <a:latin typeface="Arial"/>
              </a:rPr>
              <a:t>Direct and multilateral aid, cut separately per donor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1306F"/>
                </a:solidFill>
                <a:latin typeface="Arial"/>
              </a:rPr>
              <a:t>How fast: </a:t>
            </a:r>
            <a:r>
              <a:rPr sz="1200" b="0">
                <a:solidFill>
                  <a:srgbClr val="3A4258"/>
                </a:solidFill>
                <a:latin typeface="Arial"/>
              </a:rPr>
              <a:t>Sudden, Linear, Front-Loaded, Back-Loaded, S‑Curve or Custom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1306F"/>
                </a:solidFill>
                <a:latin typeface="Arial"/>
              </a:rPr>
              <a:t>What fills the gap: </a:t>
            </a:r>
            <a:r>
              <a:rPr sz="1200" b="0">
                <a:solidFill>
                  <a:srgbClr val="3A4258"/>
                </a:solidFill>
                <a:latin typeface="Arial"/>
              </a:rPr>
              <a:t>No Government Replacement, Replace a Set Share, As Much as Fiscal Space Allows or Gradual Budget Increase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21306F"/>
                </a:solidFill>
                <a:latin typeface="Arial"/>
              </a:rPr>
              <a:t>Data: </a:t>
            </a:r>
            <a:r>
              <a:rPr sz="1200" b="0">
                <a:solidFill>
                  <a:srgbClr val="3A4258"/>
                </a:solidFill>
                <a:latin typeface="Arial"/>
              </a:rPr>
              <a:t>KFF MOU Tracker, OECD, IHME 2025 (cuts); IMF WEO, IHME, World Bank WDI (response)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93177" y="2670000"/>
            <a:ext cx="0" cy="180000"/>
          </a:xfrm>
          <a:prstGeom prst="line">
            <a:avLst/>
          </a:prstGeom>
          <a:ln w="15875">
            <a:solidFill>
              <a:srgbClr val="3D6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5999" y="2670000"/>
            <a:ext cx="0" cy="180000"/>
          </a:xfrm>
          <a:prstGeom prst="line">
            <a:avLst/>
          </a:prstGeom>
          <a:ln w="15875">
            <a:solidFill>
              <a:srgbClr val="3D6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38944" y="5793650"/>
            <a:ext cx="11514112" cy="19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 Nova"/>
              </a:rPr>
              <a:t>Sources: dashboard code (scenarios.py, model_section.py, model_params.csv); data and studies as listed (see References).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42</Slides>
  <Notes>31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Adapting to Withdrawal from Development Assistance  for Global Health </vt:lpstr>
      <vt:lpstr>PowerPoint Presentation</vt:lpstr>
      <vt:lpstr>PowerPoint Presentation</vt:lpstr>
      <vt:lpstr> Recap</vt:lpstr>
      <vt:lpstr>PowerPoint Presentation</vt:lpstr>
      <vt:lpstr>OECD Aid Cut Projections </vt:lpstr>
      <vt:lpstr>PowerPoint Presentation</vt:lpstr>
      <vt:lpstr>How we built the projections</vt:lpstr>
      <vt:lpstr>Main findings: health aid falls about 25% by 2030</vt:lpstr>
      <vt:lpstr>Assumptions and caveats</vt:lpstr>
      <vt:lpstr>Dashboard</vt:lpstr>
      <vt:lpstr> The Dashboard Links Aid, Budgets And Health Data To Show Coverage At Risk From Aid Cuts</vt:lpstr>
      <vt:lpstr>Dashboard – Domestic government and international aid contribute to health spending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Live Demo: Choosing A Country And Scenario Reveals Which Services An Aid Cut Puts At Risk</vt:lpstr>
      <vt:lpstr>Historical patterns show that when the US decreases aid, countries decreased domestic government health expenditure by 19 cents</vt:lpstr>
      <vt:lpstr>Findings</vt:lpstr>
      <vt:lpstr>Domestic resource mobilization capacity – can countries grow their way out of the problem?</vt:lpstr>
      <vt:lpstr>Typical OECD cut averages were similar across income groups </vt:lpstr>
      <vt:lpstr>PowerPoint Presentation</vt:lpstr>
      <vt:lpstr>PowerPoint Presentation</vt:lpstr>
      <vt:lpstr>Most countries need only a modest shift in budget priority, but a few would need to at least double their health share</vt:lpstr>
      <vt:lpstr>Loans tied to health priorities can incentivize new funds to be invested into health</vt:lpstr>
      <vt:lpstr>DAH prioritization – where should donors be targeting remaining funds?</vt:lpstr>
      <vt:lpstr>Recall: Funding cuts show no consistent relationship with health need, leaving high risk countries vulnerable </vt:lpstr>
      <vt:lpstr>HIV Financing Transition: Country Risk-Tier Analysis</vt:lpstr>
      <vt:lpstr>Country risk map</vt:lpstr>
      <vt:lpstr>PowerPoint Presentation</vt:lpstr>
      <vt:lpstr>Priority tiers and intervention emphasis</vt:lpstr>
      <vt:lpstr>High-dependency programs are where remaining donor funds matter most</vt:lpstr>
      <vt:lpstr>Looking Ahead</vt:lpstr>
      <vt:lpstr>Calendar</vt:lpstr>
      <vt:lpstr>Discussion</vt:lpstr>
      <vt:lpstr>PowerPoint Presentation</vt:lpstr>
      <vt:lpstr> Dashboard-nModeling the cuts</vt:lpstr>
      <vt:lpstr> Dashboard – Modeling the aid retreat</vt:lpstr>
      <vt:lpstr>Malaria, TB and vaccines, by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2026-10-08T19:08:02Z</dcterms:created>
  <dcterms:modified xsi:type="dcterms:W3CDTF">2026-10-19T22:24:53Z</dcterms:modified>
</cp:coreProperties>
</file>